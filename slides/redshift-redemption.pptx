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media/image3.svg" ContentType="image/svg+xml"/>
  <Override PartName="/ppt/media/image5.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70" r:id="rId25"/>
    <p:sldId id="271" r:id="rId26"/>
    <p:sldId id="272" r:id="rId27"/>
    <p:sldId id="273" r:id="rId28"/>
    <p:sldId id="274" r:id="rId29"/>
    <p:sldId id="275" r:id="rId30"/>
    <p:sldId id="276" r:id="rId31"/>
    <p:sldId id="277" r:id="rId32"/>
    <p:sldId id="278" r:id="rId33"/>
    <p:sldId id="279" r:id="rId34"/>
    <p:sldId id="280" r:id="rId35"/>
    <p:sldId id="281" r:id="rId36"/>
    <p:sldId id="282" r:id="rId37"/>
    <p:sldId id="283" r:id="rId38"/>
    <p:sldId id="284" r:id="rId39"/>
    <p:sldId id="285" r:id="rId40"/>
    <p:sldId id="286" r:id="rId41"/>
    <p:sldId id="287" r:id="rId42"/>
    <p:sldId id="288" r:id="rId43"/>
    <p:sldId id="289" r:id="rId44"/>
    <p:sldId id="290" r:id="rId45"/>
    <p:sldId id="291" r:id="rId46"/>
    <p:sldId id="292" r:id="rId47"/>
    <p:sldId id="293" r:id="rId48"/>
    <p:sldId id="294" r:id="rId49"/>
    <p:sldId id="295" r:id="rId50"/>
    <p:sldId id="296" r:id="rId51"/>
    <p:sldId id="297" r:id="rId52"/>
    <p:sldId id="298" r:id="rId53"/>
    <p:sldId id="299" r:id="rId54"/>
    <p:sldId id="300" r:id="rId55"/>
    <p:sldId id="301" r:id="rId56"/>
    <p:sldId id="302" r:id="rId57"/>
    <p:sldId id="303" r:id="rId58"/>
    <p:sldId id="304" r:id="rId59"/>
    <p:sldId id="305" r:id="rId60"/>
    <p:sldId id="306" r:id="rId61"/>
  </p:sldIdLst>
  <p:sldSz cx="18288000" cy="10287000"/>
  <p:notesSz cx="6858000" cy="9144000"/>
  <p:embeddedFontLst>
    <p:embeddedFont>
      <p:font typeface="Raleway 1 Bold" charset="1" panose="020B0803030101060003"/>
      <p:regular r:id="rId20"/>
    </p:embeddedFont>
    <p:embeddedFont>
      <p:font typeface="Raleway 2" charset="1" panose="00000000000000000000"/>
      <p:regular r:id="rId21"/>
    </p:embeddedFont>
    <p:embeddedFont>
      <p:font typeface="Gotham" charset="1" panose="00000000000000000000"/>
      <p:regular r:id="rId22"/>
    </p:embeddedFont>
    <p:embeddedFont>
      <p:font typeface="Gotham Bold" charset="1" panose="00000000000000000000"/>
      <p:regular r:id="rId23"/>
    </p:embeddedFont>
    <p:embeddedFont>
      <p:font typeface="Raleway 1 Heavy" charset="1" panose="020B0003030101060003"/>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19" Type="http://schemas.openxmlformats.org/officeDocument/2006/relationships/notesMaster" Target="notesMasters/notesMaster1.xml"/><Relationship Id="rId20" Type="http://schemas.openxmlformats.org/officeDocument/2006/relationships/font" Target="fonts/font20.fntdata"/><Relationship Id="rId21" Type="http://schemas.openxmlformats.org/officeDocument/2006/relationships/font" Target="fonts/font21.fntdata"/><Relationship Id="rId22" Type="http://schemas.openxmlformats.org/officeDocument/2006/relationships/font" Target="fonts/font22.fntdata"/><Relationship Id="rId23" Type="http://schemas.openxmlformats.org/officeDocument/2006/relationships/font" Target="fonts/font23.fntdata"/><Relationship Id="rId24" Type="http://schemas.openxmlformats.org/officeDocument/2006/relationships/font" Target="fonts/font24.fntdata"/><Relationship Id="rId25" Type="http://schemas.openxmlformats.org/officeDocument/2006/relationships/slide" Target="slides/slide1.xml"/><Relationship Id="rId26" Type="http://schemas.openxmlformats.org/officeDocument/2006/relationships/slide" Target="slides/slide2.xml"/><Relationship Id="rId27" Type="http://schemas.openxmlformats.org/officeDocument/2006/relationships/slide" Target="slides/slide3.xml"/><Relationship Id="rId28" Type="http://schemas.openxmlformats.org/officeDocument/2006/relationships/slide" Target="slides/slide4.xml"/><Relationship Id="rId29" Type="http://schemas.openxmlformats.org/officeDocument/2006/relationships/slide" Target="slides/slide5.xml"/><Relationship Id="rId30" Type="http://schemas.openxmlformats.org/officeDocument/2006/relationships/slide" Target="slides/slide6.xml"/><Relationship Id="rId31" Type="http://schemas.openxmlformats.org/officeDocument/2006/relationships/slide" Target="slides/slide7.xml"/><Relationship Id="rId32" Type="http://schemas.openxmlformats.org/officeDocument/2006/relationships/slide" Target="slides/slide8.xml"/><Relationship Id="rId33" Type="http://schemas.openxmlformats.org/officeDocument/2006/relationships/slide" Target="slides/slide9.xml"/><Relationship Id="rId34" Type="http://schemas.openxmlformats.org/officeDocument/2006/relationships/slide" Target="slides/slide10.xml"/><Relationship Id="rId35" Type="http://schemas.openxmlformats.org/officeDocument/2006/relationships/slide" Target="slides/slide11.xml"/><Relationship Id="rId36" Type="http://schemas.openxmlformats.org/officeDocument/2006/relationships/slide" Target="slides/slide12.xml"/><Relationship Id="rId37" Type="http://schemas.openxmlformats.org/officeDocument/2006/relationships/slide" Target="slides/slide13.xml"/><Relationship Id="rId38" Type="http://schemas.openxmlformats.org/officeDocument/2006/relationships/slide" Target="slides/slide14.xml"/><Relationship Id="rId39" Type="http://schemas.openxmlformats.org/officeDocument/2006/relationships/slide" Target="slides/slide15.xml"/><Relationship Id="rId40" Type="http://schemas.openxmlformats.org/officeDocument/2006/relationships/slide" Target="slides/slide16.xml"/><Relationship Id="rId41" Type="http://schemas.openxmlformats.org/officeDocument/2006/relationships/slide" Target="slides/slide17.xml"/><Relationship Id="rId42" Type="http://schemas.openxmlformats.org/officeDocument/2006/relationships/slide" Target="slides/slide18.xml"/><Relationship Id="rId43" Type="http://schemas.openxmlformats.org/officeDocument/2006/relationships/slide" Target="slides/slide19.xml"/><Relationship Id="rId44" Type="http://schemas.openxmlformats.org/officeDocument/2006/relationships/slide" Target="slides/slide20.xml"/><Relationship Id="rId45" Type="http://schemas.openxmlformats.org/officeDocument/2006/relationships/slide" Target="slides/slide21.xml"/><Relationship Id="rId46" Type="http://schemas.openxmlformats.org/officeDocument/2006/relationships/slide" Target="slides/slide22.xml"/><Relationship Id="rId47" Type="http://schemas.openxmlformats.org/officeDocument/2006/relationships/slide" Target="slides/slide23.xml"/><Relationship Id="rId48" Type="http://schemas.openxmlformats.org/officeDocument/2006/relationships/slide" Target="slides/slide24.xml"/><Relationship Id="rId49" Type="http://schemas.openxmlformats.org/officeDocument/2006/relationships/slide" Target="slides/slide25.xml"/><Relationship Id="rId50" Type="http://schemas.openxmlformats.org/officeDocument/2006/relationships/slide" Target="slides/slide26.xml"/><Relationship Id="rId51" Type="http://schemas.openxmlformats.org/officeDocument/2006/relationships/slide" Target="slides/slide27.xml"/><Relationship Id="rId52" Type="http://schemas.openxmlformats.org/officeDocument/2006/relationships/slide" Target="slides/slide28.xml"/><Relationship Id="rId53" Type="http://schemas.openxmlformats.org/officeDocument/2006/relationships/slide" Target="slides/slide29.xml"/><Relationship Id="rId54" Type="http://schemas.openxmlformats.org/officeDocument/2006/relationships/slide" Target="slides/slide30.xml"/><Relationship Id="rId55" Type="http://schemas.openxmlformats.org/officeDocument/2006/relationships/slide" Target="slides/slide31.xml"/><Relationship Id="rId56" Type="http://schemas.openxmlformats.org/officeDocument/2006/relationships/slide" Target="slides/slide32.xml"/><Relationship Id="rId57" Type="http://schemas.openxmlformats.org/officeDocument/2006/relationships/slide" Target="slides/slide33.xml"/><Relationship Id="rId58" Type="http://schemas.openxmlformats.org/officeDocument/2006/relationships/slide" Target="slides/slide34.xml"/><Relationship Id="rId59" Type="http://schemas.openxmlformats.org/officeDocument/2006/relationships/slide" Target="slides/slide35.xml"/><Relationship Id="rId60" Type="http://schemas.openxmlformats.org/officeDocument/2006/relationships/slide" Target="slides/slide36.xml"/><Relationship Id="rId61" Type="http://schemas.openxmlformats.org/officeDocument/2006/relationships/slide" Target="slides/slide3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Aceleración RG</c:v>
                </c:pt>
              </c:strCache>
            </c:strRef>
          </c:tx>
          <c:spPr>
            <a:solidFill>
              <a:srgbClr val="316CE3"/>
            </a:solidFill>
          </c:spPr>
          <c:dPt>
            <c:idx val="0"/>
            <c:spPr>
              <a:solidFill>
                <a:srgbClr val="316CE3"/>
              </a:solidFill>
            </c:spPr>
          </c:dPt>
          <c:dPt>
            <c:idx val="1"/>
            <c:spPr>
              <a:solidFill>
                <a:srgbClr val="316CE3"/>
              </a:solidFill>
            </c:spPr>
          </c:dPt>
          <c:dPt>
            <c:idx val="2"/>
            <c:spPr>
              <a:solidFill>
                <a:srgbClr val="316CE3"/>
              </a:solidFill>
            </c:spPr>
          </c:dPt>
          <c:dPt>
            <c:idx val="3"/>
            <c:spPr>
              <a:solidFill>
                <a:srgbClr val="316CE3"/>
              </a:solidFill>
            </c:spPr>
          </c:dPt>
          <c:dPt>
            <c:idx val="4"/>
            <c:spPr>
              <a:solidFill>
                <a:srgbClr val="316CE3"/>
              </a:solidFill>
            </c:spPr>
          </c:dPt>
          <c:dPt>
            <c:idx val="5"/>
            <c:spPr>
              <a:solidFill>
                <a:srgbClr val="316CE3"/>
              </a:solidFill>
            </c:spPr>
          </c:dPt>
          <c:dPt>
            <c:idx val="6"/>
            <c:spPr>
              <a:solidFill>
                <a:srgbClr val="316CE3"/>
              </a:solidFill>
            </c:spPr>
          </c:dPt>
          <c:dPt>
            <c:idx val="7"/>
            <c:spPr>
              <a:solidFill>
                <a:srgbClr val="316CE3"/>
              </a:solidFill>
            </c:spPr>
          </c:dPt>
          <c:dPt>
            <c:idx val="8"/>
            <c:spPr>
              <a:solidFill>
                <a:srgbClr val="F2A65A"/>
              </a:solidFill>
            </c:spPr>
          </c:dPt>
          <c:dPt>
            <c:idx val="9"/>
            <c:spPr>
              <a:solidFill>
                <a:srgbClr val="F2A65A"/>
              </a:solidFill>
            </c:spPr>
          </c:dPt>
          <c:dPt>
            <c:idx val="10"/>
            <c:spPr>
              <a:solidFill>
                <a:srgbClr val="F2A65A"/>
              </a:solidFill>
            </c:spPr>
          </c:dPt>
          <c:dPt>
            <c:idx val="11"/>
            <c:spPr>
              <a:solidFill>
                <a:srgbClr val="F2A65A"/>
              </a:solidFill>
            </c:spPr>
          </c:dPt>
          <c:dPt>
            <c:idx val="12"/>
            <c:spPr>
              <a:solidFill>
                <a:srgbClr val="F2A65A"/>
              </a:solidFill>
            </c:spPr>
          </c:dPt>
          <c:dPt>
            <c:idx val="13"/>
            <c:spPr>
              <a:solidFill>
                <a:srgbClr val="316CE3"/>
              </a:solidFill>
            </c:spPr>
          </c:dPt>
          <c:dPt>
            <c:idx val="14"/>
            <c:spPr>
              <a:solidFill>
                <a:srgbClr val="F2A65A"/>
              </a:solidFill>
            </c:spPr>
          </c:dPt>
          <c:dPt>
            <c:idx val="15"/>
            <c:spPr>
              <a:solidFill>
                <a:srgbClr val="F2A65A"/>
              </a:solidFill>
            </c:spPr>
          </c:dPt>
          <c:dPt>
            <c:idx val="16"/>
            <c:spPr>
              <a:solidFill>
                <a:srgbClr val="316CE3"/>
              </a:solidFill>
            </c:spPr>
          </c:dPt>
          <c:dPt>
            <c:idx val="17"/>
            <c:spPr>
              <a:solidFill>
                <a:srgbClr val="F2A65A"/>
              </a:solidFill>
            </c:spPr>
          </c:dPt>
          <c:dPt>
            <c:idx val="18"/>
            <c:spPr>
              <a:solidFill>
                <a:srgbClr val="F2A65A"/>
              </a:solidFill>
            </c:spPr>
          </c:dPt>
          <c:dPt>
            <c:idx val="19"/>
            <c:spPr>
              <a:solidFill>
                <a:srgbClr val="F2A65A"/>
              </a:solidFill>
            </c:spPr>
          </c:dPt>
          <c:dLbls>
            <c:dLbl>
              <c:idx val="0"/>
              <c:tx>
                <c:rich>
                  <a:bodyPr/>
                  <a:lstStyle/>
                  <a:p>
                    <a:r>
                      <a:rPr sz="1300">
                        <a:solidFill>
                          <a:srgbClr val="FFFFFF"/>
                        </a:solidFill>
                        <a:latin typeface="Arial"/>
                      </a:rPr>
                      <a:t>3,58x</a:t>
                    </a:r>
                  </a:p>
                </c:rich>
              </c:tx>
              <c:dLblPos val="outEnd"/>
              <c:showLegendKey val="0"/>
              <c:showVal val="1"/>
              <c:showCatName val="0"/>
              <c:showSerName val="0"/>
              <c:showPercent val="0"/>
              <c:showBubbleSize val="0"/>
            </c:dLbl>
            <c:dLbl>
              <c:idx val="1"/>
              <c:tx>
                <c:rich>
                  <a:bodyPr/>
                  <a:lstStyle/>
                  <a:p>
                    <a:r>
                      <a:rPr sz="1300">
                        <a:solidFill>
                          <a:srgbClr val="FFFFFF"/>
                        </a:solidFill>
                        <a:latin typeface="Arial"/>
                      </a:rPr>
                      <a:t>2,98x</a:t>
                    </a:r>
                  </a:p>
                </c:rich>
              </c:tx>
              <c:dLblPos val="outEnd"/>
              <c:showLegendKey val="0"/>
              <c:showVal val="1"/>
              <c:showCatName val="0"/>
              <c:showSerName val="0"/>
              <c:showPercent val="0"/>
              <c:showBubbleSize val="0"/>
            </c:dLbl>
            <c:dLbl>
              <c:idx val="2"/>
              <c:tx>
                <c:rich>
                  <a:bodyPr/>
                  <a:lstStyle/>
                  <a:p>
                    <a:r>
                      <a:rPr sz="1300">
                        <a:solidFill>
                          <a:srgbClr val="FFFFFF"/>
                        </a:solidFill>
                        <a:latin typeface="Arial"/>
                      </a:rPr>
                      <a:t>2,64x</a:t>
                    </a:r>
                  </a:p>
                </c:rich>
              </c:tx>
              <c:dLblPos val="outEnd"/>
              <c:showLegendKey val="0"/>
              <c:showVal val="1"/>
              <c:showCatName val="0"/>
              <c:showSerName val="0"/>
              <c:showPercent val="0"/>
              <c:showBubbleSize val="0"/>
            </c:dLbl>
            <c:dLbl>
              <c:idx val="3"/>
              <c:tx>
                <c:rich>
                  <a:bodyPr/>
                  <a:lstStyle/>
                  <a:p>
                    <a:r>
                      <a:rPr sz="1300">
                        <a:solidFill>
                          <a:srgbClr val="FFFFFF"/>
                        </a:solidFill>
                        <a:latin typeface="Arial"/>
                      </a:rPr>
                      <a:t>2,38x</a:t>
                    </a:r>
                  </a:p>
                </c:rich>
              </c:tx>
              <c:dLblPos val="outEnd"/>
              <c:showLegendKey val="0"/>
              <c:showVal val="1"/>
              <c:showCatName val="0"/>
              <c:showSerName val="0"/>
              <c:showPercent val="0"/>
              <c:showBubbleSize val="0"/>
            </c:dLbl>
            <c:dLbl>
              <c:idx val="4"/>
              <c:tx>
                <c:rich>
                  <a:bodyPr/>
                  <a:lstStyle/>
                  <a:p>
                    <a:r>
                      <a:rPr sz="1300">
                        <a:solidFill>
                          <a:srgbClr val="FFFFFF"/>
                        </a:solidFill>
                        <a:latin typeface="Arial"/>
                      </a:rPr>
                      <a:t>2,33x</a:t>
                    </a:r>
                  </a:p>
                </c:rich>
              </c:tx>
              <c:dLblPos val="outEnd"/>
              <c:showLegendKey val="0"/>
              <c:showVal val="1"/>
              <c:showCatName val="0"/>
              <c:showSerName val="0"/>
              <c:showPercent val="0"/>
              <c:showBubbleSize val="0"/>
            </c:dLbl>
            <c:dLbl>
              <c:idx val="5"/>
              <c:tx>
                <c:rich>
                  <a:bodyPr/>
                  <a:lstStyle/>
                  <a:p>
                    <a:r>
                      <a:rPr sz="1300">
                        <a:solidFill>
                          <a:srgbClr val="FFFFFF"/>
                        </a:solidFill>
                        <a:latin typeface="Arial"/>
                      </a:rPr>
                      <a:t>2,31x</a:t>
                    </a:r>
                  </a:p>
                </c:rich>
              </c:tx>
              <c:dLblPos val="outEnd"/>
              <c:showLegendKey val="0"/>
              <c:showVal val="1"/>
              <c:showCatName val="0"/>
              <c:showSerName val="0"/>
              <c:showPercent val="0"/>
              <c:showBubbleSize val="0"/>
            </c:dLbl>
            <c:dLbl>
              <c:idx val="6"/>
              <c:tx>
                <c:rich>
                  <a:bodyPr/>
                  <a:lstStyle/>
                  <a:p>
                    <a:r>
                      <a:rPr sz="1300">
                        <a:solidFill>
                          <a:srgbClr val="FFFFFF"/>
                        </a:solidFill>
                        <a:latin typeface="Arial"/>
                      </a:rPr>
                      <a:t>2,22x</a:t>
                    </a:r>
                  </a:p>
                </c:rich>
              </c:tx>
              <c:dLblPos val="outEnd"/>
              <c:showLegendKey val="0"/>
              <c:showVal val="1"/>
              <c:showCatName val="0"/>
              <c:showSerName val="0"/>
              <c:showPercent val="0"/>
              <c:showBubbleSize val="0"/>
            </c:dLbl>
            <c:dLbl>
              <c:idx val="7"/>
              <c:tx>
                <c:rich>
                  <a:bodyPr/>
                  <a:lstStyle/>
                  <a:p>
                    <a:r>
                      <a:rPr sz="1300">
                        <a:solidFill>
                          <a:srgbClr val="FFFFFF"/>
                        </a:solidFill>
                        <a:latin typeface="Arial"/>
                      </a:rPr>
                      <a:t>2,17x</a:t>
                    </a:r>
                  </a:p>
                </c:rich>
              </c:tx>
              <c:dLblPos val="outEnd"/>
              <c:showLegendKey val="0"/>
              <c:showVal val="1"/>
              <c:showCatName val="0"/>
              <c:showSerName val="0"/>
              <c:showPercent val="0"/>
              <c:showBubbleSize val="0"/>
            </c:dLbl>
            <c:dLbl>
              <c:idx val="8"/>
              <c:tx>
                <c:rich>
                  <a:bodyPr/>
                  <a:lstStyle/>
                  <a:p>
                    <a:r>
                      <a:rPr sz="1300">
                        <a:solidFill>
                          <a:srgbClr val="FFFFFF"/>
                        </a:solidFill>
                        <a:latin typeface="Arial"/>
                      </a:rPr>
                      <a:t>2,10x</a:t>
                    </a:r>
                  </a:p>
                </c:rich>
              </c:tx>
              <c:dLblPos val="outEnd"/>
              <c:showLegendKey val="0"/>
              <c:showVal val="1"/>
              <c:showCatName val="0"/>
              <c:showSerName val="0"/>
              <c:showPercent val="0"/>
              <c:showBubbleSize val="0"/>
            </c:dLbl>
            <c:dLbl>
              <c:idx val="9"/>
              <c:tx>
                <c:rich>
                  <a:bodyPr/>
                  <a:lstStyle/>
                  <a:p>
                    <a:r>
                      <a:rPr sz="1300">
                        <a:solidFill>
                          <a:srgbClr val="FFFFFF"/>
                        </a:solidFill>
                        <a:latin typeface="Arial"/>
                      </a:rPr>
                      <a:t>2,00x</a:t>
                    </a:r>
                  </a:p>
                </c:rich>
              </c:tx>
              <c:dLblPos val="outEnd"/>
              <c:showLegendKey val="0"/>
              <c:showVal val="1"/>
              <c:showCatName val="0"/>
              <c:showSerName val="0"/>
              <c:showPercent val="0"/>
              <c:showBubbleSize val="0"/>
            </c:dLbl>
            <c:dLbl>
              <c:idx val="10"/>
              <c:tx>
                <c:rich>
                  <a:bodyPr/>
                  <a:lstStyle/>
                  <a:p>
                    <a:r>
                      <a:rPr sz="1300">
                        <a:solidFill>
                          <a:srgbClr val="FFFFFF"/>
                        </a:solidFill>
                        <a:latin typeface="Arial"/>
                      </a:rPr>
                      <a:t>1,99x</a:t>
                    </a:r>
                  </a:p>
                </c:rich>
              </c:tx>
              <c:dLblPos val="outEnd"/>
              <c:showLegendKey val="0"/>
              <c:showVal val="1"/>
              <c:showCatName val="0"/>
              <c:showSerName val="0"/>
              <c:showPercent val="0"/>
              <c:showBubbleSize val="0"/>
            </c:dLbl>
            <c:dLbl>
              <c:idx val="11"/>
              <c:tx>
                <c:rich>
                  <a:bodyPr/>
                  <a:lstStyle/>
                  <a:p>
                    <a:r>
                      <a:rPr sz="1300">
                        <a:solidFill>
                          <a:srgbClr val="FFFFFF"/>
                        </a:solidFill>
                        <a:latin typeface="Arial"/>
                      </a:rPr>
                      <a:t>1,78x</a:t>
                    </a:r>
                  </a:p>
                </c:rich>
              </c:tx>
              <c:dLblPos val="outEnd"/>
              <c:showLegendKey val="0"/>
              <c:showVal val="1"/>
              <c:showCatName val="0"/>
              <c:showSerName val="0"/>
              <c:showPercent val="0"/>
              <c:showBubbleSize val="0"/>
            </c:dLbl>
            <c:dLbl>
              <c:idx val="12"/>
              <c:tx>
                <c:rich>
                  <a:bodyPr/>
                  <a:lstStyle/>
                  <a:p>
                    <a:r>
                      <a:rPr sz="1300">
                        <a:solidFill>
                          <a:srgbClr val="FFFFFF"/>
                        </a:solidFill>
                        <a:latin typeface="Arial"/>
                      </a:rPr>
                      <a:t>1,76x</a:t>
                    </a:r>
                  </a:p>
                </c:rich>
              </c:tx>
              <c:dLblPos val="outEnd"/>
              <c:showLegendKey val="0"/>
              <c:showVal val="1"/>
              <c:showCatName val="0"/>
              <c:showSerName val="0"/>
              <c:showPercent val="0"/>
              <c:showBubbleSize val="0"/>
            </c:dLbl>
            <c:dLbl>
              <c:idx val="13"/>
              <c:tx>
                <c:rich>
                  <a:bodyPr/>
                  <a:lstStyle/>
                  <a:p>
                    <a:r>
                      <a:rPr sz="1300">
                        <a:solidFill>
                          <a:srgbClr val="FFFFFF"/>
                        </a:solidFill>
                        <a:latin typeface="Arial"/>
                      </a:rPr>
                      <a:t>1,66x</a:t>
                    </a:r>
                  </a:p>
                </c:rich>
              </c:tx>
              <c:dLblPos val="outEnd"/>
              <c:showLegendKey val="0"/>
              <c:showVal val="1"/>
              <c:showCatName val="0"/>
              <c:showSerName val="0"/>
              <c:showPercent val="0"/>
              <c:showBubbleSize val="0"/>
            </c:dLbl>
            <c:dLbl>
              <c:idx val="14"/>
              <c:tx>
                <c:rich>
                  <a:bodyPr/>
                  <a:lstStyle/>
                  <a:p>
                    <a:r>
                      <a:rPr sz="1300">
                        <a:solidFill>
                          <a:srgbClr val="FFFFFF"/>
                        </a:solidFill>
                        <a:latin typeface="Arial"/>
                      </a:rPr>
                      <a:t>1,58x</a:t>
                    </a:r>
                  </a:p>
                </c:rich>
              </c:tx>
              <c:dLblPos val="outEnd"/>
              <c:showLegendKey val="0"/>
              <c:showVal val="1"/>
              <c:showCatName val="0"/>
              <c:showSerName val="0"/>
              <c:showPercent val="0"/>
              <c:showBubbleSize val="0"/>
            </c:dLbl>
            <c:dLbl>
              <c:idx val="15"/>
              <c:tx>
                <c:rich>
                  <a:bodyPr/>
                  <a:lstStyle/>
                  <a:p>
                    <a:r>
                      <a:rPr sz="1300">
                        <a:solidFill>
                          <a:srgbClr val="FFFFFF"/>
                        </a:solidFill>
                        <a:latin typeface="Arial"/>
                      </a:rPr>
                      <a:t>1,43x</a:t>
                    </a:r>
                  </a:p>
                </c:rich>
              </c:tx>
              <c:dLblPos val="outEnd"/>
              <c:showLegendKey val="0"/>
              <c:showVal val="1"/>
              <c:showCatName val="0"/>
              <c:showSerName val="0"/>
              <c:showPercent val="0"/>
              <c:showBubbleSize val="0"/>
            </c:dLbl>
            <c:dLbl>
              <c:idx val="16"/>
              <c:tx>
                <c:rich>
                  <a:bodyPr/>
                  <a:lstStyle/>
                  <a:p>
                    <a:r>
                      <a:rPr sz="1300">
                        <a:solidFill>
                          <a:srgbClr val="FFFFFF"/>
                        </a:solidFill>
                        <a:latin typeface="Arial"/>
                      </a:rPr>
                      <a:t>1,34x</a:t>
                    </a:r>
                  </a:p>
                </c:rich>
              </c:tx>
              <c:dLblPos val="outEnd"/>
              <c:showLegendKey val="0"/>
              <c:showVal val="1"/>
              <c:showCatName val="0"/>
              <c:showSerName val="0"/>
              <c:showPercent val="0"/>
              <c:showBubbleSize val="0"/>
            </c:dLbl>
            <c:dLbl>
              <c:idx val="17"/>
              <c:tx>
                <c:rich>
                  <a:bodyPr/>
                  <a:lstStyle/>
                  <a:p>
                    <a:r>
                      <a:rPr sz="1300">
                        <a:solidFill>
                          <a:srgbClr val="FFFFFF"/>
                        </a:solidFill>
                        <a:latin typeface="Arial"/>
                      </a:rPr>
                      <a:t>1,34x</a:t>
                    </a:r>
                  </a:p>
                </c:rich>
              </c:tx>
              <c:dLblPos val="outEnd"/>
              <c:showLegendKey val="0"/>
              <c:showVal val="1"/>
              <c:showCatName val="0"/>
              <c:showSerName val="0"/>
              <c:showPercent val="0"/>
              <c:showBubbleSize val="0"/>
            </c:dLbl>
            <c:dLbl>
              <c:idx val="18"/>
              <c:tx>
                <c:rich>
                  <a:bodyPr/>
                  <a:lstStyle/>
                  <a:p>
                    <a:r>
                      <a:rPr sz="1300">
                        <a:solidFill>
                          <a:srgbClr val="FFFFFF"/>
                        </a:solidFill>
                        <a:latin typeface="Arial"/>
                      </a:rPr>
                      <a:t>1,11x</a:t>
                    </a:r>
                  </a:p>
                </c:rich>
              </c:tx>
              <c:dLblPos val="outEnd"/>
              <c:showLegendKey val="0"/>
              <c:showVal val="1"/>
              <c:showCatName val="0"/>
              <c:showSerName val="0"/>
              <c:showPercent val="0"/>
              <c:showBubbleSize val="0"/>
            </c:dLbl>
            <c:dLbl>
              <c:idx val="19"/>
              <c:tx>
                <c:rich>
                  <a:bodyPr/>
                  <a:lstStyle/>
                  <a:p>
                    <a:r>
                      <a:rPr sz="1300">
                        <a:solidFill>
                          <a:srgbClr val="FFFFFF"/>
                        </a:solidFill>
                        <a:latin typeface="Arial"/>
                      </a:rPr>
                      <a:t>1,08x</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Sheet1!$A$2:$A$21</c:f>
              <c:strCache>
                <c:ptCount val="20"/>
                <c:pt idx="0">
                  <c:v>query48</c:v>
                </c:pt>
                <c:pt idx="1">
                  <c:v>query43</c:v>
                </c:pt>
                <c:pt idx="2">
                  <c:v>query96</c:v>
                </c:pt>
                <c:pt idx="3">
                  <c:v>query52</c:v>
                </c:pt>
                <c:pt idx="4">
                  <c:v>query42</c:v>
                </c:pt>
                <c:pt idx="5">
                  <c:v>query55</c:v>
                </c:pt>
                <c:pt idx="6">
                  <c:v>query7</c:v>
                </c:pt>
                <c:pt idx="7">
                  <c:v>query19</c:v>
                </c:pt>
                <c:pt idx="8">
                  <c:v>query89</c:v>
                </c:pt>
                <c:pt idx="9">
                  <c:v>query72</c:v>
                </c:pt>
                <c:pt idx="10">
                  <c:v>query14</c:v>
                </c:pt>
                <c:pt idx="11">
                  <c:v>query64</c:v>
                </c:pt>
                <c:pt idx="12">
                  <c:v>query67</c:v>
                </c:pt>
                <c:pt idx="13">
                  <c:v>query3</c:v>
                </c:pt>
                <c:pt idx="14">
                  <c:v>query98</c:v>
                </c:pt>
                <c:pt idx="15">
                  <c:v>query78</c:v>
                </c:pt>
                <c:pt idx="16">
                  <c:v>query28</c:v>
                </c:pt>
                <c:pt idx="17">
                  <c:v>query47</c:v>
                </c:pt>
                <c:pt idx="18">
                  <c:v>query23</c:v>
                </c:pt>
                <c:pt idx="19">
                  <c:v>query57</c:v>
                </c:pt>
              </c:strCache>
            </c:strRef>
          </c:cat>
          <c:val>
            <c:numRef>
              <c:f>Sheet1!$B$2:$B$21</c:f>
              <c:numCache>
                <c:formatCode>General</c:formatCode>
                <c:ptCount val="20"/>
                <c:pt idx="0">
                  <c:v>3.58</c:v>
                </c:pt>
                <c:pt idx="1">
                  <c:v>2.98</c:v>
                </c:pt>
                <c:pt idx="2">
                  <c:v>2.64</c:v>
                </c:pt>
                <c:pt idx="3">
                  <c:v>2.38</c:v>
                </c:pt>
                <c:pt idx="4">
                  <c:v>2.33</c:v>
                </c:pt>
                <c:pt idx="5">
                  <c:v>2.31</c:v>
                </c:pt>
                <c:pt idx="6">
                  <c:v>2.22</c:v>
                </c:pt>
                <c:pt idx="7">
                  <c:v>2.17</c:v>
                </c:pt>
                <c:pt idx="8">
                  <c:v>2.1</c:v>
                </c:pt>
                <c:pt idx="9">
                  <c:v>2.0</c:v>
                </c:pt>
                <c:pt idx="10">
                  <c:v>1.99</c:v>
                </c:pt>
                <c:pt idx="11">
                  <c:v>1.78</c:v>
                </c:pt>
                <c:pt idx="12">
                  <c:v>1.76</c:v>
                </c:pt>
                <c:pt idx="13">
                  <c:v>1.66</c:v>
                </c:pt>
                <c:pt idx="14">
                  <c:v>1.58</c:v>
                </c:pt>
                <c:pt idx="15">
                  <c:v>1.43</c:v>
                </c:pt>
                <c:pt idx="16">
                  <c:v>1.34</c:v>
                </c:pt>
                <c:pt idx="17">
                  <c:v>1.34</c:v>
                </c:pt>
                <c:pt idx="18">
                  <c:v>1.11</c:v>
                </c:pt>
                <c:pt idx="19">
                  <c:v>1.08</c:v>
                </c:pt>
              </c:numCache>
            </c:numRef>
          </c:val>
        </c:ser>
        <c:dLbls>
          <c:numFmt formatCode="0.00&quot;x&quot;" sourceLinked="0"/>
          <c:txPr>
            <a:bodyPr/>
            <a:lstStyle/>
            <a:p>
              <a:pPr>
                <a:defRPr sz="1300">
                  <a:solidFill>
                    <a:srgbClr val="FFFFFF"/>
                  </a:solidFill>
                  <a:latin typeface="Arial"/>
                </a:defRPr>
              </a:pPr>
            </a:p>
          </c:txPr>
          <c:dLblPos val="outEnd"/>
          <c:showLegendKey val="0"/>
          <c:showVal val="1"/>
          <c:showCatName val="0"/>
          <c:showSerName val="0"/>
          <c:showPercent val="0"/>
          <c:showBubbleSize val="0"/>
          <c:showLeaderLines val="1"/>
        </c:dLbls>
        <c:gapWidth val="35"/>
        <c:axId val="-2068027336"/>
        <c:axId val="-2113994440"/>
      </c:barChart>
      <c:catAx>
        <c:axId val="-2068027336"/>
        <c:scaling>
          <c:orientation val="maxMin"/>
        </c:scaling>
        <c:delete val="0"/>
        <c:axPos val="l"/>
        <c:majorTickMark val="out"/>
        <c:minorTickMark val="none"/>
        <c:tickLblPos val="nextTo"/>
        <c:spPr>
          <a:ln>
            <a:solidFill>
              <a:srgbClr val="9FB3C8"/>
            </a:solidFill>
          </a:ln>
        </c:spPr>
        <c:txPr>
          <a:bodyPr/>
          <a:lstStyle/>
          <a:p>
            <a:pPr>
              <a:defRPr sz="1300">
                <a:solidFill>
                  <a:srgbClr val="D9E2EC"/>
                </a:solidFill>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300">
          <a:solidFill>
            <a:srgbClr val="D9E2EC"/>
          </a:solidFill>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Consultas por hora</c:v>
                </c:pt>
              </c:strCache>
            </c:strRef>
          </c:tx>
          <c:spPr>
            <a:solidFill>
              <a:srgbClr val="316CE3"/>
            </a:solidFill>
          </c:spPr>
          <c:dPt>
            <c:idx val="0"/>
            <c:spPr>
              <a:solidFill>
                <a:srgbClr val="8FA3B8"/>
              </a:solidFill>
            </c:spPr>
          </c:dPt>
          <c:dPt>
            <c:idx val="1"/>
            <c:spPr>
              <a:solidFill>
                <a:srgbClr val="316CE3"/>
              </a:solidFill>
            </c:spPr>
          </c:dPt>
          <c:dLbls>
            <c:dLbl>
              <c:idx val="0"/>
              <c:tx>
                <c:rich>
                  <a:bodyPr/>
                  <a:lstStyle/>
                  <a:p>
                    <a:r>
                      <a:rPr sz="2800">
                        <a:solidFill>
                          <a:srgbClr val="FFFFFF"/>
                        </a:solidFill>
                        <a:latin typeface="Arial"/>
                      </a:rPr>
                      <a:t>680</a:t>
                    </a:r>
                  </a:p>
                </c:rich>
              </c:tx>
              <c:dLblPos val="outEnd"/>
              <c:showLegendKey val="0"/>
              <c:showVal val="1"/>
              <c:showCatName val="0"/>
              <c:showSerName val="0"/>
              <c:showPercent val="0"/>
              <c:showBubbleSize val="0"/>
            </c:dLbl>
            <c:dLbl>
              <c:idx val="1"/>
              <c:tx>
                <c:rich>
                  <a:bodyPr/>
                  <a:lstStyle/>
                  <a:p>
                    <a:r>
                      <a:rPr sz="2800">
                        <a:solidFill>
                          <a:srgbClr val="FFFFFF"/>
                        </a:solidFill>
                        <a:latin typeface="Arial"/>
                      </a:rPr>
                      <a:t>1224</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Sheet1!$A$2:$A$3</c:f>
              <c:strCache>
                <c:ptCount val="2"/>
                <c:pt idx="0">
                  <c:v>RA3</c:v>
                </c:pt>
                <c:pt idx="1">
                  <c:v>RG</c:v>
                </c:pt>
              </c:strCache>
            </c:strRef>
          </c:cat>
          <c:val>
            <c:numRef>
              <c:f>Sheet1!$B$2:$B$3</c:f>
              <c:numCache>
                <c:formatCode>General</c:formatCode>
                <c:ptCount val="2"/>
                <c:pt idx="0">
                  <c:v>680.0</c:v>
                </c:pt>
                <c:pt idx="1">
                  <c:v>1224.0</c:v>
                </c:pt>
              </c:numCache>
            </c:numRef>
          </c:val>
        </c:ser>
        <c:dLbls>
          <c:numFmt formatCode="0" sourceLinked="0"/>
          <c:txPr>
            <a:bodyPr/>
            <a:lstStyle/>
            <a:p>
              <a:pPr>
                <a:defRPr sz="2800">
                  <a:solidFill>
                    <a:srgbClr val="FFFFFF"/>
                  </a:solidFill>
                  <a:latin typeface="Arial"/>
                </a:defRPr>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rgbClr val="9FB3C8"/>
            </a:solidFill>
          </a:ln>
        </c:spPr>
        <c:txPr>
          <a:bodyPr/>
          <a:lstStyle/>
          <a:p>
            <a:pPr>
              <a:defRPr sz="2400">
                <a:solidFill>
                  <a:srgbClr val="D9E2EC"/>
                </a:solidFill>
              </a:defRPr>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2400">
          <a:solidFill>
            <a:srgbClr val="D9E2EC"/>
          </a:solidFill>
          <a:latin typeface="Aria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RA3</c:v>
                </c:pt>
              </c:strCache>
            </c:strRef>
          </c:tx>
          <c:spPr>
            <a:solidFill>
              <a:srgbClr val="8FA3B8"/>
            </a:solidFill>
          </c:spPr>
          <c:dLbls>
            <c:dLbl>
              <c:idx val="0"/>
              <c:tx>
                <c:rich>
                  <a:bodyPr/>
                  <a:lstStyle/>
                  <a:p>
                    <a:r>
                      <a:rPr sz="2000">
                        <a:solidFill>
                          <a:srgbClr val="FFFFFF"/>
                        </a:solidFill>
                        <a:latin typeface="Arial"/>
                      </a:rPr>
                      <a:t>40,1 s</a:t>
                    </a:r>
                  </a:p>
                </c:rich>
              </c:tx>
              <c:dLblPos val="outEnd"/>
              <c:showLegendKey val="0"/>
              <c:showVal val="1"/>
              <c:showCatName val="0"/>
              <c:showSerName val="0"/>
              <c:showPercent val="0"/>
              <c:showBubbleSize val="0"/>
            </c:dLbl>
            <c:dLbl>
              <c:idx val="1"/>
              <c:tx>
                <c:rich>
                  <a:bodyPr/>
                  <a:lstStyle/>
                  <a:p>
                    <a:r>
                      <a:rPr sz="2000">
                        <a:solidFill>
                          <a:srgbClr val="FFFFFF"/>
                        </a:solidFill>
                        <a:latin typeface="Arial"/>
                      </a:rPr>
                      <a:t>7,7 s</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Sheet1!$A$2:$A$3</c:f>
              <c:strCache>
                <c:ptCount val="2"/>
                <c:pt idx="0">
                  <c:v>Copiar store_returns</c:v>
                </c:pt>
                <c:pt idx="1">
                  <c:v>Tabla resumen (CTAS)</c:v>
                </c:pt>
              </c:strCache>
            </c:strRef>
          </c:cat>
          <c:val>
            <c:numRef>
              <c:f>Sheet1!$B$2:$B$3</c:f>
              <c:numCache>
                <c:formatCode>General</c:formatCode>
                <c:ptCount val="2"/>
                <c:pt idx="0">
                  <c:v>40.130273</c:v>
                </c:pt>
                <c:pt idx="1">
                  <c:v>7.7445</c:v>
                </c:pt>
              </c:numCache>
            </c:numRef>
          </c:val>
        </c:ser>
        <c:ser>
          <c:idx val="1"/>
          <c:order val="1"/>
          <c:tx>
            <c:strRef>
              <c:f>Sheet1!$C$1</c:f>
              <c:strCache>
                <c:ptCount val="1"/>
                <c:pt idx="0">
                  <c:v>RG</c:v>
                </c:pt>
              </c:strCache>
            </c:strRef>
          </c:tx>
          <c:spPr>
            <a:solidFill>
              <a:srgbClr val="316CE3"/>
            </a:solidFill>
          </c:spPr>
          <c:dLbls>
            <c:dLbl>
              <c:idx val="0"/>
              <c:tx>
                <c:rich>
                  <a:bodyPr/>
                  <a:lstStyle/>
                  <a:p>
                    <a:r>
                      <a:rPr sz="2000">
                        <a:solidFill>
                          <a:srgbClr val="FFFFFF"/>
                        </a:solidFill>
                        <a:latin typeface="Arial"/>
                      </a:rPr>
                      <a:t>26,8 s</a:t>
                    </a:r>
                  </a:p>
                </c:rich>
              </c:tx>
              <c:dLblPos val="outEnd"/>
              <c:showLegendKey val="0"/>
              <c:showVal val="1"/>
              <c:showCatName val="0"/>
              <c:showSerName val="0"/>
              <c:showPercent val="0"/>
              <c:showBubbleSize val="0"/>
            </c:dLbl>
            <c:dLbl>
              <c:idx val="1"/>
              <c:tx>
                <c:rich>
                  <a:bodyPr/>
                  <a:lstStyle/>
                  <a:p>
                    <a:r>
                      <a:rPr sz="2000">
                        <a:solidFill>
                          <a:srgbClr val="FFFFFF"/>
                        </a:solidFill>
                        <a:latin typeface="Arial"/>
                      </a:rPr>
                      <a:t>4,8 s</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Sheet1!$A$2:$A$3</c:f>
              <c:strCache>
                <c:ptCount val="2"/>
                <c:pt idx="0">
                  <c:v>Copiar store_returns</c:v>
                </c:pt>
                <c:pt idx="1">
                  <c:v>Tabla resumen (CTAS)</c:v>
                </c:pt>
              </c:strCache>
            </c:strRef>
          </c:cat>
          <c:val>
            <c:numRef>
              <c:f>Sheet1!$C$2:$C$3</c:f>
              <c:numCache>
                <c:formatCode>General</c:formatCode>
                <c:ptCount val="2"/>
                <c:pt idx="0">
                  <c:v>26.780941</c:v>
                </c:pt>
                <c:pt idx="1">
                  <c:v>4.795185</c:v>
                </c:pt>
              </c:numCache>
            </c:numRef>
          </c:val>
        </c:ser>
        <c:dLbls>
          <c:numFmt formatCode="0.0&quot; s&quot;" sourceLinked="0"/>
          <c:txPr>
            <a:bodyPr/>
            <a:lstStyle/>
            <a:p>
              <a:pPr>
                <a:defRPr sz="2000">
                  <a:solidFill>
                    <a:srgbClr val="FFFFFF"/>
                  </a:solidFill>
                  <a:latin typeface="Aria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9FB3C8"/>
            </a:solidFill>
          </a:ln>
        </c:spPr>
        <c:txPr>
          <a:bodyPr/>
          <a:lstStyle/>
          <a:p>
            <a:pPr>
              <a:defRPr sz="2000">
                <a:solidFill>
                  <a:srgbClr val="D9E2EC"/>
                </a:solidFill>
              </a:defRPr>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legend>
      <c:legendPos val="b"/>
      <c:overlay val="0"/>
      <c:txPr>
        <a:bodyPr/>
        <a:lstStyle/>
        <a:p>
          <a:pPr>
            <a:defRPr sz="2000">
              <a:solidFill>
                <a:srgbClr val="D9E2EC"/>
              </a:solidFill>
              <a:latin typeface="Arial"/>
            </a:defRPr>
          </a:pPr>
        </a:p>
      </c:txPr>
    </c:legend>
    <c:dispBlanksAs val="gap"/>
  </c:chart>
  <c:txPr>
    <a:bodyPr/>
    <a:lstStyle/>
    <a:p>
      <a:pPr>
        <a:defRPr sz="2000">
          <a:solidFill>
            <a:srgbClr val="D9E2EC"/>
          </a:solidFill>
          <a:latin typeface="Arial"/>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RA3</c:v>
                </c:pt>
              </c:strCache>
            </c:strRef>
          </c:tx>
          <c:spPr>
            <a:solidFill>
              <a:srgbClr val="8FA3B8"/>
            </a:solidFill>
          </c:spPr>
          <c:dLbls>
            <c:dLbl>
              <c:idx val="0"/>
              <c:tx>
                <c:rich>
                  <a:bodyPr/>
                  <a:lstStyle/>
                  <a:p>
                    <a:r>
                      <a:rPr sz="1500">
                        <a:solidFill>
                          <a:srgbClr val="FFFFFF"/>
                        </a:solidFill>
                        <a:latin typeface="Arial"/>
                      </a:rPr>
                      <a:t>1,7 s</a:t>
                    </a:r>
                  </a:p>
                </c:rich>
              </c:tx>
              <c:dLblPos val="outEnd"/>
              <c:showLegendKey val="0"/>
              <c:showVal val="1"/>
              <c:showCatName val="0"/>
              <c:showSerName val="0"/>
              <c:showPercent val="0"/>
              <c:showBubbleSize val="0"/>
            </c:dLbl>
            <c:dLbl>
              <c:idx val="1"/>
              <c:tx>
                <c:rich>
                  <a:bodyPr/>
                  <a:lstStyle/>
                  <a:p>
                    <a:r>
                      <a:rPr sz="1500">
                        <a:solidFill>
                          <a:srgbClr val="FFFFFF"/>
                        </a:solidFill>
                        <a:latin typeface="Arial"/>
                      </a:rPr>
                      <a:t>3,3 s</a:t>
                    </a:r>
                  </a:p>
                </c:rich>
              </c:tx>
              <c:dLblPos val="outEnd"/>
              <c:showLegendKey val="0"/>
              <c:showVal val="1"/>
              <c:showCatName val="0"/>
              <c:showSerName val="0"/>
              <c:showPercent val="0"/>
              <c:showBubbleSize val="0"/>
            </c:dLbl>
            <c:dLbl>
              <c:idx val="2"/>
              <c:tx>
                <c:rich>
                  <a:bodyPr/>
                  <a:lstStyle/>
                  <a:p>
                    <a:r>
                      <a:rPr sz="1500">
                        <a:solidFill>
                          <a:srgbClr val="FFFFFF"/>
                        </a:solidFill>
                        <a:latin typeface="Arial"/>
                      </a:rPr>
                      <a:t>3,0 s</a:t>
                    </a:r>
                  </a:p>
                </c:rich>
              </c:tx>
              <c:dLblPos val="outEnd"/>
              <c:showLegendKey val="0"/>
              <c:showVal val="1"/>
              <c:showCatName val="0"/>
              <c:showSerName val="0"/>
              <c:showPercent val="0"/>
              <c:showBubbleSize val="0"/>
            </c:dLbl>
            <c:dLbl>
              <c:idx val="3"/>
              <c:tx>
                <c:rich>
                  <a:bodyPr/>
                  <a:lstStyle/>
                  <a:p>
                    <a:r>
                      <a:rPr sz="1500">
                        <a:solidFill>
                          <a:srgbClr val="FFFFFF"/>
                        </a:solidFill>
                        <a:latin typeface="Arial"/>
                      </a:rPr>
                      <a:t>3,4 s</a:t>
                    </a:r>
                  </a:p>
                </c:rich>
              </c:tx>
              <c:dLblPos val="outEnd"/>
              <c:showLegendKey val="0"/>
              <c:showVal val="1"/>
              <c:showCatName val="0"/>
              <c:showSerName val="0"/>
              <c:showPercent val="0"/>
              <c:showBubbleSize val="0"/>
            </c:dLbl>
            <c:dLbl>
              <c:idx val="4"/>
              <c:tx>
                <c:rich>
                  <a:bodyPr/>
                  <a:lstStyle/>
                  <a:p>
                    <a:r>
                      <a:rPr sz="1500">
                        <a:solidFill>
                          <a:srgbClr val="FFFFFF"/>
                        </a:solidFill>
                        <a:latin typeface="Arial"/>
                      </a:rPr>
                      <a:t>8,4 s</a:t>
                    </a:r>
                  </a:p>
                </c:rich>
              </c:tx>
              <c:dLblPos val="outEnd"/>
              <c:showLegendKey val="0"/>
              <c:showVal val="1"/>
              <c:showCatName val="0"/>
              <c:showSerName val="0"/>
              <c:showPercent val="0"/>
              <c:showBubbleSize val="0"/>
            </c:dLbl>
            <c:dLbl>
              <c:idx val="5"/>
              <c:tx>
                <c:rich>
                  <a:bodyPr/>
                  <a:lstStyle/>
                  <a:p>
                    <a:r>
                      <a:rPr sz="1500">
                        <a:solidFill>
                          <a:srgbClr val="FFFFFF"/>
                        </a:solidFill>
                        <a:latin typeface="Arial"/>
                      </a:rPr>
                      <a:t>9,6 s</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Sheet1!$A$2:$A$7</c:f>
              <c:strCache>
                <c:ptCount val="6"/>
                <c:pt idx="0">
                  <c:v>lq3</c:v>
                </c:pt>
                <c:pt idx="1">
                  <c:v>lq42</c:v>
                </c:pt>
                <c:pt idx="2">
                  <c:v>lq52</c:v>
                </c:pt>
                <c:pt idx="3">
                  <c:v>lq55</c:v>
                </c:pt>
                <c:pt idx="4">
                  <c:v>lqcu</c:v>
                </c:pt>
                <c:pt idx="5">
                  <c:v>lqst</c:v>
                </c:pt>
              </c:strCache>
            </c:strRef>
          </c:cat>
          <c:val>
            <c:numRef>
              <c:f>Sheet1!$B$2:$B$7</c:f>
              <c:numCache>
                <c:formatCode>General</c:formatCode>
                <c:ptCount val="6"/>
                <c:pt idx="0">
                  <c:v>1.6926899999999998</c:v>
                </c:pt>
                <c:pt idx="1">
                  <c:v>3.34598</c:v>
                </c:pt>
                <c:pt idx="2">
                  <c:v>3.0020345</c:v>
                </c:pt>
                <c:pt idx="3">
                  <c:v>3.3644555</c:v>
                </c:pt>
                <c:pt idx="4">
                  <c:v>8.443077</c:v>
                </c:pt>
                <c:pt idx="5">
                  <c:v>9.5946095</c:v>
                </c:pt>
              </c:numCache>
            </c:numRef>
          </c:val>
        </c:ser>
        <c:ser>
          <c:idx val="1"/>
          <c:order val="1"/>
          <c:tx>
            <c:strRef>
              <c:f>Sheet1!$C$1</c:f>
              <c:strCache>
                <c:ptCount val="1"/>
                <c:pt idx="0">
                  <c:v>RG</c:v>
                </c:pt>
              </c:strCache>
            </c:strRef>
          </c:tx>
          <c:spPr>
            <a:solidFill>
              <a:srgbClr val="316CE3"/>
            </a:solidFill>
          </c:spPr>
          <c:dLbls>
            <c:dLbl>
              <c:idx val="0"/>
              <c:tx>
                <c:rich>
                  <a:bodyPr/>
                  <a:lstStyle/>
                  <a:p>
                    <a:r>
                      <a:rPr sz="1500">
                        <a:solidFill>
                          <a:srgbClr val="FFFFFF"/>
                        </a:solidFill>
                        <a:latin typeface="Arial"/>
                      </a:rPr>
                      <a:t>2,5 s</a:t>
                    </a:r>
                  </a:p>
                </c:rich>
              </c:tx>
              <c:dLblPos val="outEnd"/>
              <c:showLegendKey val="0"/>
              <c:showVal val="1"/>
              <c:showCatName val="0"/>
              <c:showSerName val="0"/>
              <c:showPercent val="0"/>
              <c:showBubbleSize val="0"/>
            </c:dLbl>
            <c:dLbl>
              <c:idx val="1"/>
              <c:tx>
                <c:rich>
                  <a:bodyPr/>
                  <a:lstStyle/>
                  <a:p>
                    <a:r>
                      <a:rPr sz="1500">
                        <a:solidFill>
                          <a:srgbClr val="FFFFFF"/>
                        </a:solidFill>
                        <a:latin typeface="Arial"/>
                      </a:rPr>
                      <a:t>1,4 s</a:t>
                    </a:r>
                  </a:p>
                </c:rich>
              </c:tx>
              <c:dLblPos val="outEnd"/>
              <c:showLegendKey val="0"/>
              <c:showVal val="1"/>
              <c:showCatName val="0"/>
              <c:showSerName val="0"/>
              <c:showPercent val="0"/>
              <c:showBubbleSize val="0"/>
            </c:dLbl>
            <c:dLbl>
              <c:idx val="2"/>
              <c:tx>
                <c:rich>
                  <a:bodyPr/>
                  <a:lstStyle/>
                  <a:p>
                    <a:r>
                      <a:rPr sz="1500">
                        <a:solidFill>
                          <a:srgbClr val="FFFFFF"/>
                        </a:solidFill>
                        <a:latin typeface="Arial"/>
                      </a:rPr>
                      <a:t>1,6 s</a:t>
                    </a:r>
                  </a:p>
                </c:rich>
              </c:tx>
              <c:dLblPos val="outEnd"/>
              <c:showLegendKey val="0"/>
              <c:showVal val="1"/>
              <c:showCatName val="0"/>
              <c:showSerName val="0"/>
              <c:showPercent val="0"/>
              <c:showBubbleSize val="0"/>
            </c:dLbl>
            <c:dLbl>
              <c:idx val="3"/>
              <c:tx>
                <c:rich>
                  <a:bodyPr/>
                  <a:lstStyle/>
                  <a:p>
                    <a:r>
                      <a:rPr sz="1500">
                        <a:solidFill>
                          <a:srgbClr val="FFFFFF"/>
                        </a:solidFill>
                        <a:latin typeface="Arial"/>
                      </a:rPr>
                      <a:t>1,3 s</a:t>
                    </a:r>
                  </a:p>
                </c:rich>
              </c:tx>
              <c:dLblPos val="outEnd"/>
              <c:showLegendKey val="0"/>
              <c:showVal val="1"/>
              <c:showCatName val="0"/>
              <c:showSerName val="0"/>
              <c:showPercent val="0"/>
              <c:showBubbleSize val="0"/>
            </c:dLbl>
            <c:dLbl>
              <c:idx val="4"/>
              <c:tx>
                <c:rich>
                  <a:bodyPr/>
                  <a:lstStyle/>
                  <a:p>
                    <a:r>
                      <a:rPr sz="1500">
                        <a:solidFill>
                          <a:srgbClr val="FFFFFF"/>
                        </a:solidFill>
                        <a:latin typeface="Arial"/>
                      </a:rPr>
                      <a:t>3,7 s</a:t>
                    </a:r>
                  </a:p>
                </c:rich>
              </c:tx>
              <c:dLblPos val="outEnd"/>
              <c:showLegendKey val="0"/>
              <c:showVal val="1"/>
              <c:showCatName val="0"/>
              <c:showSerName val="0"/>
              <c:showPercent val="0"/>
              <c:showBubbleSize val="0"/>
            </c:dLbl>
            <c:dLbl>
              <c:idx val="5"/>
              <c:tx>
                <c:rich>
                  <a:bodyPr/>
                  <a:lstStyle/>
                  <a:p>
                    <a:r>
                      <a:rPr sz="1500">
                        <a:solidFill>
                          <a:srgbClr val="FFFFFF"/>
                        </a:solidFill>
                        <a:latin typeface="Arial"/>
                      </a:rPr>
                      <a:t>4,1 s</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Sheet1!$A$2:$A$7</c:f>
              <c:strCache>
                <c:ptCount val="6"/>
                <c:pt idx="0">
                  <c:v>lq3</c:v>
                </c:pt>
                <c:pt idx="1">
                  <c:v>lq42</c:v>
                </c:pt>
                <c:pt idx="2">
                  <c:v>lq52</c:v>
                </c:pt>
                <c:pt idx="3">
                  <c:v>lq55</c:v>
                </c:pt>
                <c:pt idx="4">
                  <c:v>lqcu</c:v>
                </c:pt>
                <c:pt idx="5">
                  <c:v>lqst</c:v>
                </c:pt>
              </c:strCache>
            </c:strRef>
          </c:cat>
          <c:val>
            <c:numRef>
              <c:f>Sheet1!$C$2:$C$7</c:f>
              <c:numCache>
                <c:formatCode>General</c:formatCode>
                <c:ptCount val="6"/>
                <c:pt idx="0">
                  <c:v>2.5409165</c:v>
                </c:pt>
                <c:pt idx="1">
                  <c:v>1.362477</c:v>
                </c:pt>
                <c:pt idx="2">
                  <c:v>1.5652460000000001</c:v>
                </c:pt>
                <c:pt idx="3">
                  <c:v>1.321555</c:v>
                </c:pt>
                <c:pt idx="4">
                  <c:v>3.68183</c:v>
                </c:pt>
                <c:pt idx="5">
                  <c:v>4.10482</c:v>
                </c:pt>
              </c:numCache>
            </c:numRef>
          </c:val>
        </c:ser>
        <c:dLbls>
          <c:numFmt formatCode="0.0&quot; s&quot;" sourceLinked="0"/>
          <c:txPr>
            <a:bodyPr/>
            <a:lstStyle/>
            <a:p>
              <a:pPr>
                <a:defRPr sz="1500">
                  <a:solidFill>
                    <a:srgbClr val="FFFFFF"/>
                  </a:solidFill>
                  <a:latin typeface="Aria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9FB3C8"/>
            </a:solidFill>
          </a:ln>
        </c:spPr>
        <c:txPr>
          <a:bodyPr/>
          <a:lstStyle/>
          <a:p>
            <a:pPr>
              <a:defRPr sz="1700">
                <a:solidFill>
                  <a:srgbClr val="D9E2EC"/>
                </a:solidFill>
              </a:defRPr>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legend>
      <c:legendPos val="b"/>
      <c:overlay val="0"/>
      <c:txPr>
        <a:bodyPr/>
        <a:lstStyle/>
        <a:p>
          <a:pPr>
            <a:defRPr sz="1700">
              <a:solidFill>
                <a:srgbClr val="D9E2EC"/>
              </a:solidFill>
              <a:latin typeface="Arial"/>
            </a:defRPr>
          </a:pPr>
        </a:p>
      </c:txPr>
    </c:legend>
    <c:dispBlanksAs val="gap"/>
  </c:chart>
  <c:txPr>
    <a:bodyPr/>
    <a:lstStyle/>
    <a:p>
      <a:pPr>
        <a:defRPr sz="1700">
          <a:solidFill>
            <a:srgbClr val="D9E2EC"/>
          </a:solidFill>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Buenas tardes. Hoy no vengo a repetir el anuncio de AWS: vengo a contarles qué pasó cuando lo puse a prueba. Ese 1,90 es uno de los resultados, y al final van a ver que no es el único que importa.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 gusta probar las cosas antes de recomendarlas. Esta charla es justamente eso: un laboratorio que armé esta semana, con lo que costó y con los errores que me encontré en el camino.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Cinco temas y una demo. Al final les doy una respuesta concreta a la pregunta del título, y cerramos con tres preguntas de Kahoot.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idea no es desmentir a nadie. AWS publicó sus números y yo los revisé en un clúster chico, como el que tienen muchos equipos. Donde se cumplen, lo digo; donde dependen de algo, les explico de qué.</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Primero, qué es exactamente un nodo RG y en qué se diferencia de RA3.</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Esto es clave para entender los resultados del data lake: cuando comparamos RA3 con RG ahí, no comparamos solo procesadores, comparamos dos formas distintas de leer S3. Por eso hablo del chip y de cómo se leen los datos, nunca del chip solo. Fuente: documentación de Redshift, Amazon Redshift provisioned clusters.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30 % por vCPU se cumple al centavo: 1,086 dividido entre 4 vCPU contra 0,7602 entre 4. Ojo con el tamaño 4xlarge: un ra3.4xlarge tiene 12 vCPU y un rg.4xlarge tiene 16, por eso AWS recomienda pasar de 4 nodos a 3. Si migras uno a uno en ese tamaño, terminas pagando un tercio más de capacidad de la que tenías.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Estos son los cuatro números del anuncio, y son los que vamos a revisar. Fíjense en la última línea: AWS midió 10 TB en nodos grandes. Yo medí un clúster chico, más parecido al que tienen muchos equipos.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Antes de mostrar un solo número, les cuento cómo lo obtuve, porque una comparación sin método es solo una opinión con decimales.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Armé una VPC propia, con enhanced VPC routing y endpoints para S3, Glue, Lake Formation y S3 Tables. El clúster RA3 tiene 2 nodos ra3.xlplus, y el RG, 2 nodos rg.xlarge, creado a partir del mismo snapshot: los dos tienen exactamente los mismos datos. El data lake está en S3, con tablas Iceberg y Parquet registradas en Glue. RA3 lee esos datos con Spectrum, que corre fuera de la VPC; RG los lee con sus propios nodos, desde la VPC. Las consultas las lanza un programa en Python a través de la Data API, y la infraestructura la crea GitHub Actions con OIDC, sin claves guardadas en ningún lado.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 más importante es el último punto: el programa revisa cada consulta y, si alguna usó la caché de resultados, descarta la prueba completa. No hubo que descartar ninguna.</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Prefiero decirlo desde el principio. Con 100 GB, buena parte de los datos que se consultan cabe en memoria, y eso reduce la ventaja de RG cuando hay que leer mucho. Si aun así RG gana, es buena señal; con más datos esperaría una diferencia mayor, pero eso no lo medí. Serverless lo medimos solo con 4 RPU fijos, sin dejarlo escalar.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Empecemos por lo básico de cualquier warehouse: consultas sobre sus propias tablas.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Veinte consultas, cada una repetida tres veces, sin contar la primera. RG fue más rápido en las veinte. La que más mejoró, query48, fue 3,58 veces más rápida; la que menos, query57, 1,08 veces. En promedio, usando la media geométrica, que es la forma correcta de promediar este tipo de comparaciones, RG fue 1,90 veces más rápido. Para el total de las veinte consultas: RA3 tardó 148 segundos y RG, 97. En azul, las consultas que leen y agregan muchos datos; en naranja, las de cálculo pesado.</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Separé las consultas en dos grupos antes de ejecutarlas, no después. Las que leen muchos datos y los agregan mejoraron 2,28 veces: ahí es donde Graviton y el ancho de banda de memoria hacen la diferencia. Las de cálculo pesado, con funciones de ventana y joins de quince tablas, mejoraron 1,58 veces. Si tu warehouse es sobre todo dashboards y reportes con agregaciones, estás en el lado que más gana.</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Simulé cinco usuarios lanzando las mismas veinte consultas, en distinto orden, durante media hora. RG completó 1224 consultas por hora y RA3, 680. En ninguno de los dos hubo consultas en espera.</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carga inicial la hice una sola vez, en RA3, y RG se creó a partir del snapshot. La prueba de transformación repite una copia desde S3 y la creación de una tabla resumen en los dos clústeres: RG fue 1,5 y 1,6 veces más rápido. Cada una se ejecutó dos veces, así que lo tomo como tendencia, no como número exacto.</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Esto es lo que más le interesa a quien paga la factura. No solo el nodo es más barato: como termina antes, cada ejecución cuesta menos de la mitad.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Agregué Serverless con la misma memoria que el clúster RG: 4 RPU son 64 GB, y cuestan 1,50 dólares por hora contra 1,52 del clúster. Fijé la capacidad para que no escalara durante la prueba. En esas condiciones, RG fue unas tres veces más rápido en las consultas del warehouse, y Serverless quedó incluso por debajo de RA3 en casi todo. Pero ojo con la conclusión: 4 RPU es el tamaño de entrada, y lo que vende Serverless es otra cosa: escalar solo cuando hace falta y no cobrar cuando no hay consultas. Todas las pruebas de Serverless del día costaron 1,48 dólares. Fuente: results/2026-10-05/summary-serverless.md.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Ahora la parte más interesante, y la que más depende de cómo tienes guardados tus datos.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Escribí las mismas cinco tablas en Iceberg y en Parquet desde el warehouse, y comprobé que las seis consultas devuelven exactamente las mismas 483 filas en las tres versiones. Así, lo único que cambia es la forma de leer los datos.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RG lee Iceberg casi dos veces más rápido que RA3, con una salvedad: la primera vez que toca los datos tarda bastante más, porque los trae de S3 y los guarda en caché. Mi método no cuenta la primera repetición, así que este resultado es con la caché ya cargada. Si consultas el data lake de vez en cuando, ten en cuenta esa primera lectura.</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Este fue el resultado que más me sorprendió. Con Parquet, RG empezó siendo más lento que RA3. Revisé el plan de ejecución y era idéntico en los dos. La diferencia estaba en los archivos: Redshift los había escrito en solo cuatro archivos enormes, uno por slice, porque por defecto cada archivo puede llegar a 6.200 MB. Los reescribí en archivos de medio giga y RG pasó a ganar, mientras que RA3 empeoró. El mismo cambio ayuda a uno y perjudica al otro.</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el laboratorio son centavos, porque son 100 GB. Pero esto crece con el volumen y con la frecuencia: un equipo que lee decenas de TB al mes desde el data lake lo nota en la factura. En RG ese cobro desaparece.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Quería probar S3 Tables y no pude, por una razón de diseño: esas tablas solo se leen conectándose con una identidad de IAM, y mi programa se conecta con un usuario de base de datos. Cambiar de usuario solo para esa prueba habría medido otra cosa. Además, Iceberg no acepta columnas CHAR, y Lake Formation exige permisos explícitos sobre las bases de Glue.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Supongamos que decides migrar. ¿Cuánto cuesta en tiempo y en sustos?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Restauré una copia del clúster RA3 y lo convertí a RG con un elastic resize, intentando escribir cada 30 segundos. Empezó a las 19:05:47 y terminó a las 19:08:35. El clúster quedó en solo lectura entre 1 minuto 35 y 2 minutos 42 segundos; el rango se debe a que revisábamos cada 30 segundos. Como pasamos de 2 nodos a 2 nodos, los datos quedaron repartidos igual. Ojo: si cambias la cantidad de nodos, como al pasar de 4 a 3 en el tamaño 4xlarge, el reparto sí puede desbalancearse.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tres primeras me pasaron en el simulacro, en ese orden, y no las encontré en la guía de migración. Las dos últimas sí aparecen en la documentación y en el blog de AWS. Todas quedaron resueltas en el script del repositorio.</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Ahora veamos las consultas y los datos reales.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 es una consulta típica de lectura: cuenta ventas filtrando por hora del día, por tipo de hogar y por tienda. Lo pesado es que tiene que recorrer las 288 millones de filas de la tabla de ventas y cruzarlas con tres tablas más. En RA3 tarda 1,77 segundos; en RG, 0,67.</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Así encontré la explicación del caso de Parquet. Si los planes fueran distintos, la diferencia estaría en el plan y no en el clúster. Son iguales: lo único que cambia es la pieza que lee S3, Spectrum en RA3 y los propios nodos en RG. Cuando veas una diferencia rara entre dos clústeres, empieza por aquí.</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 página reúne todos los números de la charla, sacados directamente de los archivos del repositorio. La abro un momento para que vean cada consulta. Abrir: https://claude.ai/artifact/1MgMakVPq4URRXQMZp4aVk (privada, con la sesión del orador; copia local: slides/demo/resultados.html).</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 es mi respuesta a la pregunta del título. Para la mayoría de los equipos con RA3, migrar conviene: es más rápido, más barato y el cambio toma minutos. Pero prueba primero con tus datos, sobre todo si tu data lake está en Parquet o si tus consultas son de cálculo pesado. Serverless es otra decisión, que depende de cómo usas Redshift: a 4 RPU fijos fue mucho más lento que RG, así que si lo eliges, dale más capacidad o deja que escale.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Todo lo que vieron está en el repositorio: la infraestructura, el programa que lanza las pruebas, el runbook con cada paso y los errores que me encontré. Cámbienle el dataset por el suyo y repitan las mediciones.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Pregunta 1: ¿Con qué lee RG los datos del data lake? a) Redshift Spectrum; b) Con sus propios nodos, sin Spectrum (correcta); c) Amazon Athena; d) Trabajos de AWS Glue. Comentario: RA3 usa Spectrum, que cobra USD 5 por TB leído; RG lee el data lake con sus propios nodos y sin ese cobro. Pregunta 2: ¿Qué tipo de consultas mejoró más al pasar de RA3 a RG? a) Las de cálculo pesado (ventanas, joins grandes); b) Ninguna, quedaron igual; c) Las que leen y agregan muchos datos (correcta); d) Solo las del data lake. Comentario: 2,28 veces en lectura contra 1,58 en cálculo; el promedio de las 20 consultas fue 1,90. Pregunta 3: Si tienes 4 nodos ra3.4xlarge, ¿cuántos rg.4xlarge recomienda AWS? a) 3 (correcta); b) 4; c) 2; d) 8. Comentario: Un ra3.4xlarge tiene 12 vCPU y un rg.4xlarge, 16: 4 × 12 = 3 × 16 = 48. Migrar uno a uno en ese tamaño deja un tercio de capacidad de más. Pregunta 4: En el simulacro de migración (elastic resize), ¿cuánto tiempo estuvo el clúster sin aceptar escrituras? a) Nada, siempre aceptó escrituras; b) Unos 30 minutos; c) Varias horas; d) Entre 1,5 y 3 minutos (correcta). Comentario: Entre 1 min 35 s y 2 min 42 s; el resize completo tomó 2 min 48 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Kahoot. Pregunta 1: ¿Qué procesadores usan los nuevos nodos RG de Redshift? a) Intel Xeon; b) AMD EPYC; c) AWS Graviton (correcta); d) Apple M. Comentario: RG usa Graviton, los procesadores Arm diseñados por AWS. Pregunta 2: ¿Cuánto menos cuesta RG por vCPU frente a RA3? a) 30 % (correcta); b) 10 %; c) 50 %; d) Cuesta lo mismo. Comentario: USD 1,086 entre 4 vCPU en ra3.xlplus contra 0,7602 entre 4 en rg.xlarge: 30 % menos.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Gracias. Respondo preguntas en el chat. Si alguien pregunta por Snowflake u otras plataformas: trabajo con varias y son buenas respuestas para contextos distintos; hoy vine a medir la decisión que ya tienen enfrente los equipos que usan AWS: RA3 o RG.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4.png"/><Relationship Id="rId4" Type="http://schemas.openxmlformats.org/officeDocument/2006/relationships/image" Target="../media/image5.svg"/><Relationship Id="rId5" Type="http://schemas.openxmlformats.org/officeDocument/2006/relationships/image" Target="../media/image2.png"/><Relationship Id="rId6" Type="http://schemas.openxmlformats.org/officeDocument/2006/relationships/image" Target="../media/image3.svg"/><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4.png"/><Relationship Id="rId4" Type="http://schemas.openxmlformats.org/officeDocument/2006/relationships/image" Target="../media/image5.svg"/><Relationship Id="rId5" Type="http://schemas.openxmlformats.org/officeDocument/2006/relationships/image" Target="../media/image2.png"/><Relationship Id="rId6" Type="http://schemas.openxmlformats.org/officeDocument/2006/relationships/image" Target="../media/image3.svg"/><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4.png"/><Relationship Id="rId4" Type="http://schemas.openxmlformats.org/officeDocument/2006/relationships/image" Target="../media/image5.svg"/><Relationship Id="rId5" Type="http://schemas.openxmlformats.org/officeDocument/2006/relationships/image" Target="../media/image2.png"/><Relationship Id="rId6" Type="http://schemas.openxmlformats.org/officeDocument/2006/relationships/image" Target="../media/image3.svg"/><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4.png"/><Relationship Id="rId4" Type="http://schemas.openxmlformats.org/officeDocument/2006/relationships/image" Target="../media/image5.svg"/><Relationship Id="rId5" Type="http://schemas.openxmlformats.org/officeDocument/2006/relationships/image" Target="../media/image2.png"/><Relationship Id="rId6" Type="http://schemas.openxmlformats.org/officeDocument/2006/relationships/image" Target="../media/image3.svg"/><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4.png"/><Relationship Id="rId4" Type="http://schemas.openxmlformats.org/officeDocument/2006/relationships/image" Target="../media/image5.svg"/><Relationship Id="rId5" Type="http://schemas.openxmlformats.org/officeDocument/2006/relationships/image" Target="../media/image2.png"/><Relationship Id="rId6" Type="http://schemas.openxmlformats.org/officeDocument/2006/relationships/image" Target="../media/image3.svg"/><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4.png"/><Relationship Id="rId4" Type="http://schemas.openxmlformats.org/officeDocument/2006/relationships/image" Target="../media/image5.svg"/><Relationship Id="rId5" Type="http://schemas.openxmlformats.org/officeDocument/2006/relationships/image" Target="../media/image2.png"/><Relationship Id="rId6" Type="http://schemas.openxmlformats.org/officeDocument/2006/relationships/image" Target="../media/image3.svg"/><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4.png"/><Relationship Id="rId4" Type="http://schemas.openxmlformats.org/officeDocument/2006/relationships/image" Target="../media/image5.svg"/><Relationship Id="rId5" Type="http://schemas.openxmlformats.org/officeDocument/2006/relationships/image" Target="../media/image2.png"/><Relationship Id="rId6" Type="http://schemas.openxmlformats.org/officeDocument/2006/relationships/image" Target="../media/image3.svg"/><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4.png"/><Relationship Id="rId4" Type="http://schemas.openxmlformats.org/officeDocument/2006/relationships/image" Target="../media/image5.svg"/><Relationship Id="rId5" Type="http://schemas.openxmlformats.org/officeDocument/2006/relationships/image" Target="../media/image2.png"/><Relationship Id="rId6" Type="http://schemas.openxmlformats.org/officeDocument/2006/relationships/image" Target="../media/image3.svg"/><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4.png"/><Relationship Id="rId4" Type="http://schemas.openxmlformats.org/officeDocument/2006/relationships/image" Target="../media/image5.svg"/><Relationship Id="rId5" Type="http://schemas.openxmlformats.org/officeDocument/2006/relationships/image" Target="../media/image2.png"/><Relationship Id="rId6" Type="http://schemas.openxmlformats.org/officeDocument/2006/relationships/image" Target="../media/image3.svg"/><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4.png"/><Relationship Id="rId4" Type="http://schemas.openxmlformats.org/officeDocument/2006/relationships/image" Target="../media/image5.svg"/><Relationship Id="rId5" Type="http://schemas.openxmlformats.org/officeDocument/2006/relationships/image" Target="../media/image2.png"/><Relationship Id="rId6" Type="http://schemas.openxmlformats.org/officeDocument/2006/relationships/image" Target="../media/image3.svg"/><Relationship Id="rId7" Type="http://schemas.openxmlformats.org/officeDocument/2006/relationships/image" Target="../media/image1.png"/><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4.png"/><Relationship Id="rId4" Type="http://schemas.openxmlformats.org/officeDocument/2006/relationships/image" Target="../media/image5.svg"/><Relationship Id="rId5" Type="http://schemas.openxmlformats.org/officeDocument/2006/relationships/image" Target="../media/image2.png"/><Relationship Id="rId6" Type="http://schemas.openxmlformats.org/officeDocument/2006/relationships/image" Target="../media/image3.svg"/><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4.png"/><Relationship Id="rId4" Type="http://schemas.openxmlformats.org/officeDocument/2006/relationships/image" Target="../media/image5.svg"/><Relationship Id="rId5" Type="http://schemas.openxmlformats.org/officeDocument/2006/relationships/image" Target="../media/image2.png"/><Relationship Id="rId6" Type="http://schemas.openxmlformats.org/officeDocument/2006/relationships/image" Target="../media/image3.svg"/><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4.png"/><Relationship Id="rId4" Type="http://schemas.openxmlformats.org/officeDocument/2006/relationships/image" Target="../media/image5.svg"/><Relationship Id="rId5" Type="http://schemas.openxmlformats.org/officeDocument/2006/relationships/image" Target="../media/image2.png"/><Relationship Id="rId6" Type="http://schemas.openxmlformats.org/officeDocument/2006/relationships/image" Target="../media/image3.svg"/><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4.png"/><Relationship Id="rId4" Type="http://schemas.openxmlformats.org/officeDocument/2006/relationships/image" Target="../media/image5.svg"/><Relationship Id="rId5" Type="http://schemas.openxmlformats.org/officeDocument/2006/relationships/image" Target="../media/image2.png"/><Relationship Id="rId6" Type="http://schemas.openxmlformats.org/officeDocument/2006/relationships/image" Target="../media/image3.svg"/><Relationship Id="rId7" Type="http://schemas.openxmlformats.org/officeDocument/2006/relationships/chart" Target="../charts/chart1.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4.png"/><Relationship Id="rId4" Type="http://schemas.openxmlformats.org/officeDocument/2006/relationships/image" Target="../media/image5.svg"/><Relationship Id="rId5" Type="http://schemas.openxmlformats.org/officeDocument/2006/relationships/image" Target="../media/image2.png"/><Relationship Id="rId6" Type="http://schemas.openxmlformats.org/officeDocument/2006/relationships/image" Target="../media/image3.svg"/><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4.png"/><Relationship Id="rId4" Type="http://schemas.openxmlformats.org/officeDocument/2006/relationships/image" Target="../media/image5.svg"/><Relationship Id="rId5" Type="http://schemas.openxmlformats.org/officeDocument/2006/relationships/image" Target="../media/image2.png"/><Relationship Id="rId6" Type="http://schemas.openxmlformats.org/officeDocument/2006/relationships/image" Target="../media/image3.svg"/><Relationship Id="rId7" Type="http://schemas.openxmlformats.org/officeDocument/2006/relationships/chart" Target="../charts/chart2.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4.png"/><Relationship Id="rId4" Type="http://schemas.openxmlformats.org/officeDocument/2006/relationships/image" Target="../media/image5.svg"/><Relationship Id="rId5" Type="http://schemas.openxmlformats.org/officeDocument/2006/relationships/image" Target="../media/image2.png"/><Relationship Id="rId6" Type="http://schemas.openxmlformats.org/officeDocument/2006/relationships/image" Target="../media/image3.svg"/><Relationship Id="rId7" Type="http://schemas.openxmlformats.org/officeDocument/2006/relationships/chart" Target="../charts/chart3.xml"/><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4.png"/><Relationship Id="rId4" Type="http://schemas.openxmlformats.org/officeDocument/2006/relationships/image" Target="../media/image5.svg"/><Relationship Id="rId5" Type="http://schemas.openxmlformats.org/officeDocument/2006/relationships/image" Target="../media/image2.png"/><Relationship Id="rId6" Type="http://schemas.openxmlformats.org/officeDocument/2006/relationships/image" Target="../media/image3.svg"/><Relationship Id="rId7"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4.png"/><Relationship Id="rId4" Type="http://schemas.openxmlformats.org/officeDocument/2006/relationships/image" Target="../media/image5.svg"/><Relationship Id="rId5" Type="http://schemas.openxmlformats.org/officeDocument/2006/relationships/image" Target="../media/image2.png"/><Relationship Id="rId6" Type="http://schemas.openxmlformats.org/officeDocument/2006/relationships/image" Target="../media/image3.svg"/><Relationship Id="rId7"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4.png"/><Relationship Id="rId4" Type="http://schemas.openxmlformats.org/officeDocument/2006/relationships/image" Target="../media/image5.svg"/><Relationship Id="rId5" Type="http://schemas.openxmlformats.org/officeDocument/2006/relationships/image" Target="../media/image2.png"/><Relationship Id="rId6" Type="http://schemas.openxmlformats.org/officeDocument/2006/relationships/image" Target="../media/image3.svg"/><Relationship Id="rId7"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4.png"/><Relationship Id="rId4" Type="http://schemas.openxmlformats.org/officeDocument/2006/relationships/image" Target="../media/image5.svg"/><Relationship Id="rId5" Type="http://schemas.openxmlformats.org/officeDocument/2006/relationships/image" Target="../media/image2.png"/><Relationship Id="rId6" Type="http://schemas.openxmlformats.org/officeDocument/2006/relationships/image" Target="../media/image3.svg"/><Relationship Id="rId7"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4.png"/><Relationship Id="rId4" Type="http://schemas.openxmlformats.org/officeDocument/2006/relationships/image" Target="../media/image5.svg"/><Relationship Id="rId5" Type="http://schemas.openxmlformats.org/officeDocument/2006/relationships/image" Target="../media/image2.png"/><Relationship Id="rId6" Type="http://schemas.openxmlformats.org/officeDocument/2006/relationships/image" Target="../media/image3.svg"/><Relationship Id="rId7" Type="http://schemas.openxmlformats.org/officeDocument/2006/relationships/chart" Target="../charts/chart4.xml"/><Relationship Id="rId8"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4.png"/><Relationship Id="rId4" Type="http://schemas.openxmlformats.org/officeDocument/2006/relationships/image" Target="../media/image5.svg"/><Relationship Id="rId5" Type="http://schemas.openxmlformats.org/officeDocument/2006/relationships/image" Target="../media/image2.png"/><Relationship Id="rId6" Type="http://schemas.openxmlformats.org/officeDocument/2006/relationships/image" Target="../media/image3.svg"/><Relationship Id="rId7"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4.png"/><Relationship Id="rId4" Type="http://schemas.openxmlformats.org/officeDocument/2006/relationships/image" Target="../media/image5.svg"/><Relationship Id="rId5" Type="http://schemas.openxmlformats.org/officeDocument/2006/relationships/image" Target="../media/image2.png"/><Relationship Id="rId6" Type="http://schemas.openxmlformats.org/officeDocument/2006/relationships/image" Target="../media/image3.svg"/><Relationship Id="rId7"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4.png"/><Relationship Id="rId4" Type="http://schemas.openxmlformats.org/officeDocument/2006/relationships/image" Target="../media/image5.svg"/><Relationship Id="rId5" Type="http://schemas.openxmlformats.org/officeDocument/2006/relationships/image" Target="../media/image2.png"/><Relationship Id="rId6" Type="http://schemas.openxmlformats.org/officeDocument/2006/relationships/image" Target="../media/image3.svg"/><Relationship Id="rId7"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4.png"/><Relationship Id="rId4" Type="http://schemas.openxmlformats.org/officeDocument/2006/relationships/image" Target="../media/image5.svg"/><Relationship Id="rId5" Type="http://schemas.openxmlformats.org/officeDocument/2006/relationships/image" Target="../media/image2.png"/><Relationship Id="rId6" Type="http://schemas.openxmlformats.org/officeDocument/2006/relationships/image" Target="../media/image3.svg"/><Relationship Id="rId7"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4.png"/><Relationship Id="rId4" Type="http://schemas.openxmlformats.org/officeDocument/2006/relationships/image" Target="../media/image5.svg"/><Relationship Id="rId5" Type="http://schemas.openxmlformats.org/officeDocument/2006/relationships/image" Target="../media/image2.png"/><Relationship Id="rId6" Type="http://schemas.openxmlformats.org/officeDocument/2006/relationships/image" Target="../media/image3.svg"/><Relationship Id="rId7"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4.png"/><Relationship Id="rId4" Type="http://schemas.openxmlformats.org/officeDocument/2006/relationships/image" Target="../media/image5.svg"/><Relationship Id="rId5" Type="http://schemas.openxmlformats.org/officeDocument/2006/relationships/image" Target="../media/image2.png"/><Relationship Id="rId6" Type="http://schemas.openxmlformats.org/officeDocument/2006/relationships/image" Target="../media/image3.svg"/><Relationship Id="rId7"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4.png"/><Relationship Id="rId4" Type="http://schemas.openxmlformats.org/officeDocument/2006/relationships/image" Target="../media/image5.svg"/><Relationship Id="rId5" Type="http://schemas.openxmlformats.org/officeDocument/2006/relationships/image" Target="../media/image2.png"/><Relationship Id="rId6" Type="http://schemas.openxmlformats.org/officeDocument/2006/relationships/image" Target="../media/image3.svg"/><Relationship Id="rId7"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4.png"/><Relationship Id="rId4" Type="http://schemas.openxmlformats.org/officeDocument/2006/relationships/image" Target="../media/image5.svg"/><Relationship Id="rId5" Type="http://schemas.openxmlformats.org/officeDocument/2006/relationships/image" Target="../media/image2.png"/><Relationship Id="rId6" Type="http://schemas.openxmlformats.org/officeDocument/2006/relationships/image" Target="../media/image3.svg"/><Relationship Id="rId7"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4.png"/><Relationship Id="rId4" Type="http://schemas.openxmlformats.org/officeDocument/2006/relationships/image" Target="../media/image5.svg"/><Relationship Id="rId5" Type="http://schemas.openxmlformats.org/officeDocument/2006/relationships/image" Target="../media/image2.png"/><Relationship Id="rId6" Type="http://schemas.openxmlformats.org/officeDocument/2006/relationships/image" Target="../media/image3.svg"/><Relationship Id="rId7"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4.png"/><Relationship Id="rId4" Type="http://schemas.openxmlformats.org/officeDocument/2006/relationships/image" Target="../media/image5.svg"/><Relationship Id="rId5" Type="http://schemas.openxmlformats.org/officeDocument/2006/relationships/image" Target="../media/image2.png"/><Relationship Id="rId6" Type="http://schemas.openxmlformats.org/officeDocument/2006/relationships/image" Target="../media/image3.svg"/><Relationship Id="rId7" Type="http://schemas.openxmlformats.org/officeDocument/2006/relationships/image" Target="../media/image7.png"/><Relationship Id="rId8"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4.png"/><Relationship Id="rId4" Type="http://schemas.openxmlformats.org/officeDocument/2006/relationships/image" Target="../media/image5.svg"/><Relationship Id="rId5" Type="http://schemas.openxmlformats.org/officeDocument/2006/relationships/image" Target="../media/image2.png"/><Relationship Id="rId6" Type="http://schemas.openxmlformats.org/officeDocument/2006/relationships/image" Target="../media/image3.svg"/><Relationship Id="rId7"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4.png"/><Relationship Id="rId4" Type="http://schemas.openxmlformats.org/officeDocument/2006/relationships/image" Target="../media/image5.svg"/><Relationship Id="rId5" Type="http://schemas.openxmlformats.org/officeDocument/2006/relationships/image" Target="../media/image2.png"/><Relationship Id="rId6" Type="http://schemas.openxmlformats.org/officeDocument/2006/relationships/image" Target="../media/image3.svg"/><Relationship Id="rId7" Type="http://schemas.openxmlformats.org/officeDocument/2006/relationships/image" Target="../media/image9.png"/><Relationship Id="rId8"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4.png"/><Relationship Id="rId4" Type="http://schemas.openxmlformats.org/officeDocument/2006/relationships/image" Target="../media/image5.svg"/><Relationship Id="rId5" Type="http://schemas.openxmlformats.org/officeDocument/2006/relationships/image" Target="../media/image2.png"/><Relationship Id="rId6" Type="http://schemas.openxmlformats.org/officeDocument/2006/relationships/image" Target="../media/image3.svg"/><Relationship Id="rId7"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4.png"/><Relationship Id="rId4" Type="http://schemas.openxmlformats.org/officeDocument/2006/relationships/image" Target="../media/image5.svg"/><Relationship Id="rId5" Type="http://schemas.openxmlformats.org/officeDocument/2006/relationships/image" Target="../media/image2.png"/><Relationship Id="rId6" Type="http://schemas.openxmlformats.org/officeDocument/2006/relationships/image" Target="../media/image3.svg"/><Relationship Id="rId7"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4.png"/><Relationship Id="rId4" Type="http://schemas.openxmlformats.org/officeDocument/2006/relationships/image" Target="../media/image5.svg"/><Relationship Id="rId5" Type="http://schemas.openxmlformats.org/officeDocument/2006/relationships/image" Target="../media/image2.png"/><Relationship Id="rId6" Type="http://schemas.openxmlformats.org/officeDocument/2006/relationships/image" Target="../media/image3.svg"/><Relationship Id="rId7" Type="http://schemas.openxmlformats.org/officeDocument/2006/relationships/image" Target="../media/image11.png"/><Relationship Id="rId8" Type="http://schemas.openxmlformats.org/officeDocument/2006/relationships/image" Target="../media/image9.png"/><Relationship Id="rId9" Type="http://schemas.openxmlformats.org/officeDocument/2006/relationships/notesSlide" Target="../notesSlides/notesSlide37.xml"/></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232E3E"/>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txBody>
          <a:bodyPr/>
          <a:p/>
        </p:txBody>
      </p:sp>
      <p:sp>
        <p:nvSpPr>
          <p:cNvPr name="TextBox 3" id="3"/>
          <p:cNvSpPr txBox="true"/>
          <p:nvPr/>
        </p:nvSpPr>
        <p:spPr>
          <a:xfrm rot="0">
            <a:off x="3520440" y="868680"/>
            <a:ext cx="12070080" cy="1874519"/>
          </a:xfrm>
          <a:prstGeom prst="rect">
            <a:avLst/>
          </a:prstGeom>
        </p:spPr>
        <p:txBody>
          <a:bodyPr anchor="ctr" rtlCol="false" tIns="0" lIns="0" bIns="0" rIns="0" wrap="square">
            <a:spAutoFit/>
          </a:bodyPr>
          <a:lstStyle/>
          <a:p>
            <a:pPr algn="l" marL="0" indent="0" lvl="0">
              <a:lnSpc>
                <a:spcPts val="10481"/>
              </a:lnSpc>
              <a:spcBef>
                <a:spcPct val="0"/>
              </a:spcBef>
            </a:pPr>
            <a:r>
              <a:rPr lang="en-US" b="0" sz="7200">
                <a:solidFill>
                  <a:srgbClr val="FFFFFF"/>
                </a:solidFill>
                <a:latin typeface="Arial Black"/>
                <a:ea typeface="Arial Black"/>
                <a:cs typeface="Arial Black"/>
                <a:sym typeface="Arial Black"/>
              </a:rPr>
              <a:t>Redshift Redemption</a:t>
            </a:r>
          </a:p>
        </p:txBody>
      </p:sp>
      <p:sp>
        <p:nvSpPr>
          <p:cNvPr name="Freeform 4" id="4"/>
          <p:cNvSpPr/>
          <p:nvPr/>
        </p:nvSpPr>
        <p:spPr>
          <a:xfrm flipH="false" flipV="false" rot="0">
            <a:off x="536304" y="308054"/>
            <a:ext cx="650696" cy="409939"/>
          </a:xfrm>
          <a:custGeom>
            <a:avLst/>
            <a:gdLst/>
            <a:ahLst/>
            <a:cxnLst/>
            <a:rect r="r" b="b" t="t" l="l"/>
            <a:pathLst>
              <a:path h="409939" w="650696">
                <a:moveTo>
                  <a:pt x="0" y="0"/>
                </a:moveTo>
                <a:lnTo>
                  <a:pt x="650697" y="0"/>
                </a:lnTo>
                <a:lnTo>
                  <a:pt x="650697" y="409938"/>
                </a:lnTo>
                <a:lnTo>
                  <a:pt x="0" y="40993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219785" y="9070932"/>
            <a:ext cx="4151107" cy="986035"/>
            <a:chOff x="0" y="0"/>
            <a:chExt cx="5534810" cy="1314713"/>
          </a:xfrm>
        </p:grpSpPr>
        <p:sp>
          <p:nvSpPr>
            <p:cNvPr name="Freeform 6" id="6"/>
            <p:cNvSpPr/>
            <p:nvPr/>
          </p:nvSpPr>
          <p:spPr>
            <a:xfrm flipH="false" flipV="false" rot="0">
              <a:off x="0" y="0"/>
              <a:ext cx="1314713" cy="1314713"/>
            </a:xfrm>
            <a:custGeom>
              <a:avLst/>
              <a:gdLst/>
              <a:ahLst/>
              <a:cxnLst/>
              <a:rect r="r" b="b" t="t" l="l"/>
              <a:pathLst>
                <a:path h="1314713" w="1314713">
                  <a:moveTo>
                    <a:pt x="0" y="0"/>
                  </a:moveTo>
                  <a:lnTo>
                    <a:pt x="1314713" y="0"/>
                  </a:lnTo>
                  <a:lnTo>
                    <a:pt x="1314713" y="1314713"/>
                  </a:lnTo>
                  <a:lnTo>
                    <a:pt x="0" y="131471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7" id="7"/>
            <p:cNvSpPr txBox="true"/>
            <p:nvPr/>
          </p:nvSpPr>
          <p:spPr>
            <a:xfrm rot="0">
              <a:off x="1455753" y="151974"/>
              <a:ext cx="3148240" cy="462308"/>
            </a:xfrm>
            <a:prstGeom prst="rect">
              <a:avLst/>
            </a:prstGeom>
          </p:spPr>
          <p:txBody>
            <a:bodyPr anchor="t" rtlCol="false" tIns="0" lIns="0" bIns="0" rIns="0">
              <a:spAutoFit/>
            </a:bodyPr>
            <a:lstStyle/>
            <a:p>
              <a:pPr algn="l">
                <a:lnSpc>
                  <a:spcPts val="2702"/>
                </a:lnSpc>
              </a:pPr>
              <a:r>
                <a:rPr lang="en-US" b="true" sz="2252">
                  <a:solidFill>
                    <a:srgbClr val="FFFFFF"/>
                  </a:solidFill>
                  <a:latin typeface="Raleway 1 Bold"/>
                  <a:ea typeface="Raleway 1 Bold"/>
                  <a:cs typeface="Raleway 1 Bold"/>
                  <a:sym typeface="Raleway 1 Bold"/>
                </a:rPr>
                <a:t>OCTUBRE</a:t>
              </a:r>
            </a:p>
          </p:txBody>
        </p:sp>
        <p:sp>
          <p:nvSpPr>
            <p:cNvPr name="TextBox 8" id="8"/>
            <p:cNvSpPr txBox="true"/>
            <p:nvPr/>
          </p:nvSpPr>
          <p:spPr>
            <a:xfrm rot="0">
              <a:off x="1468453" y="585710"/>
              <a:ext cx="4066356" cy="565140"/>
            </a:xfrm>
            <a:prstGeom prst="rect">
              <a:avLst/>
            </a:prstGeom>
          </p:spPr>
          <p:txBody>
            <a:bodyPr anchor="t" rtlCol="false" tIns="0" lIns="0" bIns="0" rIns="0">
              <a:spAutoFit/>
            </a:bodyPr>
            <a:lstStyle/>
            <a:p>
              <a:pPr algn="l">
                <a:lnSpc>
                  <a:spcPts val="1130"/>
                </a:lnSpc>
              </a:pPr>
              <a:r>
                <a:rPr lang="en-US" sz="1097" b="true">
                  <a:solidFill>
                    <a:srgbClr val="FFFFFF"/>
                  </a:solidFill>
                  <a:latin typeface="Raleway 1 Bold"/>
                  <a:ea typeface="Raleway 1 Bold"/>
                  <a:cs typeface="Raleway 1 Bold"/>
                  <a:sym typeface="Raleway 1 Bold"/>
                </a:rPr>
                <a:t>Mes de </a:t>
              </a:r>
            </a:p>
            <a:p>
              <a:pPr algn="l">
                <a:lnSpc>
                  <a:spcPts val="2059"/>
                </a:lnSpc>
              </a:pPr>
              <a:r>
                <a:rPr lang="en-US" b="true" sz="1999">
                  <a:solidFill>
                    <a:srgbClr val="FFFFFF"/>
                  </a:solidFill>
                  <a:latin typeface="Raleway 1 Bold"/>
                  <a:ea typeface="Raleway 1 Bold"/>
                  <a:cs typeface="Raleway 1 Bold"/>
                  <a:sym typeface="Raleway 1 Bold"/>
                </a:rPr>
                <a:t>HAN SOLO</a:t>
              </a:r>
            </a:p>
          </p:txBody>
        </p:sp>
      </p:grpSp>
      <p:sp>
        <p:nvSpPr>
          <p:cNvPr name="TextBox 9" id="9"/>
          <p:cNvSpPr txBox="true"/>
          <p:nvPr/>
        </p:nvSpPr>
        <p:spPr>
          <a:xfrm rot="0">
            <a:off x="1258571" y="221658"/>
            <a:ext cx="15091730" cy="563680"/>
          </a:xfrm>
          <a:prstGeom prst="rect">
            <a:avLst/>
          </a:prstGeom>
        </p:spPr>
        <p:txBody>
          <a:bodyPr anchor="t" rtlCol="false" tIns="0" lIns="0" bIns="0" rIns="0">
            <a:spAutoFit/>
          </a:bodyPr>
          <a:lstStyle/>
          <a:p>
            <a:pPr algn="l">
              <a:lnSpc>
                <a:spcPts val="1760"/>
              </a:lnSpc>
            </a:pPr>
            <a:r>
              <a:rPr lang="en-US" sz="2000">
                <a:solidFill>
                  <a:srgbClr val="316CE3"/>
                </a:solidFill>
                <a:latin typeface="Gotham"/>
                <a:ea typeface="Gotham"/>
                <a:cs typeface="Gotham"/>
                <a:sym typeface="Gotham"/>
              </a:rPr>
              <a:t>HOY:</a:t>
            </a:r>
          </a:p>
          <a:p>
            <a:pPr algn="l">
              <a:lnSpc>
                <a:spcPts val="2528"/>
              </a:lnSpc>
            </a:pPr>
            <a:r>
              <a:rPr lang="en-US" sz="2873" b="true">
                <a:solidFill>
                  <a:srgbClr val="316CE3"/>
                </a:solidFill>
                <a:latin typeface="Gotham Bold"/>
                <a:ea typeface="Gotham Bold"/>
                <a:cs typeface="Gotham Bold"/>
                <a:sym typeface="Gotham Bold"/>
              </a:rPr>
              <a:t>Episodio II — El Ataque de los Graviton: Infraestructura y rendimiento</a:t>
            </a:r>
          </a:p>
        </p:txBody>
      </p:sp>
      <p:sp>
        <p:nvSpPr>
          <p:cNvPr id="10" name="TextBox 9"/>
          <p:cNvSpPr txBox="1"/>
          <p:nvPr/>
        </p:nvSpPr>
        <p:spPr>
          <a:xfrm>
            <a:off x="914400" y="3566160"/>
            <a:ext cx="8778240" cy="4114800"/>
          </a:xfrm>
          <a:prstGeom prst="rect">
            <a:avLst/>
          </a:prstGeom>
          <a:noFill/>
        </p:spPr>
        <p:txBody>
          <a:bodyPr wrap="square" anchor="t" lIns="0" rIns="0" tIns="0" bIns="0">
            <a:spAutoFit/>
          </a:bodyPr>
          <a:lstStyle/>
          <a:p>
            <a:pPr algn="l">
              <a:spcAft>
                <a:spcPts val="2200"/>
              </a:spcAft>
            </a:pPr>
            <a:r>
              <a:rPr sz="3000" b="0">
                <a:solidFill>
                  <a:srgbClr val="D9E2EC"/>
                </a:solidFill>
                <a:latin typeface="Arial"/>
              </a:rPr>
              <a:t>Los nuevos nodos RG: </a:t>
            </a:r>
            <a:r>
              <a:rPr sz="3000" b="1">
                <a:solidFill>
                  <a:srgbClr val="D9E2EC"/>
                </a:solidFill>
                <a:latin typeface="Arial"/>
              </a:rPr>
              <a:t>¿migrar o no migrar?</a:t>
            </a:r>
          </a:p>
          <a:p>
            <a:pPr algn="l">
              <a:spcAft>
                <a:spcPts val="2200"/>
              </a:spcAft>
            </a:pPr>
            <a:r>
              <a:rPr sz="3000" b="0">
                <a:solidFill>
                  <a:srgbClr val="D9E2EC"/>
                </a:solidFill>
                <a:latin typeface="Arial"/>
              </a:rPr>
              <a:t>Andrés Zeballos · Solutions Architect en phData</a:t>
            </a:r>
          </a:p>
          <a:p>
            <a:pPr algn="l">
              <a:spcAft>
                <a:spcPts val="2200"/>
              </a:spcAft>
            </a:pPr>
            <a:r>
              <a:rPr sz="3000" b="0">
                <a:solidFill>
                  <a:srgbClr val="D9E2EC"/>
                </a:solidFill>
                <a:latin typeface="Arial"/>
              </a:rPr>
              <a:t>Medido con 100 GB de TPC-DS · octubre de 2026</a:t>
            </a:r>
          </a:p>
        </p:txBody>
      </p:sp>
      <p:sp>
        <p:nvSpPr>
          <p:cNvPr id="11" name="TextBox 10"/>
          <p:cNvSpPr txBox="1"/>
          <p:nvPr/>
        </p:nvSpPr>
        <p:spPr>
          <a:xfrm>
            <a:off x="10424160" y="3657600"/>
            <a:ext cx="4937760" cy="1280160"/>
          </a:xfrm>
          <a:prstGeom prst="rect">
            <a:avLst/>
          </a:prstGeom>
          <a:noFill/>
        </p:spPr>
        <p:txBody>
          <a:bodyPr wrap="square" anchor="b" lIns="0" rIns="0" tIns="0" bIns="0">
            <a:spAutoFit/>
          </a:bodyPr>
          <a:lstStyle/>
          <a:p>
            <a:pPr algn="l">
              <a:spcAft>
                <a:spcPts val="1000"/>
              </a:spcAft>
            </a:pPr>
            <a:r>
              <a:rPr sz="11000" b="1">
                <a:solidFill>
                  <a:srgbClr val="316CE3"/>
                </a:solidFill>
                <a:latin typeface="Arial"/>
              </a:rPr>
              <a:t>1,90x</a:t>
            </a:r>
          </a:p>
        </p:txBody>
      </p:sp>
      <p:sp>
        <p:nvSpPr>
          <p:cNvPr id="12" name="TextBox 11"/>
          <p:cNvSpPr txBox="1"/>
          <p:nvPr/>
        </p:nvSpPr>
        <p:spPr>
          <a:xfrm>
            <a:off x="10424160" y="5029200"/>
            <a:ext cx="4937760" cy="1097280"/>
          </a:xfrm>
          <a:prstGeom prst="rect">
            <a:avLst/>
          </a:prstGeom>
          <a:noFill/>
        </p:spPr>
        <p:txBody>
          <a:bodyPr wrap="square" anchor="t" lIns="0" rIns="0" tIns="0" bIns="0">
            <a:spAutoFit/>
          </a:bodyPr>
          <a:lstStyle/>
          <a:p>
            <a:pPr algn="l">
              <a:spcAft>
                <a:spcPts val="1000"/>
              </a:spcAft>
            </a:pPr>
            <a:r>
              <a:rPr sz="2200" b="0">
                <a:solidFill>
                  <a:srgbClr val="D9E2EC"/>
                </a:solidFill>
                <a:latin typeface="Arial"/>
              </a:rPr>
              <a:t>más rápido, en promedio, en nuestras pruebas</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232E3E"/>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txBody>
          <a:bodyPr/>
          <a:p/>
        </p:txBody>
      </p:sp>
      <p:sp>
        <p:nvSpPr>
          <p:cNvPr name="TextBox 3" id="3"/>
          <p:cNvSpPr txBox="true"/>
          <p:nvPr/>
        </p:nvSpPr>
        <p:spPr>
          <a:xfrm rot="0">
            <a:off x="3520440" y="868680"/>
            <a:ext cx="12070080" cy="1874519"/>
          </a:xfrm>
          <a:prstGeom prst="rect">
            <a:avLst/>
          </a:prstGeom>
        </p:spPr>
        <p:txBody>
          <a:bodyPr anchor="ctr" rtlCol="false" tIns="0" lIns="0" bIns="0" rIns="0" wrap="square">
            <a:spAutoFit/>
          </a:bodyPr>
          <a:lstStyle/>
          <a:p>
            <a:pPr algn="l" marL="0" indent="0" lvl="0">
              <a:lnSpc>
                <a:spcPts val="10481"/>
              </a:lnSpc>
              <a:spcBef>
                <a:spcPct val="0"/>
              </a:spcBef>
            </a:pPr>
            <a:r>
              <a:rPr lang="en-US" b="0" sz="5400">
                <a:solidFill>
                  <a:srgbClr val="FFFFFF"/>
                </a:solidFill>
                <a:latin typeface="Arial Black"/>
                <a:ea typeface="Arial Black"/>
                <a:cs typeface="Arial Black"/>
                <a:sym typeface="Arial Black"/>
              </a:rPr>
              <a:t>Quién soy</a:t>
            </a:r>
          </a:p>
        </p:txBody>
      </p:sp>
      <p:sp>
        <p:nvSpPr>
          <p:cNvPr name="Freeform 4" id="4"/>
          <p:cNvSpPr/>
          <p:nvPr/>
        </p:nvSpPr>
        <p:spPr>
          <a:xfrm flipH="false" flipV="false" rot="0">
            <a:off x="536304" y="308054"/>
            <a:ext cx="650696" cy="409939"/>
          </a:xfrm>
          <a:custGeom>
            <a:avLst/>
            <a:gdLst/>
            <a:ahLst/>
            <a:cxnLst/>
            <a:rect r="r" b="b" t="t" l="l"/>
            <a:pathLst>
              <a:path h="409939" w="650696">
                <a:moveTo>
                  <a:pt x="0" y="0"/>
                </a:moveTo>
                <a:lnTo>
                  <a:pt x="650697" y="0"/>
                </a:lnTo>
                <a:lnTo>
                  <a:pt x="650697" y="409938"/>
                </a:lnTo>
                <a:lnTo>
                  <a:pt x="0" y="40993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219785" y="9070932"/>
            <a:ext cx="4151107" cy="986035"/>
            <a:chOff x="0" y="0"/>
            <a:chExt cx="5534810" cy="1314713"/>
          </a:xfrm>
        </p:grpSpPr>
        <p:sp>
          <p:nvSpPr>
            <p:cNvPr name="Freeform 6" id="6"/>
            <p:cNvSpPr/>
            <p:nvPr/>
          </p:nvSpPr>
          <p:spPr>
            <a:xfrm flipH="false" flipV="false" rot="0">
              <a:off x="0" y="0"/>
              <a:ext cx="1314713" cy="1314713"/>
            </a:xfrm>
            <a:custGeom>
              <a:avLst/>
              <a:gdLst/>
              <a:ahLst/>
              <a:cxnLst/>
              <a:rect r="r" b="b" t="t" l="l"/>
              <a:pathLst>
                <a:path h="1314713" w="1314713">
                  <a:moveTo>
                    <a:pt x="0" y="0"/>
                  </a:moveTo>
                  <a:lnTo>
                    <a:pt x="1314713" y="0"/>
                  </a:lnTo>
                  <a:lnTo>
                    <a:pt x="1314713" y="1314713"/>
                  </a:lnTo>
                  <a:lnTo>
                    <a:pt x="0" y="131471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7" id="7"/>
            <p:cNvSpPr txBox="true"/>
            <p:nvPr/>
          </p:nvSpPr>
          <p:spPr>
            <a:xfrm rot="0">
              <a:off x="1455753" y="151974"/>
              <a:ext cx="3148240" cy="462308"/>
            </a:xfrm>
            <a:prstGeom prst="rect">
              <a:avLst/>
            </a:prstGeom>
          </p:spPr>
          <p:txBody>
            <a:bodyPr anchor="t" rtlCol="false" tIns="0" lIns="0" bIns="0" rIns="0">
              <a:spAutoFit/>
            </a:bodyPr>
            <a:lstStyle/>
            <a:p>
              <a:pPr algn="l">
                <a:lnSpc>
                  <a:spcPts val="2702"/>
                </a:lnSpc>
              </a:pPr>
              <a:r>
                <a:rPr lang="en-US" b="true" sz="2252">
                  <a:solidFill>
                    <a:srgbClr val="FFFFFF"/>
                  </a:solidFill>
                  <a:latin typeface="Raleway 1 Bold"/>
                  <a:ea typeface="Raleway 1 Bold"/>
                  <a:cs typeface="Raleway 1 Bold"/>
                  <a:sym typeface="Raleway 1 Bold"/>
                </a:rPr>
                <a:t>OCTUBRE</a:t>
              </a:r>
            </a:p>
          </p:txBody>
        </p:sp>
        <p:sp>
          <p:nvSpPr>
            <p:cNvPr name="TextBox 8" id="8"/>
            <p:cNvSpPr txBox="true"/>
            <p:nvPr/>
          </p:nvSpPr>
          <p:spPr>
            <a:xfrm rot="0">
              <a:off x="1468453" y="585710"/>
              <a:ext cx="4066356" cy="565140"/>
            </a:xfrm>
            <a:prstGeom prst="rect">
              <a:avLst/>
            </a:prstGeom>
          </p:spPr>
          <p:txBody>
            <a:bodyPr anchor="t" rtlCol="false" tIns="0" lIns="0" bIns="0" rIns="0">
              <a:spAutoFit/>
            </a:bodyPr>
            <a:lstStyle/>
            <a:p>
              <a:pPr algn="l">
                <a:lnSpc>
                  <a:spcPts val="1130"/>
                </a:lnSpc>
              </a:pPr>
              <a:r>
                <a:rPr lang="en-US" sz="1097" b="true">
                  <a:solidFill>
                    <a:srgbClr val="FFFFFF"/>
                  </a:solidFill>
                  <a:latin typeface="Raleway 1 Bold"/>
                  <a:ea typeface="Raleway 1 Bold"/>
                  <a:cs typeface="Raleway 1 Bold"/>
                  <a:sym typeface="Raleway 1 Bold"/>
                </a:rPr>
                <a:t>Mes de </a:t>
              </a:r>
            </a:p>
            <a:p>
              <a:pPr algn="l">
                <a:lnSpc>
                  <a:spcPts val="2059"/>
                </a:lnSpc>
              </a:pPr>
              <a:r>
                <a:rPr lang="en-US" b="true" sz="1999">
                  <a:solidFill>
                    <a:srgbClr val="FFFFFF"/>
                  </a:solidFill>
                  <a:latin typeface="Raleway 1 Bold"/>
                  <a:ea typeface="Raleway 1 Bold"/>
                  <a:cs typeface="Raleway 1 Bold"/>
                  <a:sym typeface="Raleway 1 Bold"/>
                </a:rPr>
                <a:t>HAN SOLO</a:t>
              </a:r>
            </a:p>
          </p:txBody>
        </p:sp>
      </p:grpSp>
      <p:sp>
        <p:nvSpPr>
          <p:cNvPr name="TextBox 9" id="9"/>
          <p:cNvSpPr txBox="true"/>
          <p:nvPr/>
        </p:nvSpPr>
        <p:spPr>
          <a:xfrm rot="0">
            <a:off x="1258571" y="221658"/>
            <a:ext cx="15091730" cy="563680"/>
          </a:xfrm>
          <a:prstGeom prst="rect">
            <a:avLst/>
          </a:prstGeom>
        </p:spPr>
        <p:txBody>
          <a:bodyPr anchor="t" rtlCol="false" tIns="0" lIns="0" bIns="0" rIns="0">
            <a:spAutoFit/>
          </a:bodyPr>
          <a:lstStyle/>
          <a:p>
            <a:pPr algn="l">
              <a:lnSpc>
                <a:spcPts val="1760"/>
              </a:lnSpc>
            </a:pPr>
            <a:r>
              <a:rPr lang="en-US" sz="2000">
                <a:solidFill>
                  <a:srgbClr val="316CE3"/>
                </a:solidFill>
                <a:latin typeface="Gotham"/>
                <a:ea typeface="Gotham"/>
                <a:cs typeface="Gotham"/>
                <a:sym typeface="Gotham"/>
              </a:rPr>
              <a:t>HOY:</a:t>
            </a:r>
          </a:p>
          <a:p>
            <a:pPr algn="l">
              <a:lnSpc>
                <a:spcPts val="2528"/>
              </a:lnSpc>
            </a:pPr>
            <a:r>
              <a:rPr lang="en-US" sz="2873" b="true">
                <a:solidFill>
                  <a:srgbClr val="316CE3"/>
                </a:solidFill>
                <a:latin typeface="Gotham Bold"/>
                <a:ea typeface="Gotham Bold"/>
                <a:cs typeface="Gotham Bold"/>
                <a:sym typeface="Gotham Bold"/>
              </a:rPr>
              <a:t>Episodio II — El Ataque de los Graviton: Infraestructura y rendimiento</a:t>
            </a:r>
          </a:p>
        </p:txBody>
      </p:sp>
      <p:sp>
        <p:nvSpPr>
          <p:cNvPr id="10" name="TextBox 9"/>
          <p:cNvSpPr txBox="1"/>
          <p:nvPr/>
        </p:nvSpPr>
        <p:spPr>
          <a:xfrm>
            <a:off x="914400" y="3291840"/>
            <a:ext cx="9052560" cy="5120640"/>
          </a:xfrm>
          <a:prstGeom prst="rect">
            <a:avLst/>
          </a:prstGeom>
          <a:noFill/>
        </p:spPr>
        <p:txBody>
          <a:bodyPr wrap="square" anchor="t" lIns="0" rIns="0" tIns="0" bIns="0">
            <a:spAutoFit/>
          </a:bodyPr>
          <a:lstStyle/>
          <a:p>
            <a:pPr algn="l">
              <a:spcAft>
                <a:spcPts val="2000"/>
              </a:spcAft>
            </a:pPr>
            <a:r>
              <a:rPr sz="2500" b="0">
                <a:solidFill>
                  <a:srgbClr val="D9E2EC"/>
                </a:solidFill>
                <a:latin typeface="Arial"/>
              </a:rPr>
              <a:t>Soy de Arequipa y trabajo como Solutions Architect en phData, casi siempre con AWS.</a:t>
            </a:r>
          </a:p>
          <a:p>
            <a:pPr algn="l">
              <a:spcAft>
                <a:spcPts val="2000"/>
              </a:spcAft>
            </a:pPr>
            <a:r>
              <a:rPr sz="2500" b="0">
                <a:solidFill>
                  <a:srgbClr val="D9E2EC"/>
                </a:solidFill>
                <a:latin typeface="Arial"/>
              </a:rPr>
              <a:t>Empecé en redes y fui pasando por infraestructura, Kubernetes y datos. Hoy ando metido con agentes de IA.</a:t>
            </a:r>
          </a:p>
          <a:p>
            <a:pPr algn="l">
              <a:spcAft>
                <a:spcPts val="2000"/>
              </a:spcAft>
            </a:pPr>
            <a:r>
              <a:rPr sz="2500" b="0">
                <a:solidFill>
                  <a:srgbClr val="D9E2EC"/>
                </a:solidFill>
                <a:latin typeface="Arial"/>
              </a:rPr>
              <a:t>Tengo el Golden Jacket de AWS y hace poco me invitaron a ayudar a crear las nuevas microcredenciales de análisis de datos.</a:t>
            </a:r>
          </a:p>
        </p:txBody>
      </p:sp>
      <p:sp>
        <p:nvSpPr>
          <p:cNvPr id="11" name="Rounded Rectangle 10"/>
          <p:cNvSpPr/>
          <p:nvPr/>
        </p:nvSpPr>
        <p:spPr>
          <a:xfrm>
            <a:off x="10424160" y="3383280"/>
            <a:ext cx="4572000" cy="3291840"/>
          </a:xfrm>
          <a:prstGeom prst="roundRect">
            <a:avLst>
              <a:gd name="adj" fmla="val 8000"/>
            </a:avLst>
          </a:prstGeom>
          <a:solidFill>
            <a:srgbClr val="2F3D5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228600" bIns="228600"/>
          <a:lstStyle/>
          <a:p>
            <a:pPr algn="ctr">
              <a:spcAft>
                <a:spcPts val="800"/>
              </a:spcAft>
            </a:pPr>
            <a:r>
              <a:rPr sz="2800" b="1">
                <a:solidFill>
                  <a:srgbClr val="316CE3"/>
                </a:solidFill>
                <a:latin typeface="Arial"/>
              </a:rPr>
              <a:t>Probar antes de recomendar</a:t>
            </a:r>
          </a:p>
          <a:p>
            <a:pPr>
              <a:spcAft>
                <a:spcPts val="600"/>
              </a:spcAft>
            </a:pPr>
            <a:r>
              <a:rPr sz="2100" b="0">
                <a:solidFill>
                  <a:srgbClr val="D9E2EC"/>
                </a:solidFill>
                <a:latin typeface="Arial"/>
              </a:rPr>
              <a:t>Cada charla que doy sale de un laboratorio que armo y después publico para que cualquiera lo repita.</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232E3E"/>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txBody>
          <a:bodyPr/>
          <a:p/>
        </p:txBody>
      </p:sp>
      <p:sp>
        <p:nvSpPr>
          <p:cNvPr name="Freeform 3" id="3"/>
          <p:cNvSpPr/>
          <p:nvPr/>
        </p:nvSpPr>
        <p:spPr>
          <a:xfrm flipH="false" flipV="false" rot="0">
            <a:off x="536304" y="308054"/>
            <a:ext cx="650696" cy="409939"/>
          </a:xfrm>
          <a:custGeom>
            <a:avLst/>
            <a:gdLst/>
            <a:ahLst/>
            <a:cxnLst/>
            <a:rect r="r" b="b" t="t" l="l"/>
            <a:pathLst>
              <a:path h="409939" w="650696">
                <a:moveTo>
                  <a:pt x="0" y="0"/>
                </a:moveTo>
                <a:lnTo>
                  <a:pt x="650697" y="0"/>
                </a:lnTo>
                <a:lnTo>
                  <a:pt x="650697" y="409938"/>
                </a:lnTo>
                <a:lnTo>
                  <a:pt x="0" y="40993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txBody>
          <a:bodyPr/>
          <a:p/>
        </p:txBody>
      </p:sp>
      <p:sp>
        <p:nvSpPr>
          <p:cNvPr name="TextBox 4" id="4"/>
          <p:cNvSpPr txBox="true"/>
          <p:nvPr/>
        </p:nvSpPr>
        <p:spPr>
          <a:xfrm rot="0">
            <a:off x="7191614" y="3137838"/>
            <a:ext cx="9158687" cy="4650270"/>
          </a:xfrm>
          <a:prstGeom prst="rect">
            <a:avLst/>
          </a:prstGeom>
        </p:spPr>
        <p:txBody>
          <a:bodyPr anchor="t" rtlCol="false" tIns="0" lIns="0" bIns="0" rIns="0">
            <a:spAutoFit/>
          </a:bodyPr>
          <a:lstStyle/>
          <a:p>
            <a:pPr algn="l" marL="691055" indent="-345528" lvl="1">
              <a:lnSpc>
                <a:spcPts val="6273"/>
              </a:lnSpc>
              <a:buFont typeface="Arial"/>
              <a:buChar char="•"/>
            </a:pPr>
            <a:r>
              <a:rPr lang="en-US" sz="3200">
                <a:solidFill>
                  <a:srgbClr val="FFFFFF"/>
                </a:solidFill>
                <a:latin typeface="Raleway 2"/>
                <a:ea typeface="Raleway 2"/>
                <a:cs typeface="Raleway 2"/>
                <a:sym typeface="Raleway 2"/>
              </a:rPr>
              <a:t>Qué cambia con RG</a:t>
            </a:r>
          </a:p>
          <a:p>
            <a:pPr algn="l" marL="691055" indent="-345528" lvl="1">
              <a:lnSpc>
                <a:spcPts val="6273"/>
              </a:lnSpc>
              <a:buFont typeface="Arial"/>
              <a:buChar char="•"/>
            </a:pPr>
            <a:r>
              <a:rPr lang="en-US" sz="3200">
                <a:solidFill>
                  <a:srgbClr val="FFFFFF"/>
                </a:solidFill>
                <a:latin typeface="Raleway 2"/>
                <a:ea typeface="Raleway 2"/>
                <a:cs typeface="Raleway 2"/>
                <a:sym typeface="Raleway 2"/>
              </a:rPr>
              <a:t>Cómo lo medimos</a:t>
            </a:r>
          </a:p>
          <a:p>
            <a:pPr algn="l" marL="691055" indent="-345528" lvl="1">
              <a:lnSpc>
                <a:spcPts val="6273"/>
              </a:lnSpc>
              <a:buFont typeface="Arial"/>
              <a:buChar char="•"/>
            </a:pPr>
            <a:r>
              <a:rPr lang="en-US" sz="3200">
                <a:solidFill>
                  <a:srgbClr val="FFFFFF"/>
                </a:solidFill>
                <a:latin typeface="Raleway 2"/>
                <a:ea typeface="Raleway 2"/>
                <a:cs typeface="Raleway 2"/>
                <a:sym typeface="Raleway 2"/>
              </a:rPr>
              <a:t>Warehouse: velocidad, concurrencia y costo</a:t>
            </a:r>
          </a:p>
          <a:p>
            <a:pPr algn="l" marL="691055" indent="-345528" lvl="1">
              <a:lnSpc>
                <a:spcPts val="6273"/>
              </a:lnSpc>
              <a:buFont typeface="Arial"/>
              <a:buChar char="•"/>
            </a:pPr>
            <a:r>
              <a:rPr lang="en-US" sz="3200">
                <a:solidFill>
                  <a:srgbClr val="FFFFFF"/>
                </a:solidFill>
                <a:latin typeface="Raleway 2"/>
                <a:ea typeface="Raleway 2"/>
                <a:cs typeface="Raleway 2"/>
                <a:sym typeface="Raleway 2"/>
              </a:rPr>
              <a:t>Data lake: Iceberg, Parquet y Spectrum</a:t>
            </a:r>
          </a:p>
          <a:p>
            <a:pPr algn="l" marL="691055" indent="-345528" lvl="1">
              <a:lnSpc>
                <a:spcPts val="6273"/>
              </a:lnSpc>
              <a:buFont typeface="Arial"/>
              <a:buChar char="•"/>
            </a:pPr>
            <a:r>
              <a:rPr lang="en-US" sz="3200">
                <a:solidFill>
                  <a:srgbClr val="FFFFFF"/>
                </a:solidFill>
                <a:latin typeface="Raleway 2"/>
                <a:ea typeface="Raleway 2"/>
                <a:cs typeface="Raleway 2"/>
                <a:sym typeface="Raleway 2"/>
              </a:rPr>
              <a:t>La migración y lo que nadie te cuenta</a:t>
            </a:r>
          </a:p>
          <a:p>
            <a:pPr algn="l" marL="691055" indent="-345528" lvl="1">
              <a:lnSpc>
                <a:spcPts val="6273"/>
              </a:lnSpc>
              <a:buFont typeface="Arial"/>
              <a:buChar char="•"/>
            </a:pPr>
            <a:r>
              <a:rPr lang="en-US" sz="3200">
                <a:solidFill>
                  <a:srgbClr val="FFFFFF"/>
                </a:solidFill>
                <a:latin typeface="Raleway 2"/>
                <a:ea typeface="Raleway 2"/>
                <a:cs typeface="Raleway 2"/>
                <a:sym typeface="Raleway 2"/>
              </a:rPr>
              <a:t>Demo</a:t>
            </a:r>
          </a:p>
        </p:txBody>
      </p:sp>
      <p:grpSp>
        <p:nvGrpSpPr>
          <p:cNvPr name="Group 5" id="5"/>
          <p:cNvGrpSpPr/>
          <p:nvPr/>
        </p:nvGrpSpPr>
        <p:grpSpPr>
          <a:xfrm rot="0">
            <a:off x="219785" y="9070932"/>
            <a:ext cx="4151107" cy="986035"/>
            <a:chOff x="0" y="0"/>
            <a:chExt cx="5534810" cy="1314713"/>
          </a:xfrm>
        </p:grpSpPr>
        <p:sp>
          <p:nvSpPr>
            <p:cNvPr name="Freeform 6" id="6"/>
            <p:cNvSpPr/>
            <p:nvPr/>
          </p:nvSpPr>
          <p:spPr>
            <a:xfrm flipH="false" flipV="false" rot="0">
              <a:off x="0" y="0"/>
              <a:ext cx="1314713" cy="1314713"/>
            </a:xfrm>
            <a:custGeom>
              <a:avLst/>
              <a:gdLst/>
              <a:ahLst/>
              <a:cxnLst/>
              <a:rect r="r" b="b" t="t" l="l"/>
              <a:pathLst>
                <a:path h="1314713" w="1314713">
                  <a:moveTo>
                    <a:pt x="0" y="0"/>
                  </a:moveTo>
                  <a:lnTo>
                    <a:pt x="1314713" y="0"/>
                  </a:lnTo>
                  <a:lnTo>
                    <a:pt x="1314713" y="1314713"/>
                  </a:lnTo>
                  <a:lnTo>
                    <a:pt x="0" y="131471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7" id="7"/>
            <p:cNvSpPr txBox="true"/>
            <p:nvPr/>
          </p:nvSpPr>
          <p:spPr>
            <a:xfrm rot="0">
              <a:off x="1455753" y="151974"/>
              <a:ext cx="3148240" cy="462308"/>
            </a:xfrm>
            <a:prstGeom prst="rect">
              <a:avLst/>
            </a:prstGeom>
          </p:spPr>
          <p:txBody>
            <a:bodyPr anchor="t" rtlCol="false" tIns="0" lIns="0" bIns="0" rIns="0">
              <a:spAutoFit/>
            </a:bodyPr>
            <a:lstStyle/>
            <a:p>
              <a:pPr algn="l">
                <a:lnSpc>
                  <a:spcPts val="2702"/>
                </a:lnSpc>
              </a:pPr>
              <a:r>
                <a:rPr lang="en-US" b="true" sz="2252">
                  <a:solidFill>
                    <a:srgbClr val="FFFFFF"/>
                  </a:solidFill>
                  <a:latin typeface="Raleway 1 Bold"/>
                  <a:ea typeface="Raleway 1 Bold"/>
                  <a:cs typeface="Raleway 1 Bold"/>
                  <a:sym typeface="Raleway 1 Bold"/>
                </a:rPr>
                <a:t>OCTUBRE</a:t>
              </a:r>
            </a:p>
          </p:txBody>
        </p:sp>
        <p:sp>
          <p:nvSpPr>
            <p:cNvPr name="TextBox 8" id="8"/>
            <p:cNvSpPr txBox="true"/>
            <p:nvPr/>
          </p:nvSpPr>
          <p:spPr>
            <a:xfrm rot="0">
              <a:off x="1468453" y="585710"/>
              <a:ext cx="4066356" cy="565140"/>
            </a:xfrm>
            <a:prstGeom prst="rect">
              <a:avLst/>
            </a:prstGeom>
          </p:spPr>
          <p:txBody>
            <a:bodyPr anchor="t" rtlCol="false" tIns="0" lIns="0" bIns="0" rIns="0">
              <a:spAutoFit/>
            </a:bodyPr>
            <a:lstStyle/>
            <a:p>
              <a:pPr algn="l">
                <a:lnSpc>
                  <a:spcPts val="1130"/>
                </a:lnSpc>
              </a:pPr>
              <a:r>
                <a:rPr lang="en-US" sz="1097" b="true">
                  <a:solidFill>
                    <a:srgbClr val="FFFFFF"/>
                  </a:solidFill>
                  <a:latin typeface="Raleway 1 Bold"/>
                  <a:ea typeface="Raleway 1 Bold"/>
                  <a:cs typeface="Raleway 1 Bold"/>
                  <a:sym typeface="Raleway 1 Bold"/>
                </a:rPr>
                <a:t>Mes de </a:t>
              </a:r>
            </a:p>
            <a:p>
              <a:pPr algn="l">
                <a:lnSpc>
                  <a:spcPts val="2059"/>
                </a:lnSpc>
              </a:pPr>
              <a:r>
                <a:rPr lang="en-US" b="true" sz="1999">
                  <a:solidFill>
                    <a:srgbClr val="FFFFFF"/>
                  </a:solidFill>
                  <a:latin typeface="Raleway 1 Bold"/>
                  <a:ea typeface="Raleway 1 Bold"/>
                  <a:cs typeface="Raleway 1 Bold"/>
                  <a:sym typeface="Raleway 1 Bold"/>
                </a:rPr>
                <a:t>HAN SOLO</a:t>
              </a:r>
            </a:p>
          </p:txBody>
        </p:sp>
      </p:grpSp>
      <p:sp>
        <p:nvSpPr>
          <p:cNvPr name="TextBox 9" id="9"/>
          <p:cNvSpPr txBox="true"/>
          <p:nvPr/>
        </p:nvSpPr>
        <p:spPr>
          <a:xfrm rot="0">
            <a:off x="1258571" y="221658"/>
            <a:ext cx="15091730" cy="563680"/>
          </a:xfrm>
          <a:prstGeom prst="rect">
            <a:avLst/>
          </a:prstGeom>
        </p:spPr>
        <p:txBody>
          <a:bodyPr anchor="t" rtlCol="false" tIns="0" lIns="0" bIns="0" rIns="0">
            <a:spAutoFit/>
          </a:bodyPr>
          <a:lstStyle/>
          <a:p>
            <a:pPr algn="l">
              <a:lnSpc>
                <a:spcPts val="1760"/>
              </a:lnSpc>
            </a:pPr>
            <a:r>
              <a:rPr lang="en-US" sz="2000">
                <a:solidFill>
                  <a:srgbClr val="316CE3"/>
                </a:solidFill>
                <a:latin typeface="Gotham"/>
                <a:ea typeface="Gotham"/>
                <a:cs typeface="Gotham"/>
                <a:sym typeface="Gotham"/>
              </a:rPr>
              <a:t>HOY:</a:t>
            </a:r>
          </a:p>
          <a:p>
            <a:pPr algn="l">
              <a:lnSpc>
                <a:spcPts val="2528"/>
              </a:lnSpc>
            </a:pPr>
            <a:r>
              <a:rPr lang="en-US" sz="2873" b="true">
                <a:solidFill>
                  <a:srgbClr val="316CE3"/>
                </a:solidFill>
                <a:latin typeface="Gotham Bold"/>
                <a:ea typeface="Gotham Bold"/>
                <a:cs typeface="Gotham Bold"/>
                <a:sym typeface="Gotham Bold"/>
              </a:rPr>
              <a:t>Episodio II — El Ataque de los Graviton: Infraestructura y rendimiento</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232E3E"/>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txBody>
          <a:bodyPr/>
          <a:p/>
        </p:txBody>
      </p:sp>
      <p:sp>
        <p:nvSpPr>
          <p:cNvPr name="TextBox 3" id="3"/>
          <p:cNvSpPr txBox="true"/>
          <p:nvPr/>
        </p:nvSpPr>
        <p:spPr>
          <a:xfrm rot="0">
            <a:off x="3520440" y="868680"/>
            <a:ext cx="12070080" cy="1874519"/>
          </a:xfrm>
          <a:prstGeom prst="rect">
            <a:avLst/>
          </a:prstGeom>
        </p:spPr>
        <p:txBody>
          <a:bodyPr anchor="ctr" rtlCol="false" tIns="0" lIns="0" bIns="0" rIns="0" wrap="square">
            <a:spAutoFit/>
          </a:bodyPr>
          <a:lstStyle/>
          <a:p>
            <a:pPr algn="l" marL="0" indent="0" lvl="0">
              <a:lnSpc>
                <a:spcPts val="10481"/>
              </a:lnSpc>
              <a:spcBef>
                <a:spcPct val="0"/>
              </a:spcBef>
            </a:pPr>
            <a:r>
              <a:rPr lang="en-US" b="0" sz="5400">
                <a:solidFill>
                  <a:srgbClr val="FFFFFF"/>
                </a:solidFill>
                <a:latin typeface="Arial Black"/>
                <a:ea typeface="Arial Black"/>
                <a:cs typeface="Arial Black"/>
                <a:sym typeface="Arial Black"/>
              </a:rPr>
              <a:t>¿Migro o no migro?</a:t>
            </a:r>
          </a:p>
        </p:txBody>
      </p:sp>
      <p:sp>
        <p:nvSpPr>
          <p:cNvPr name="Freeform 4" id="4"/>
          <p:cNvSpPr/>
          <p:nvPr/>
        </p:nvSpPr>
        <p:spPr>
          <a:xfrm flipH="false" flipV="false" rot="0">
            <a:off x="536304" y="308054"/>
            <a:ext cx="650696" cy="409939"/>
          </a:xfrm>
          <a:custGeom>
            <a:avLst/>
            <a:gdLst/>
            <a:ahLst/>
            <a:cxnLst/>
            <a:rect r="r" b="b" t="t" l="l"/>
            <a:pathLst>
              <a:path h="409939" w="650696">
                <a:moveTo>
                  <a:pt x="0" y="0"/>
                </a:moveTo>
                <a:lnTo>
                  <a:pt x="650697" y="0"/>
                </a:lnTo>
                <a:lnTo>
                  <a:pt x="650697" y="409938"/>
                </a:lnTo>
                <a:lnTo>
                  <a:pt x="0" y="40993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219785" y="9070932"/>
            <a:ext cx="4151107" cy="986035"/>
            <a:chOff x="0" y="0"/>
            <a:chExt cx="5534810" cy="1314713"/>
          </a:xfrm>
        </p:grpSpPr>
        <p:sp>
          <p:nvSpPr>
            <p:cNvPr name="Freeform 6" id="6"/>
            <p:cNvSpPr/>
            <p:nvPr/>
          </p:nvSpPr>
          <p:spPr>
            <a:xfrm flipH="false" flipV="false" rot="0">
              <a:off x="0" y="0"/>
              <a:ext cx="1314713" cy="1314713"/>
            </a:xfrm>
            <a:custGeom>
              <a:avLst/>
              <a:gdLst/>
              <a:ahLst/>
              <a:cxnLst/>
              <a:rect r="r" b="b" t="t" l="l"/>
              <a:pathLst>
                <a:path h="1314713" w="1314713">
                  <a:moveTo>
                    <a:pt x="0" y="0"/>
                  </a:moveTo>
                  <a:lnTo>
                    <a:pt x="1314713" y="0"/>
                  </a:lnTo>
                  <a:lnTo>
                    <a:pt x="1314713" y="1314713"/>
                  </a:lnTo>
                  <a:lnTo>
                    <a:pt x="0" y="131471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7" id="7"/>
            <p:cNvSpPr txBox="true"/>
            <p:nvPr/>
          </p:nvSpPr>
          <p:spPr>
            <a:xfrm rot="0">
              <a:off x="1455753" y="151974"/>
              <a:ext cx="3148240" cy="462308"/>
            </a:xfrm>
            <a:prstGeom prst="rect">
              <a:avLst/>
            </a:prstGeom>
          </p:spPr>
          <p:txBody>
            <a:bodyPr anchor="t" rtlCol="false" tIns="0" lIns="0" bIns="0" rIns="0">
              <a:spAutoFit/>
            </a:bodyPr>
            <a:lstStyle/>
            <a:p>
              <a:pPr algn="l">
                <a:lnSpc>
                  <a:spcPts val="2702"/>
                </a:lnSpc>
              </a:pPr>
              <a:r>
                <a:rPr lang="en-US" b="true" sz="2252">
                  <a:solidFill>
                    <a:srgbClr val="FFFFFF"/>
                  </a:solidFill>
                  <a:latin typeface="Raleway 1 Bold"/>
                  <a:ea typeface="Raleway 1 Bold"/>
                  <a:cs typeface="Raleway 1 Bold"/>
                  <a:sym typeface="Raleway 1 Bold"/>
                </a:rPr>
                <a:t>OCTUBRE</a:t>
              </a:r>
            </a:p>
          </p:txBody>
        </p:sp>
        <p:sp>
          <p:nvSpPr>
            <p:cNvPr name="TextBox 8" id="8"/>
            <p:cNvSpPr txBox="true"/>
            <p:nvPr/>
          </p:nvSpPr>
          <p:spPr>
            <a:xfrm rot="0">
              <a:off x="1468453" y="585710"/>
              <a:ext cx="4066356" cy="565140"/>
            </a:xfrm>
            <a:prstGeom prst="rect">
              <a:avLst/>
            </a:prstGeom>
          </p:spPr>
          <p:txBody>
            <a:bodyPr anchor="t" rtlCol="false" tIns="0" lIns="0" bIns="0" rIns="0">
              <a:spAutoFit/>
            </a:bodyPr>
            <a:lstStyle/>
            <a:p>
              <a:pPr algn="l">
                <a:lnSpc>
                  <a:spcPts val="1130"/>
                </a:lnSpc>
              </a:pPr>
              <a:r>
                <a:rPr lang="en-US" sz="1097" b="true">
                  <a:solidFill>
                    <a:srgbClr val="FFFFFF"/>
                  </a:solidFill>
                  <a:latin typeface="Raleway 1 Bold"/>
                  <a:ea typeface="Raleway 1 Bold"/>
                  <a:cs typeface="Raleway 1 Bold"/>
                  <a:sym typeface="Raleway 1 Bold"/>
                </a:rPr>
                <a:t>Mes de </a:t>
              </a:r>
            </a:p>
            <a:p>
              <a:pPr algn="l">
                <a:lnSpc>
                  <a:spcPts val="2059"/>
                </a:lnSpc>
              </a:pPr>
              <a:r>
                <a:rPr lang="en-US" b="true" sz="1999">
                  <a:solidFill>
                    <a:srgbClr val="FFFFFF"/>
                  </a:solidFill>
                  <a:latin typeface="Raleway 1 Bold"/>
                  <a:ea typeface="Raleway 1 Bold"/>
                  <a:cs typeface="Raleway 1 Bold"/>
                  <a:sym typeface="Raleway 1 Bold"/>
                </a:rPr>
                <a:t>HAN SOLO</a:t>
              </a:r>
            </a:p>
          </p:txBody>
        </p:sp>
      </p:grpSp>
      <p:sp>
        <p:nvSpPr>
          <p:cNvPr name="TextBox 9" id="9"/>
          <p:cNvSpPr txBox="true"/>
          <p:nvPr/>
        </p:nvSpPr>
        <p:spPr>
          <a:xfrm rot="0">
            <a:off x="1258571" y="221658"/>
            <a:ext cx="15091730" cy="563680"/>
          </a:xfrm>
          <a:prstGeom prst="rect">
            <a:avLst/>
          </a:prstGeom>
        </p:spPr>
        <p:txBody>
          <a:bodyPr anchor="t" rtlCol="false" tIns="0" lIns="0" bIns="0" rIns="0">
            <a:spAutoFit/>
          </a:bodyPr>
          <a:lstStyle/>
          <a:p>
            <a:pPr algn="l">
              <a:lnSpc>
                <a:spcPts val="1760"/>
              </a:lnSpc>
            </a:pPr>
            <a:r>
              <a:rPr lang="en-US" sz="2000">
                <a:solidFill>
                  <a:srgbClr val="316CE3"/>
                </a:solidFill>
                <a:latin typeface="Gotham"/>
                <a:ea typeface="Gotham"/>
                <a:cs typeface="Gotham"/>
                <a:sym typeface="Gotham"/>
              </a:rPr>
              <a:t>HOY:</a:t>
            </a:r>
          </a:p>
          <a:p>
            <a:pPr algn="l">
              <a:lnSpc>
                <a:spcPts val="2528"/>
              </a:lnSpc>
            </a:pPr>
            <a:r>
              <a:rPr lang="en-US" sz="2873" b="true">
                <a:solidFill>
                  <a:srgbClr val="316CE3"/>
                </a:solidFill>
                <a:latin typeface="Gotham Bold"/>
                <a:ea typeface="Gotham Bold"/>
                <a:cs typeface="Gotham Bold"/>
                <a:sym typeface="Gotham Bold"/>
              </a:rPr>
              <a:t>Episodio II — El Ataque de los Graviton: Infraestructura y rendimiento</a:t>
            </a:r>
          </a:p>
        </p:txBody>
      </p:sp>
      <p:sp>
        <p:nvSpPr>
          <p:cNvPr id="10" name="Rounded Rectangle 9"/>
          <p:cNvSpPr/>
          <p:nvPr/>
        </p:nvSpPr>
        <p:spPr>
          <a:xfrm>
            <a:off x="914400" y="3200400"/>
            <a:ext cx="4206240" cy="2377440"/>
          </a:xfrm>
          <a:prstGeom prst="roundRect">
            <a:avLst>
              <a:gd name="adj" fmla="val 8000"/>
            </a:avLst>
          </a:prstGeom>
          <a:solidFill>
            <a:srgbClr val="2F3D5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228600" bIns="228600"/>
          <a:lstStyle/>
          <a:p>
            <a:pPr algn="ctr">
              <a:spcAft>
                <a:spcPts val="800"/>
              </a:spcAft>
            </a:pPr>
            <a:r>
              <a:rPr sz="5400" b="1">
                <a:solidFill>
                  <a:srgbClr val="8FA3B8"/>
                </a:solidFill>
                <a:latin typeface="Arial"/>
              </a:rPr>
              <a:t>RA3</a:t>
            </a:r>
          </a:p>
          <a:p>
            <a:pPr>
              <a:spcAft>
                <a:spcPts val="600"/>
              </a:spcAft>
            </a:pPr>
            <a:r>
              <a:rPr sz="2400" b="0">
                <a:solidFill>
                  <a:srgbClr val="D9E2EC"/>
                </a:solidFill>
                <a:latin typeface="Arial"/>
              </a:rPr>
              <a:t>Lo que usas hoy</a:t>
            </a:r>
          </a:p>
        </p:txBody>
      </p:sp>
      <p:sp>
        <p:nvSpPr>
          <p:cNvPr id="11" name="TextBox 10"/>
          <p:cNvSpPr txBox="1"/>
          <p:nvPr/>
        </p:nvSpPr>
        <p:spPr>
          <a:xfrm>
            <a:off x="5120640" y="3657600"/>
            <a:ext cx="1280160" cy="1463040"/>
          </a:xfrm>
          <a:prstGeom prst="rect">
            <a:avLst/>
          </a:prstGeom>
          <a:noFill/>
        </p:spPr>
        <p:txBody>
          <a:bodyPr wrap="square" anchor="t" lIns="0" rIns="0" tIns="0" bIns="0">
            <a:spAutoFit/>
          </a:bodyPr>
          <a:lstStyle/>
          <a:p>
            <a:pPr algn="ctr">
              <a:spcAft>
                <a:spcPts val="1000"/>
              </a:spcAft>
            </a:pPr>
            <a:r>
              <a:rPr sz="8800" b="1">
                <a:solidFill>
                  <a:srgbClr val="F2A65A"/>
                </a:solidFill>
                <a:latin typeface="Arial"/>
              </a:rPr>
              <a:t>?</a:t>
            </a:r>
          </a:p>
        </p:txBody>
      </p:sp>
      <p:sp>
        <p:nvSpPr>
          <p:cNvPr id="12" name="Rounded Rectangle 11"/>
          <p:cNvSpPr/>
          <p:nvPr/>
        </p:nvSpPr>
        <p:spPr>
          <a:xfrm>
            <a:off x="6400800" y="3200400"/>
            <a:ext cx="4206240" cy="2377440"/>
          </a:xfrm>
          <a:prstGeom prst="roundRect">
            <a:avLst>
              <a:gd name="adj" fmla="val 8000"/>
            </a:avLst>
          </a:prstGeom>
          <a:solidFill>
            <a:srgbClr val="2F3D5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228600" bIns="228600"/>
          <a:lstStyle/>
          <a:p>
            <a:pPr algn="ctr">
              <a:spcAft>
                <a:spcPts val="800"/>
              </a:spcAft>
            </a:pPr>
            <a:r>
              <a:rPr sz="5400" b="1">
                <a:solidFill>
                  <a:srgbClr val="316CE3"/>
                </a:solidFill>
                <a:latin typeface="Arial"/>
              </a:rPr>
              <a:t>RG</a:t>
            </a:r>
          </a:p>
          <a:p>
            <a:pPr>
              <a:spcAft>
                <a:spcPts val="600"/>
              </a:spcAft>
            </a:pPr>
            <a:r>
              <a:rPr sz="2400" b="0">
                <a:solidFill>
                  <a:srgbClr val="D9E2EC"/>
                </a:solidFill>
                <a:latin typeface="Arial"/>
              </a:rPr>
              <a:t>Con Graviton, desde mayo de 2026</a:t>
            </a:r>
          </a:p>
        </p:txBody>
      </p:sp>
      <p:sp>
        <p:nvSpPr>
          <p:cNvPr id="13" name="TextBox 12"/>
          <p:cNvSpPr txBox="1"/>
          <p:nvPr/>
        </p:nvSpPr>
        <p:spPr>
          <a:xfrm>
            <a:off x="914400" y="6035040"/>
            <a:ext cx="13898880" cy="2560320"/>
          </a:xfrm>
          <a:prstGeom prst="rect">
            <a:avLst/>
          </a:prstGeom>
          <a:noFill/>
        </p:spPr>
        <p:txBody>
          <a:bodyPr wrap="square" anchor="t" lIns="0" rIns="0" tIns="0" bIns="0">
            <a:spAutoFit/>
          </a:bodyPr>
          <a:lstStyle/>
          <a:p>
            <a:pPr algn="l">
              <a:spcAft>
                <a:spcPts val="1600"/>
              </a:spcAft>
            </a:pPr>
            <a:r>
              <a:rPr sz="2600" b="0">
                <a:solidFill>
                  <a:srgbClr val="D9E2EC"/>
                </a:solidFill>
                <a:latin typeface="Arial"/>
              </a:rPr>
              <a:t>Si tienes un Redshift con nodos RA3, o eres quien paga la factura, seguramente ya te hiciste esta pregunta.</a:t>
            </a:r>
          </a:p>
          <a:p>
            <a:pPr algn="l">
              <a:spcAft>
                <a:spcPts val="1600"/>
              </a:spcAft>
            </a:pPr>
            <a:r>
              <a:rPr sz="2600" b="0">
                <a:solidFill>
                  <a:srgbClr val="D9E2EC"/>
                </a:solidFill>
                <a:latin typeface="Arial"/>
              </a:rPr>
              <a:t>Hoy revisamos lo que anunció AWS con pruebas propias: </a:t>
            </a:r>
            <a:r>
              <a:rPr sz="2600" b="1">
                <a:solidFill>
                  <a:srgbClr val="D9E2EC"/>
                </a:solidFill>
                <a:latin typeface="Arial"/>
              </a:rPr>
              <a:t>en qué se cumple y en qué depende de cómo usas Redshift.</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232E3E"/>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txBody>
          <a:bodyPr/>
          <a:p/>
        </p:txBody>
      </p:sp>
      <p:sp>
        <p:nvSpPr>
          <p:cNvPr name="TextBox 3" id="3"/>
          <p:cNvSpPr txBox="true"/>
          <p:nvPr/>
        </p:nvSpPr>
        <p:spPr>
          <a:xfrm rot="0">
            <a:off x="3444099" y="3763913"/>
            <a:ext cx="13438018" cy="2238374"/>
          </a:xfrm>
          <a:prstGeom prst="rect">
            <a:avLst/>
          </a:prstGeom>
        </p:spPr>
        <p:txBody>
          <a:bodyPr anchor="t" rtlCol="false" tIns="0" lIns="0" bIns="0" rIns="0">
            <a:spAutoFit/>
          </a:bodyPr>
          <a:lstStyle/>
          <a:p>
            <a:pPr algn="l">
              <a:lnSpc>
                <a:spcPts val="8399"/>
              </a:lnSpc>
            </a:pPr>
            <a:r>
              <a:rPr lang="en-US" b="0" sz="8800">
                <a:solidFill>
                  <a:srgbClr val="FFFFFF"/>
                </a:solidFill>
                <a:latin typeface="Arial Black"/>
                <a:ea typeface="Arial Black"/>
                <a:cs typeface="Arial Black"/>
                <a:sym typeface="Arial Black"/>
              </a:rPr>
              <a:t>QUÉ</a:t>
            </a:r>
          </a:p>
          <a:p>
            <a:pPr algn="l" marL="0" indent="0" lvl="0">
              <a:lnSpc>
                <a:spcPts val="8399"/>
              </a:lnSpc>
            </a:pPr>
            <a:r>
              <a:rPr lang="en-US" b="0" sz="8800">
                <a:solidFill>
                  <a:srgbClr val="FFFFFF"/>
                </a:solidFill>
                <a:latin typeface="Arial Black"/>
                <a:ea typeface="Arial Black"/>
                <a:cs typeface="Arial Black"/>
                <a:sym typeface="Arial Black"/>
              </a:rPr>
              <a:t>        CAMBIA</a:t>
            </a:r>
          </a:p>
        </p:txBody>
      </p:sp>
      <p:sp>
        <p:nvSpPr>
          <p:cNvPr name="Freeform 4" id="4"/>
          <p:cNvSpPr/>
          <p:nvPr/>
        </p:nvSpPr>
        <p:spPr>
          <a:xfrm flipH="false" flipV="false" rot="0">
            <a:off x="536304" y="308054"/>
            <a:ext cx="650696" cy="409939"/>
          </a:xfrm>
          <a:custGeom>
            <a:avLst/>
            <a:gdLst/>
            <a:ahLst/>
            <a:cxnLst/>
            <a:rect r="r" b="b" t="t" l="l"/>
            <a:pathLst>
              <a:path h="409939" w="650696">
                <a:moveTo>
                  <a:pt x="0" y="0"/>
                </a:moveTo>
                <a:lnTo>
                  <a:pt x="650697" y="0"/>
                </a:lnTo>
                <a:lnTo>
                  <a:pt x="650697" y="409938"/>
                </a:lnTo>
                <a:lnTo>
                  <a:pt x="0" y="40993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219785" y="9070932"/>
            <a:ext cx="4151107" cy="986035"/>
            <a:chOff x="0" y="0"/>
            <a:chExt cx="5534810" cy="1314713"/>
          </a:xfrm>
        </p:grpSpPr>
        <p:sp>
          <p:nvSpPr>
            <p:cNvPr name="Freeform 6" id="6"/>
            <p:cNvSpPr/>
            <p:nvPr/>
          </p:nvSpPr>
          <p:spPr>
            <a:xfrm flipH="false" flipV="false" rot="0">
              <a:off x="0" y="0"/>
              <a:ext cx="1314713" cy="1314713"/>
            </a:xfrm>
            <a:custGeom>
              <a:avLst/>
              <a:gdLst/>
              <a:ahLst/>
              <a:cxnLst/>
              <a:rect r="r" b="b" t="t" l="l"/>
              <a:pathLst>
                <a:path h="1314713" w="1314713">
                  <a:moveTo>
                    <a:pt x="0" y="0"/>
                  </a:moveTo>
                  <a:lnTo>
                    <a:pt x="1314713" y="0"/>
                  </a:lnTo>
                  <a:lnTo>
                    <a:pt x="1314713" y="1314713"/>
                  </a:lnTo>
                  <a:lnTo>
                    <a:pt x="0" y="131471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7" id="7"/>
            <p:cNvSpPr txBox="true"/>
            <p:nvPr/>
          </p:nvSpPr>
          <p:spPr>
            <a:xfrm rot="0">
              <a:off x="1455753" y="151974"/>
              <a:ext cx="3148240" cy="462308"/>
            </a:xfrm>
            <a:prstGeom prst="rect">
              <a:avLst/>
            </a:prstGeom>
          </p:spPr>
          <p:txBody>
            <a:bodyPr anchor="t" rtlCol="false" tIns="0" lIns="0" bIns="0" rIns="0">
              <a:spAutoFit/>
            </a:bodyPr>
            <a:lstStyle/>
            <a:p>
              <a:pPr algn="l">
                <a:lnSpc>
                  <a:spcPts val="2702"/>
                </a:lnSpc>
              </a:pPr>
              <a:r>
                <a:rPr lang="en-US" b="true" sz="2252">
                  <a:solidFill>
                    <a:srgbClr val="FFFFFF"/>
                  </a:solidFill>
                  <a:latin typeface="Raleway 1 Bold"/>
                  <a:ea typeface="Raleway 1 Bold"/>
                  <a:cs typeface="Raleway 1 Bold"/>
                  <a:sym typeface="Raleway 1 Bold"/>
                </a:rPr>
                <a:t>OCTUBRE</a:t>
              </a:r>
            </a:p>
          </p:txBody>
        </p:sp>
        <p:sp>
          <p:nvSpPr>
            <p:cNvPr name="TextBox 8" id="8"/>
            <p:cNvSpPr txBox="true"/>
            <p:nvPr/>
          </p:nvSpPr>
          <p:spPr>
            <a:xfrm rot="0">
              <a:off x="1468453" y="585710"/>
              <a:ext cx="4066356" cy="565140"/>
            </a:xfrm>
            <a:prstGeom prst="rect">
              <a:avLst/>
            </a:prstGeom>
          </p:spPr>
          <p:txBody>
            <a:bodyPr anchor="t" rtlCol="false" tIns="0" lIns="0" bIns="0" rIns="0">
              <a:spAutoFit/>
            </a:bodyPr>
            <a:lstStyle/>
            <a:p>
              <a:pPr algn="l">
                <a:lnSpc>
                  <a:spcPts val="1130"/>
                </a:lnSpc>
              </a:pPr>
              <a:r>
                <a:rPr lang="en-US" sz="1097" b="true">
                  <a:solidFill>
                    <a:srgbClr val="FFFFFF"/>
                  </a:solidFill>
                  <a:latin typeface="Raleway 1 Bold"/>
                  <a:ea typeface="Raleway 1 Bold"/>
                  <a:cs typeface="Raleway 1 Bold"/>
                  <a:sym typeface="Raleway 1 Bold"/>
                </a:rPr>
                <a:t>Mes de </a:t>
              </a:r>
            </a:p>
            <a:p>
              <a:pPr algn="l">
                <a:lnSpc>
                  <a:spcPts val="2059"/>
                </a:lnSpc>
              </a:pPr>
              <a:r>
                <a:rPr lang="en-US" b="true" sz="1999">
                  <a:solidFill>
                    <a:srgbClr val="FFFFFF"/>
                  </a:solidFill>
                  <a:latin typeface="Raleway 1 Bold"/>
                  <a:ea typeface="Raleway 1 Bold"/>
                  <a:cs typeface="Raleway 1 Bold"/>
                  <a:sym typeface="Raleway 1 Bold"/>
                </a:rPr>
                <a:t>HAN SOLO</a:t>
              </a:r>
            </a:p>
          </p:txBody>
        </p:sp>
      </p:grpSp>
      <p:sp>
        <p:nvSpPr>
          <p:cNvPr name="TextBox 9" id="9"/>
          <p:cNvSpPr txBox="true"/>
          <p:nvPr/>
        </p:nvSpPr>
        <p:spPr>
          <a:xfrm rot="0">
            <a:off x="1258571" y="221658"/>
            <a:ext cx="15091730" cy="563680"/>
          </a:xfrm>
          <a:prstGeom prst="rect">
            <a:avLst/>
          </a:prstGeom>
        </p:spPr>
        <p:txBody>
          <a:bodyPr anchor="t" rtlCol="false" tIns="0" lIns="0" bIns="0" rIns="0">
            <a:spAutoFit/>
          </a:bodyPr>
          <a:lstStyle/>
          <a:p>
            <a:pPr algn="l">
              <a:lnSpc>
                <a:spcPts val="1760"/>
              </a:lnSpc>
            </a:pPr>
            <a:r>
              <a:rPr lang="en-US" sz="2000">
                <a:solidFill>
                  <a:srgbClr val="316CE3"/>
                </a:solidFill>
                <a:latin typeface="Gotham"/>
                <a:ea typeface="Gotham"/>
                <a:cs typeface="Gotham"/>
                <a:sym typeface="Gotham"/>
              </a:rPr>
              <a:t>HOY:</a:t>
            </a:r>
          </a:p>
          <a:p>
            <a:pPr algn="l">
              <a:lnSpc>
                <a:spcPts val="2528"/>
              </a:lnSpc>
            </a:pPr>
            <a:r>
              <a:rPr lang="en-US" sz="2873" b="true">
                <a:solidFill>
                  <a:srgbClr val="316CE3"/>
                </a:solidFill>
                <a:latin typeface="Gotham Bold"/>
                <a:ea typeface="Gotham Bold"/>
                <a:cs typeface="Gotham Bold"/>
                <a:sym typeface="Gotham Bold"/>
              </a:rPr>
              <a:t>Episodio II — El Ataque de los Graviton: Infraestructura y rendimiento</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232E3E"/>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txBody>
          <a:bodyPr/>
          <a:p/>
        </p:txBody>
      </p:sp>
      <p:sp>
        <p:nvSpPr>
          <p:cNvPr name="TextBox 3" id="3"/>
          <p:cNvSpPr txBox="true"/>
          <p:nvPr/>
        </p:nvSpPr>
        <p:spPr>
          <a:xfrm rot="0">
            <a:off x="3520440" y="868680"/>
            <a:ext cx="12070080" cy="1874519"/>
          </a:xfrm>
          <a:prstGeom prst="rect">
            <a:avLst/>
          </a:prstGeom>
        </p:spPr>
        <p:txBody>
          <a:bodyPr anchor="ctr" rtlCol="false" tIns="0" lIns="0" bIns="0" rIns="0" wrap="square">
            <a:spAutoFit/>
          </a:bodyPr>
          <a:lstStyle/>
          <a:p>
            <a:pPr algn="l" marL="0" indent="0" lvl="0">
              <a:lnSpc>
                <a:spcPts val="10481"/>
              </a:lnSpc>
              <a:spcBef>
                <a:spcPct val="0"/>
              </a:spcBef>
            </a:pPr>
            <a:r>
              <a:rPr lang="en-US" b="0" sz="5400">
                <a:solidFill>
                  <a:srgbClr val="FFFFFF"/>
                </a:solidFill>
                <a:latin typeface="Arial Black"/>
                <a:ea typeface="Arial Black"/>
                <a:cs typeface="Arial Black"/>
                <a:sym typeface="Arial Black"/>
              </a:rPr>
              <a:t>Qué trae RG</a:t>
            </a:r>
          </a:p>
        </p:txBody>
      </p:sp>
      <p:sp>
        <p:nvSpPr>
          <p:cNvPr name="Freeform 4" id="4"/>
          <p:cNvSpPr/>
          <p:nvPr/>
        </p:nvSpPr>
        <p:spPr>
          <a:xfrm flipH="false" flipV="false" rot="0">
            <a:off x="536304" y="308054"/>
            <a:ext cx="650696" cy="409939"/>
          </a:xfrm>
          <a:custGeom>
            <a:avLst/>
            <a:gdLst/>
            <a:ahLst/>
            <a:cxnLst/>
            <a:rect r="r" b="b" t="t" l="l"/>
            <a:pathLst>
              <a:path h="409939" w="650696">
                <a:moveTo>
                  <a:pt x="0" y="0"/>
                </a:moveTo>
                <a:lnTo>
                  <a:pt x="650697" y="0"/>
                </a:lnTo>
                <a:lnTo>
                  <a:pt x="650697" y="409938"/>
                </a:lnTo>
                <a:lnTo>
                  <a:pt x="0" y="40993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219785" y="9070932"/>
            <a:ext cx="4151107" cy="986035"/>
            <a:chOff x="0" y="0"/>
            <a:chExt cx="5534810" cy="1314713"/>
          </a:xfrm>
        </p:grpSpPr>
        <p:sp>
          <p:nvSpPr>
            <p:cNvPr name="Freeform 6" id="6"/>
            <p:cNvSpPr/>
            <p:nvPr/>
          </p:nvSpPr>
          <p:spPr>
            <a:xfrm flipH="false" flipV="false" rot="0">
              <a:off x="0" y="0"/>
              <a:ext cx="1314713" cy="1314713"/>
            </a:xfrm>
            <a:custGeom>
              <a:avLst/>
              <a:gdLst/>
              <a:ahLst/>
              <a:cxnLst/>
              <a:rect r="r" b="b" t="t" l="l"/>
              <a:pathLst>
                <a:path h="1314713" w="1314713">
                  <a:moveTo>
                    <a:pt x="0" y="0"/>
                  </a:moveTo>
                  <a:lnTo>
                    <a:pt x="1314713" y="0"/>
                  </a:lnTo>
                  <a:lnTo>
                    <a:pt x="1314713" y="1314713"/>
                  </a:lnTo>
                  <a:lnTo>
                    <a:pt x="0" y="131471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7" id="7"/>
            <p:cNvSpPr txBox="true"/>
            <p:nvPr/>
          </p:nvSpPr>
          <p:spPr>
            <a:xfrm rot="0">
              <a:off x="1455753" y="151974"/>
              <a:ext cx="3148240" cy="462308"/>
            </a:xfrm>
            <a:prstGeom prst="rect">
              <a:avLst/>
            </a:prstGeom>
          </p:spPr>
          <p:txBody>
            <a:bodyPr anchor="t" rtlCol="false" tIns="0" lIns="0" bIns="0" rIns="0">
              <a:spAutoFit/>
            </a:bodyPr>
            <a:lstStyle/>
            <a:p>
              <a:pPr algn="l">
                <a:lnSpc>
                  <a:spcPts val="2702"/>
                </a:lnSpc>
              </a:pPr>
              <a:r>
                <a:rPr lang="en-US" b="true" sz="2252">
                  <a:solidFill>
                    <a:srgbClr val="FFFFFF"/>
                  </a:solidFill>
                  <a:latin typeface="Raleway 1 Bold"/>
                  <a:ea typeface="Raleway 1 Bold"/>
                  <a:cs typeface="Raleway 1 Bold"/>
                  <a:sym typeface="Raleway 1 Bold"/>
                </a:rPr>
                <a:t>OCTUBRE</a:t>
              </a:r>
            </a:p>
          </p:txBody>
        </p:sp>
        <p:sp>
          <p:nvSpPr>
            <p:cNvPr name="TextBox 8" id="8"/>
            <p:cNvSpPr txBox="true"/>
            <p:nvPr/>
          </p:nvSpPr>
          <p:spPr>
            <a:xfrm rot="0">
              <a:off x="1468453" y="585710"/>
              <a:ext cx="4066356" cy="565140"/>
            </a:xfrm>
            <a:prstGeom prst="rect">
              <a:avLst/>
            </a:prstGeom>
          </p:spPr>
          <p:txBody>
            <a:bodyPr anchor="t" rtlCol="false" tIns="0" lIns="0" bIns="0" rIns="0">
              <a:spAutoFit/>
            </a:bodyPr>
            <a:lstStyle/>
            <a:p>
              <a:pPr algn="l">
                <a:lnSpc>
                  <a:spcPts val="1130"/>
                </a:lnSpc>
              </a:pPr>
              <a:r>
                <a:rPr lang="en-US" sz="1097" b="true">
                  <a:solidFill>
                    <a:srgbClr val="FFFFFF"/>
                  </a:solidFill>
                  <a:latin typeface="Raleway 1 Bold"/>
                  <a:ea typeface="Raleway 1 Bold"/>
                  <a:cs typeface="Raleway 1 Bold"/>
                  <a:sym typeface="Raleway 1 Bold"/>
                </a:rPr>
                <a:t>Mes de </a:t>
              </a:r>
            </a:p>
            <a:p>
              <a:pPr algn="l">
                <a:lnSpc>
                  <a:spcPts val="2059"/>
                </a:lnSpc>
              </a:pPr>
              <a:r>
                <a:rPr lang="en-US" b="true" sz="1999">
                  <a:solidFill>
                    <a:srgbClr val="FFFFFF"/>
                  </a:solidFill>
                  <a:latin typeface="Raleway 1 Bold"/>
                  <a:ea typeface="Raleway 1 Bold"/>
                  <a:cs typeface="Raleway 1 Bold"/>
                  <a:sym typeface="Raleway 1 Bold"/>
                </a:rPr>
                <a:t>HAN SOLO</a:t>
              </a:r>
            </a:p>
          </p:txBody>
        </p:sp>
      </p:grpSp>
      <p:sp>
        <p:nvSpPr>
          <p:cNvPr name="TextBox 9" id="9"/>
          <p:cNvSpPr txBox="true"/>
          <p:nvPr/>
        </p:nvSpPr>
        <p:spPr>
          <a:xfrm rot="0">
            <a:off x="1258571" y="221658"/>
            <a:ext cx="15091730" cy="563680"/>
          </a:xfrm>
          <a:prstGeom prst="rect">
            <a:avLst/>
          </a:prstGeom>
        </p:spPr>
        <p:txBody>
          <a:bodyPr anchor="t" rtlCol="false" tIns="0" lIns="0" bIns="0" rIns="0">
            <a:spAutoFit/>
          </a:bodyPr>
          <a:lstStyle/>
          <a:p>
            <a:pPr algn="l">
              <a:lnSpc>
                <a:spcPts val="1760"/>
              </a:lnSpc>
            </a:pPr>
            <a:r>
              <a:rPr lang="en-US" sz="2000">
                <a:solidFill>
                  <a:srgbClr val="316CE3"/>
                </a:solidFill>
                <a:latin typeface="Gotham"/>
                <a:ea typeface="Gotham"/>
                <a:cs typeface="Gotham"/>
                <a:sym typeface="Gotham"/>
              </a:rPr>
              <a:t>HOY:</a:t>
            </a:r>
          </a:p>
          <a:p>
            <a:pPr algn="l">
              <a:lnSpc>
                <a:spcPts val="2528"/>
              </a:lnSpc>
            </a:pPr>
            <a:r>
              <a:rPr lang="en-US" sz="2873" b="true">
                <a:solidFill>
                  <a:srgbClr val="316CE3"/>
                </a:solidFill>
                <a:latin typeface="Gotham Bold"/>
                <a:ea typeface="Gotham Bold"/>
                <a:cs typeface="Gotham Bold"/>
                <a:sym typeface="Gotham Bold"/>
              </a:rPr>
              <a:t>Episodio II — El Ataque de los Graviton: Infraestructura y rendimiento</a:t>
            </a:r>
          </a:p>
        </p:txBody>
      </p:sp>
      <p:sp>
        <p:nvSpPr>
          <p:cNvPr id="10" name="Rounded Rectangle 9"/>
          <p:cNvSpPr/>
          <p:nvPr/>
        </p:nvSpPr>
        <p:spPr>
          <a:xfrm>
            <a:off x="914400" y="3200400"/>
            <a:ext cx="6903720" cy="2423160"/>
          </a:xfrm>
          <a:prstGeom prst="roundRect">
            <a:avLst>
              <a:gd name="adj" fmla="val 8000"/>
            </a:avLst>
          </a:prstGeom>
          <a:solidFill>
            <a:srgbClr val="2F3D5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228600" bIns="228600"/>
          <a:lstStyle/>
          <a:p>
            <a:pPr algn="ctr">
              <a:spcAft>
                <a:spcPts val="800"/>
              </a:spcAft>
            </a:pPr>
            <a:r>
              <a:rPr sz="2600" b="1">
                <a:solidFill>
                  <a:srgbClr val="316CE3"/>
                </a:solidFill>
                <a:latin typeface="Arial"/>
              </a:rPr>
              <a:t>Procesadores Graviton</a:t>
            </a:r>
          </a:p>
          <a:p>
            <a:pPr>
              <a:spcAft>
                <a:spcPts val="600"/>
              </a:spcAft>
            </a:pPr>
            <a:r>
              <a:rPr sz="2200" b="0">
                <a:solidFill>
                  <a:srgbClr val="D9E2EC"/>
                </a:solidFill>
                <a:latin typeface="Arial"/>
              </a:rPr>
              <a:t>Los chips Arm diseñados por AWS</a:t>
            </a:r>
          </a:p>
        </p:txBody>
      </p:sp>
      <p:sp>
        <p:nvSpPr>
          <p:cNvPr id="11" name="Rounded Rectangle 10"/>
          <p:cNvSpPr/>
          <p:nvPr/>
        </p:nvSpPr>
        <p:spPr>
          <a:xfrm>
            <a:off x="8092440" y="3200400"/>
            <a:ext cx="6903720" cy="2423160"/>
          </a:xfrm>
          <a:prstGeom prst="roundRect">
            <a:avLst>
              <a:gd name="adj" fmla="val 8000"/>
            </a:avLst>
          </a:prstGeom>
          <a:solidFill>
            <a:srgbClr val="2F3D5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228600" bIns="228600"/>
          <a:lstStyle/>
          <a:p>
            <a:pPr algn="ctr">
              <a:spcAft>
                <a:spcPts val="800"/>
              </a:spcAft>
            </a:pPr>
            <a:r>
              <a:rPr sz="2600" b="1">
                <a:solidFill>
                  <a:srgbClr val="316CE3"/>
                </a:solidFill>
                <a:latin typeface="Arial"/>
              </a:rPr>
              <a:t>El data lake sin Spectrum</a:t>
            </a:r>
          </a:p>
          <a:p>
            <a:pPr>
              <a:spcAft>
                <a:spcPts val="600"/>
              </a:spcAft>
            </a:pPr>
            <a:r>
              <a:rPr sz="2200" b="0">
                <a:solidFill>
                  <a:srgbClr val="D9E2EC"/>
                </a:solidFill>
                <a:latin typeface="Arial"/>
              </a:rPr>
              <a:t>RG consulta los datos en S3 con sus propios nodos; RA3 depende de Spectrum, un servicio aparte</a:t>
            </a:r>
          </a:p>
        </p:txBody>
      </p:sp>
      <p:sp>
        <p:nvSpPr>
          <p:cNvPr id="12" name="Rounded Rectangle 11"/>
          <p:cNvSpPr/>
          <p:nvPr/>
        </p:nvSpPr>
        <p:spPr>
          <a:xfrm>
            <a:off x="914400" y="5897880"/>
            <a:ext cx="6903720" cy="2423160"/>
          </a:xfrm>
          <a:prstGeom prst="roundRect">
            <a:avLst>
              <a:gd name="adj" fmla="val 8000"/>
            </a:avLst>
          </a:prstGeom>
          <a:solidFill>
            <a:srgbClr val="2F3D5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228600" bIns="228600"/>
          <a:lstStyle/>
          <a:p>
            <a:pPr algn="ctr">
              <a:spcAft>
                <a:spcPts val="800"/>
              </a:spcAft>
            </a:pPr>
            <a:r>
              <a:rPr sz="2600" b="1">
                <a:solidFill>
                  <a:srgbClr val="316CE3"/>
                </a:solidFill>
                <a:latin typeface="Arial"/>
              </a:rPr>
              <a:t>Sin cobro por TB leído</a:t>
            </a:r>
          </a:p>
          <a:p>
            <a:pPr>
              <a:spcAft>
                <a:spcPts val="600"/>
              </a:spcAft>
            </a:pPr>
            <a:r>
              <a:rPr sz="2200" b="0">
                <a:solidFill>
                  <a:srgbClr val="D9E2EC"/>
                </a:solidFill>
                <a:latin typeface="Arial"/>
              </a:rPr>
              <a:t>En RA3, Spectrum cobra USD 5 por cada TB que lee; en RG ese cobro no existe</a:t>
            </a:r>
          </a:p>
        </p:txBody>
      </p:sp>
      <p:sp>
        <p:nvSpPr>
          <p:cNvPr id="13" name="Rounded Rectangle 12"/>
          <p:cNvSpPr/>
          <p:nvPr/>
        </p:nvSpPr>
        <p:spPr>
          <a:xfrm>
            <a:off x="8092440" y="5897880"/>
            <a:ext cx="6903720" cy="2423160"/>
          </a:xfrm>
          <a:prstGeom prst="roundRect">
            <a:avLst>
              <a:gd name="adj" fmla="val 8000"/>
            </a:avLst>
          </a:prstGeom>
          <a:solidFill>
            <a:srgbClr val="2F3D5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228600" bIns="228600"/>
          <a:lstStyle/>
          <a:p>
            <a:pPr algn="ctr">
              <a:spcAft>
                <a:spcPts val="800"/>
              </a:spcAft>
            </a:pPr>
            <a:r>
              <a:rPr sz="2600" b="1">
                <a:solidFill>
                  <a:srgbClr val="8FA3B8"/>
                </a:solidFill>
                <a:latin typeface="Arial"/>
              </a:rPr>
              <a:t>Lo que se mantiene</a:t>
            </a:r>
          </a:p>
          <a:p>
            <a:pPr>
              <a:spcAft>
                <a:spcPts val="600"/>
              </a:spcAft>
            </a:pPr>
            <a:r>
              <a:rPr sz="2200" b="0">
                <a:solidFill>
                  <a:srgbClr val="D9E2EC"/>
                </a:solidFill>
                <a:latin typeface="Arial"/>
              </a:rPr>
              <a:t>El mismo Redshift de siempre y el mismo almacenamiento administrado (USD 0,024 por GB al mes)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232E3E"/>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txBody>
          <a:bodyPr/>
          <a:p/>
        </p:txBody>
      </p:sp>
      <p:sp>
        <p:nvSpPr>
          <p:cNvPr name="TextBox 3" id="3"/>
          <p:cNvSpPr txBox="true"/>
          <p:nvPr/>
        </p:nvSpPr>
        <p:spPr>
          <a:xfrm rot="0">
            <a:off x="3520440" y="868680"/>
            <a:ext cx="12070080" cy="1874519"/>
          </a:xfrm>
          <a:prstGeom prst="rect">
            <a:avLst/>
          </a:prstGeom>
        </p:spPr>
        <p:txBody>
          <a:bodyPr anchor="ctr" rtlCol="false" tIns="0" lIns="0" bIns="0" rIns="0" wrap="square">
            <a:spAutoFit/>
          </a:bodyPr>
          <a:lstStyle/>
          <a:p>
            <a:pPr algn="l" marL="0" indent="0" lvl="0">
              <a:lnSpc>
                <a:spcPts val="10481"/>
              </a:lnSpc>
              <a:spcBef>
                <a:spcPct val="0"/>
              </a:spcBef>
            </a:pPr>
            <a:r>
              <a:rPr lang="en-US" b="0" sz="3800">
                <a:solidFill>
                  <a:srgbClr val="FFFFFF"/>
                </a:solidFill>
                <a:latin typeface="Arial Black"/>
                <a:ea typeface="Arial Black"/>
                <a:cs typeface="Arial Black"/>
                <a:sym typeface="Arial Black"/>
              </a:rPr>
              <a:t>Cuatro tamaños y 30 % menos por vCPU</a:t>
            </a:r>
          </a:p>
        </p:txBody>
      </p:sp>
      <p:sp>
        <p:nvSpPr>
          <p:cNvPr name="Freeform 4" id="4"/>
          <p:cNvSpPr/>
          <p:nvPr/>
        </p:nvSpPr>
        <p:spPr>
          <a:xfrm flipH="false" flipV="false" rot="0">
            <a:off x="536304" y="308054"/>
            <a:ext cx="650696" cy="409939"/>
          </a:xfrm>
          <a:custGeom>
            <a:avLst/>
            <a:gdLst/>
            <a:ahLst/>
            <a:cxnLst/>
            <a:rect r="r" b="b" t="t" l="l"/>
            <a:pathLst>
              <a:path h="409939" w="650696">
                <a:moveTo>
                  <a:pt x="0" y="0"/>
                </a:moveTo>
                <a:lnTo>
                  <a:pt x="650697" y="0"/>
                </a:lnTo>
                <a:lnTo>
                  <a:pt x="650697" y="409938"/>
                </a:lnTo>
                <a:lnTo>
                  <a:pt x="0" y="40993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219785" y="9070932"/>
            <a:ext cx="4151107" cy="986035"/>
            <a:chOff x="0" y="0"/>
            <a:chExt cx="5534810" cy="1314713"/>
          </a:xfrm>
        </p:grpSpPr>
        <p:sp>
          <p:nvSpPr>
            <p:cNvPr name="Freeform 6" id="6"/>
            <p:cNvSpPr/>
            <p:nvPr/>
          </p:nvSpPr>
          <p:spPr>
            <a:xfrm flipH="false" flipV="false" rot="0">
              <a:off x="0" y="0"/>
              <a:ext cx="1314713" cy="1314713"/>
            </a:xfrm>
            <a:custGeom>
              <a:avLst/>
              <a:gdLst/>
              <a:ahLst/>
              <a:cxnLst/>
              <a:rect r="r" b="b" t="t" l="l"/>
              <a:pathLst>
                <a:path h="1314713" w="1314713">
                  <a:moveTo>
                    <a:pt x="0" y="0"/>
                  </a:moveTo>
                  <a:lnTo>
                    <a:pt x="1314713" y="0"/>
                  </a:lnTo>
                  <a:lnTo>
                    <a:pt x="1314713" y="1314713"/>
                  </a:lnTo>
                  <a:lnTo>
                    <a:pt x="0" y="131471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7" id="7"/>
            <p:cNvSpPr txBox="true"/>
            <p:nvPr/>
          </p:nvSpPr>
          <p:spPr>
            <a:xfrm rot="0">
              <a:off x="1455753" y="151974"/>
              <a:ext cx="3148240" cy="462308"/>
            </a:xfrm>
            <a:prstGeom prst="rect">
              <a:avLst/>
            </a:prstGeom>
          </p:spPr>
          <p:txBody>
            <a:bodyPr anchor="t" rtlCol="false" tIns="0" lIns="0" bIns="0" rIns="0">
              <a:spAutoFit/>
            </a:bodyPr>
            <a:lstStyle/>
            <a:p>
              <a:pPr algn="l">
                <a:lnSpc>
                  <a:spcPts val="2702"/>
                </a:lnSpc>
              </a:pPr>
              <a:r>
                <a:rPr lang="en-US" b="true" sz="2252">
                  <a:solidFill>
                    <a:srgbClr val="FFFFFF"/>
                  </a:solidFill>
                  <a:latin typeface="Raleway 1 Bold"/>
                  <a:ea typeface="Raleway 1 Bold"/>
                  <a:cs typeface="Raleway 1 Bold"/>
                  <a:sym typeface="Raleway 1 Bold"/>
                </a:rPr>
                <a:t>OCTUBRE</a:t>
              </a:r>
            </a:p>
          </p:txBody>
        </p:sp>
        <p:sp>
          <p:nvSpPr>
            <p:cNvPr name="TextBox 8" id="8"/>
            <p:cNvSpPr txBox="true"/>
            <p:nvPr/>
          </p:nvSpPr>
          <p:spPr>
            <a:xfrm rot="0">
              <a:off x="1468453" y="585710"/>
              <a:ext cx="4066356" cy="565140"/>
            </a:xfrm>
            <a:prstGeom prst="rect">
              <a:avLst/>
            </a:prstGeom>
          </p:spPr>
          <p:txBody>
            <a:bodyPr anchor="t" rtlCol="false" tIns="0" lIns="0" bIns="0" rIns="0">
              <a:spAutoFit/>
            </a:bodyPr>
            <a:lstStyle/>
            <a:p>
              <a:pPr algn="l">
                <a:lnSpc>
                  <a:spcPts val="1130"/>
                </a:lnSpc>
              </a:pPr>
              <a:r>
                <a:rPr lang="en-US" sz="1097" b="true">
                  <a:solidFill>
                    <a:srgbClr val="FFFFFF"/>
                  </a:solidFill>
                  <a:latin typeface="Raleway 1 Bold"/>
                  <a:ea typeface="Raleway 1 Bold"/>
                  <a:cs typeface="Raleway 1 Bold"/>
                  <a:sym typeface="Raleway 1 Bold"/>
                </a:rPr>
                <a:t>Mes de </a:t>
              </a:r>
            </a:p>
            <a:p>
              <a:pPr algn="l">
                <a:lnSpc>
                  <a:spcPts val="2059"/>
                </a:lnSpc>
              </a:pPr>
              <a:r>
                <a:rPr lang="en-US" b="true" sz="1999">
                  <a:solidFill>
                    <a:srgbClr val="FFFFFF"/>
                  </a:solidFill>
                  <a:latin typeface="Raleway 1 Bold"/>
                  <a:ea typeface="Raleway 1 Bold"/>
                  <a:cs typeface="Raleway 1 Bold"/>
                  <a:sym typeface="Raleway 1 Bold"/>
                </a:rPr>
                <a:t>HAN SOLO</a:t>
              </a:r>
            </a:p>
          </p:txBody>
        </p:sp>
      </p:grpSp>
      <p:sp>
        <p:nvSpPr>
          <p:cNvPr name="TextBox 9" id="9"/>
          <p:cNvSpPr txBox="true"/>
          <p:nvPr/>
        </p:nvSpPr>
        <p:spPr>
          <a:xfrm rot="0">
            <a:off x="1258571" y="221658"/>
            <a:ext cx="15091730" cy="563680"/>
          </a:xfrm>
          <a:prstGeom prst="rect">
            <a:avLst/>
          </a:prstGeom>
        </p:spPr>
        <p:txBody>
          <a:bodyPr anchor="t" rtlCol="false" tIns="0" lIns="0" bIns="0" rIns="0">
            <a:spAutoFit/>
          </a:bodyPr>
          <a:lstStyle/>
          <a:p>
            <a:pPr algn="l">
              <a:lnSpc>
                <a:spcPts val="1760"/>
              </a:lnSpc>
            </a:pPr>
            <a:r>
              <a:rPr lang="en-US" sz="2000">
                <a:solidFill>
                  <a:srgbClr val="316CE3"/>
                </a:solidFill>
                <a:latin typeface="Gotham"/>
                <a:ea typeface="Gotham"/>
                <a:cs typeface="Gotham"/>
                <a:sym typeface="Gotham"/>
              </a:rPr>
              <a:t>HOY:</a:t>
            </a:r>
          </a:p>
          <a:p>
            <a:pPr algn="l">
              <a:lnSpc>
                <a:spcPts val="2528"/>
              </a:lnSpc>
            </a:pPr>
            <a:r>
              <a:rPr lang="en-US" sz="2873" b="true">
                <a:solidFill>
                  <a:srgbClr val="316CE3"/>
                </a:solidFill>
                <a:latin typeface="Gotham Bold"/>
                <a:ea typeface="Gotham Bold"/>
                <a:cs typeface="Gotham Bold"/>
                <a:sym typeface="Gotham Bold"/>
              </a:rPr>
              <a:t>Episodio II — El Ataque de los Graviton: Infraestructura y rendimiento</a:t>
            </a:r>
          </a:p>
        </p:txBody>
      </p:sp>
      <p:graphicFrame>
        <p:nvGraphicFramePr>
          <p:cNvPr id="10" name="Table 9"/>
          <p:cNvGraphicFramePr>
            <a:graphicFrameLocks noGrp="1"/>
          </p:cNvGraphicFramePr>
          <p:nvPr/>
        </p:nvGraphicFramePr>
        <p:xfrm>
          <a:off x="914400" y="3200400"/>
          <a:ext cx="13898880" cy="3291840"/>
        </p:xfrm>
        <a:graphic>
          <a:graphicData uri="http://schemas.openxmlformats.org/drawingml/2006/table">
            <a:tbl>
              <a:tblPr firstRow="1" bandRow="1">
                <a:tableStyleId>{5C22544A-7EE6-4342-B048-85BDC9FD1C3A}</a:tableStyleId>
              </a:tblPr>
              <a:tblGrid>
                <a:gridCol w="2194560"/>
                <a:gridCol w="1005840"/>
                <a:gridCol w="1600200"/>
                <a:gridCol w="822960"/>
                <a:gridCol w="2286000"/>
                <a:gridCol w="1005840"/>
                <a:gridCol w="1600200"/>
                <a:gridCol w="3383280"/>
              </a:tblGrid>
              <a:tr h="658368">
                <a:tc>
                  <a:txBody>
                    <a:bodyPr/>
                    <a:lstStyle/>
                    <a:p>
                      <a:r>
                        <a:rPr sz="2100" b="1">
                          <a:solidFill>
                            <a:srgbClr val="FFFFFF"/>
                          </a:solidFill>
                          <a:latin typeface="Arial"/>
                        </a:rPr>
                        <a:t>RA3</a:t>
                      </a:r>
                    </a:p>
                  </a:txBody>
                  <a:tcPr anchor="ctr" marL="109728" marR="109728">
                    <a:solidFill>
                      <a:srgbClr val="316CE3"/>
                    </a:solidFill>
                  </a:tcPr>
                </a:tc>
                <a:tc>
                  <a:txBody>
                    <a:bodyPr/>
                    <a:lstStyle/>
                    <a:p>
                      <a:r>
                        <a:rPr sz="2100" b="1">
                          <a:solidFill>
                            <a:srgbClr val="FFFFFF"/>
                          </a:solidFill>
                          <a:latin typeface="Arial"/>
                        </a:rPr>
                        <a:t>vCPU</a:t>
                      </a:r>
                    </a:p>
                  </a:txBody>
                  <a:tcPr anchor="ctr" marL="109728" marR="109728">
                    <a:solidFill>
                      <a:srgbClr val="316CE3"/>
                    </a:solidFill>
                  </a:tcPr>
                </a:tc>
                <a:tc>
                  <a:txBody>
                    <a:bodyPr/>
                    <a:lstStyle/>
                    <a:p>
                      <a:r>
                        <a:rPr sz="2100" b="1">
                          <a:solidFill>
                            <a:srgbClr val="FFFFFF"/>
                          </a:solidFill>
                          <a:latin typeface="Arial"/>
                        </a:rPr>
                        <a:t>USD/hora</a:t>
                      </a:r>
                    </a:p>
                  </a:txBody>
                  <a:tcPr anchor="ctr" marL="109728" marR="109728">
                    <a:solidFill>
                      <a:srgbClr val="316CE3"/>
                    </a:solidFill>
                  </a:tcPr>
                </a:tc>
                <a:tc>
                  <a:txBody>
                    <a:bodyPr/>
                    <a:lstStyle/>
                    <a:p/>
                  </a:txBody>
                  <a:tcPr anchor="ctr" marL="109728" marR="109728">
                    <a:solidFill>
                      <a:srgbClr val="316CE3"/>
                    </a:solidFill>
                  </a:tcPr>
                </a:tc>
                <a:tc>
                  <a:txBody>
                    <a:bodyPr/>
                    <a:lstStyle/>
                    <a:p>
                      <a:r>
                        <a:rPr sz="2100" b="1">
                          <a:solidFill>
                            <a:srgbClr val="FFFFFF"/>
                          </a:solidFill>
                          <a:latin typeface="Arial"/>
                        </a:rPr>
                        <a:t>RG</a:t>
                      </a:r>
                    </a:p>
                  </a:txBody>
                  <a:tcPr anchor="ctr" marL="109728" marR="109728">
                    <a:solidFill>
                      <a:srgbClr val="316CE3"/>
                    </a:solidFill>
                  </a:tcPr>
                </a:tc>
                <a:tc>
                  <a:txBody>
                    <a:bodyPr/>
                    <a:lstStyle/>
                    <a:p>
                      <a:r>
                        <a:rPr sz="2100" b="1">
                          <a:solidFill>
                            <a:srgbClr val="FFFFFF"/>
                          </a:solidFill>
                          <a:latin typeface="Arial"/>
                        </a:rPr>
                        <a:t>vCPU</a:t>
                      </a:r>
                    </a:p>
                  </a:txBody>
                  <a:tcPr anchor="ctr" marL="109728" marR="109728">
                    <a:solidFill>
                      <a:srgbClr val="316CE3"/>
                    </a:solidFill>
                  </a:tcPr>
                </a:tc>
                <a:tc>
                  <a:txBody>
                    <a:bodyPr/>
                    <a:lstStyle/>
                    <a:p>
                      <a:r>
                        <a:rPr sz="2100" b="1">
                          <a:solidFill>
                            <a:srgbClr val="FFFFFF"/>
                          </a:solidFill>
                          <a:latin typeface="Arial"/>
                        </a:rPr>
                        <a:t>USD/hora</a:t>
                      </a:r>
                    </a:p>
                  </a:txBody>
                  <a:tcPr anchor="ctr" marL="109728" marR="109728">
                    <a:solidFill>
                      <a:srgbClr val="316CE3"/>
                    </a:solidFill>
                  </a:tcPr>
                </a:tc>
                <a:tc>
                  <a:txBody>
                    <a:bodyPr/>
                    <a:lstStyle/>
                    <a:p>
                      <a:r>
                        <a:rPr sz="2100" b="1">
                          <a:solidFill>
                            <a:srgbClr val="FFFFFF"/>
                          </a:solidFill>
                          <a:latin typeface="Arial"/>
                        </a:rPr>
                        <a:t>USD por vCPU y hora</a:t>
                      </a:r>
                    </a:p>
                  </a:txBody>
                  <a:tcPr anchor="ctr" marL="109728" marR="109728">
                    <a:solidFill>
                      <a:srgbClr val="316CE3"/>
                    </a:solidFill>
                  </a:tcPr>
                </a:tc>
              </a:tr>
              <a:tr h="658368">
                <a:tc>
                  <a:txBody>
                    <a:bodyPr/>
                    <a:lstStyle/>
                    <a:p>
                      <a:r>
                        <a:rPr sz="2100" b="0">
                          <a:solidFill>
                            <a:srgbClr val="FFFFFF"/>
                          </a:solidFill>
                          <a:latin typeface="Arial"/>
                        </a:rPr>
                        <a:t>—</a:t>
                      </a:r>
                    </a:p>
                  </a:txBody>
                  <a:tcPr anchor="ctr" marL="109728" marR="109728">
                    <a:solidFill>
                      <a:srgbClr val="2F3D52"/>
                    </a:solidFill>
                  </a:tcPr>
                </a:tc>
                <a:tc>
                  <a:txBody>
                    <a:bodyPr/>
                    <a:lstStyle/>
                    <a:p/>
                  </a:txBody>
                  <a:tcPr anchor="ctr" marL="109728" marR="109728">
                    <a:solidFill>
                      <a:srgbClr val="2F3D52"/>
                    </a:solidFill>
                  </a:tcPr>
                </a:tc>
                <a:tc>
                  <a:txBody>
                    <a:bodyPr/>
                    <a:lstStyle/>
                    <a:p/>
                  </a:txBody>
                  <a:tcPr anchor="ctr" marL="109728" marR="109728">
                    <a:solidFill>
                      <a:srgbClr val="2F3D52"/>
                    </a:solidFill>
                  </a:tcPr>
                </a:tc>
                <a:tc>
                  <a:txBody>
                    <a:bodyPr/>
                    <a:lstStyle/>
                    <a:p/>
                  </a:txBody>
                  <a:tcPr anchor="ctr" marL="109728" marR="109728">
                    <a:solidFill>
                      <a:srgbClr val="2F3D52"/>
                    </a:solidFill>
                  </a:tcPr>
                </a:tc>
                <a:tc>
                  <a:txBody>
                    <a:bodyPr/>
                    <a:lstStyle/>
                    <a:p>
                      <a:r>
                        <a:rPr sz="2100" b="0">
                          <a:solidFill>
                            <a:srgbClr val="FFFFFF"/>
                          </a:solidFill>
                          <a:latin typeface="Arial"/>
                        </a:rPr>
                        <a:t>rg.large</a:t>
                      </a:r>
                    </a:p>
                  </a:txBody>
                  <a:tcPr anchor="ctr" marL="109728" marR="109728">
                    <a:solidFill>
                      <a:srgbClr val="2F3D52"/>
                    </a:solidFill>
                  </a:tcPr>
                </a:tc>
                <a:tc>
                  <a:txBody>
                    <a:bodyPr/>
                    <a:lstStyle/>
                    <a:p>
                      <a:r>
                        <a:rPr sz="2100" b="0">
                          <a:solidFill>
                            <a:srgbClr val="FFFFFF"/>
                          </a:solidFill>
                          <a:latin typeface="Arial"/>
                        </a:rPr>
                        <a:t>2</a:t>
                      </a:r>
                    </a:p>
                  </a:txBody>
                  <a:tcPr anchor="ctr" marL="109728" marR="109728">
                    <a:solidFill>
                      <a:srgbClr val="2F3D52"/>
                    </a:solidFill>
                  </a:tcPr>
                </a:tc>
                <a:tc>
                  <a:txBody>
                    <a:bodyPr/>
                    <a:lstStyle/>
                    <a:p>
                      <a:r>
                        <a:rPr sz="2100" b="0">
                          <a:solidFill>
                            <a:srgbClr val="FFFFFF"/>
                          </a:solidFill>
                          <a:latin typeface="Arial"/>
                        </a:rPr>
                        <a:t>0,3801</a:t>
                      </a:r>
                    </a:p>
                  </a:txBody>
                  <a:tcPr anchor="ctr" marL="109728" marR="109728">
                    <a:solidFill>
                      <a:srgbClr val="2F3D52"/>
                    </a:solidFill>
                  </a:tcPr>
                </a:tc>
                <a:tc>
                  <a:txBody>
                    <a:bodyPr/>
                    <a:lstStyle/>
                    <a:p>
                      <a:r>
                        <a:rPr sz="2100" b="0">
                          <a:solidFill>
                            <a:srgbClr val="FFFFFF"/>
                          </a:solidFill>
                          <a:latin typeface="Arial"/>
                        </a:rPr>
                        <a:t>0,190</a:t>
                      </a:r>
                    </a:p>
                  </a:txBody>
                  <a:tcPr anchor="ctr" marL="109728" marR="109728">
                    <a:solidFill>
                      <a:srgbClr val="2F3D52"/>
                    </a:solidFill>
                  </a:tcPr>
                </a:tc>
              </a:tr>
              <a:tr h="658368">
                <a:tc>
                  <a:txBody>
                    <a:bodyPr/>
                    <a:lstStyle/>
                    <a:p>
                      <a:r>
                        <a:rPr sz="2100" b="0">
                          <a:solidFill>
                            <a:srgbClr val="FFFFFF"/>
                          </a:solidFill>
                          <a:latin typeface="Arial"/>
                        </a:rPr>
                        <a:t>ra3.xlplus</a:t>
                      </a:r>
                    </a:p>
                  </a:txBody>
                  <a:tcPr anchor="ctr" marL="109728" marR="109728">
                    <a:solidFill>
                      <a:srgbClr val="2F3D52"/>
                    </a:solidFill>
                  </a:tcPr>
                </a:tc>
                <a:tc>
                  <a:txBody>
                    <a:bodyPr/>
                    <a:lstStyle/>
                    <a:p>
                      <a:r>
                        <a:rPr sz="2100" b="0">
                          <a:solidFill>
                            <a:srgbClr val="FFFFFF"/>
                          </a:solidFill>
                          <a:latin typeface="Arial"/>
                        </a:rPr>
                        <a:t>4</a:t>
                      </a:r>
                    </a:p>
                  </a:txBody>
                  <a:tcPr anchor="ctr" marL="109728" marR="109728">
                    <a:solidFill>
                      <a:srgbClr val="2F3D52"/>
                    </a:solidFill>
                  </a:tcPr>
                </a:tc>
                <a:tc>
                  <a:txBody>
                    <a:bodyPr/>
                    <a:lstStyle/>
                    <a:p>
                      <a:r>
                        <a:rPr sz="2100" b="0">
                          <a:solidFill>
                            <a:srgbClr val="FFFFFF"/>
                          </a:solidFill>
                          <a:latin typeface="Arial"/>
                        </a:rPr>
                        <a:t>1,086</a:t>
                      </a:r>
                    </a:p>
                  </a:txBody>
                  <a:tcPr anchor="ctr" marL="109728" marR="109728">
                    <a:solidFill>
                      <a:srgbClr val="2F3D52"/>
                    </a:solidFill>
                  </a:tcPr>
                </a:tc>
                <a:tc>
                  <a:txBody>
                    <a:bodyPr/>
                    <a:lstStyle/>
                    <a:p>
                      <a:r>
                        <a:rPr sz="2100" b="0">
                          <a:solidFill>
                            <a:srgbClr val="FFFFFF"/>
                          </a:solidFill>
                          <a:latin typeface="Arial"/>
                        </a:rPr>
                        <a:t>1 : 1</a:t>
                      </a:r>
                    </a:p>
                  </a:txBody>
                  <a:tcPr anchor="ctr" marL="109728" marR="109728">
                    <a:solidFill>
                      <a:srgbClr val="2F3D52"/>
                    </a:solidFill>
                  </a:tcPr>
                </a:tc>
                <a:tc>
                  <a:txBody>
                    <a:bodyPr/>
                    <a:lstStyle/>
                    <a:p>
                      <a:r>
                        <a:rPr sz="2100" b="0">
                          <a:solidFill>
                            <a:srgbClr val="FFFFFF"/>
                          </a:solidFill>
                          <a:latin typeface="Arial"/>
                        </a:rPr>
                        <a:t>rg.xlarge</a:t>
                      </a:r>
                    </a:p>
                  </a:txBody>
                  <a:tcPr anchor="ctr" marL="109728" marR="109728">
                    <a:solidFill>
                      <a:srgbClr val="2F3D52"/>
                    </a:solidFill>
                  </a:tcPr>
                </a:tc>
                <a:tc>
                  <a:txBody>
                    <a:bodyPr/>
                    <a:lstStyle/>
                    <a:p>
                      <a:r>
                        <a:rPr sz="2100" b="0">
                          <a:solidFill>
                            <a:srgbClr val="FFFFFF"/>
                          </a:solidFill>
                          <a:latin typeface="Arial"/>
                        </a:rPr>
                        <a:t>4</a:t>
                      </a:r>
                    </a:p>
                  </a:txBody>
                  <a:tcPr anchor="ctr" marL="109728" marR="109728">
                    <a:solidFill>
                      <a:srgbClr val="2F3D52"/>
                    </a:solidFill>
                  </a:tcPr>
                </a:tc>
                <a:tc>
                  <a:txBody>
                    <a:bodyPr/>
                    <a:lstStyle/>
                    <a:p>
                      <a:r>
                        <a:rPr sz="2100" b="0">
                          <a:solidFill>
                            <a:srgbClr val="FFFFFF"/>
                          </a:solidFill>
                          <a:latin typeface="Arial"/>
                        </a:rPr>
                        <a:t>0,7602</a:t>
                      </a:r>
                    </a:p>
                  </a:txBody>
                  <a:tcPr anchor="ctr" marL="109728" marR="109728">
                    <a:solidFill>
                      <a:srgbClr val="2F3D52"/>
                    </a:solidFill>
                  </a:tcPr>
                </a:tc>
                <a:tc>
                  <a:txBody>
                    <a:bodyPr/>
                    <a:lstStyle/>
                    <a:p>
                      <a:r>
                        <a:rPr sz="2100" b="0">
                          <a:solidFill>
                            <a:srgbClr val="FFFFFF"/>
                          </a:solidFill>
                          <a:latin typeface="Arial"/>
                        </a:rPr>
                        <a:t>de 0,272 a 0,190</a:t>
                      </a:r>
                    </a:p>
                  </a:txBody>
                  <a:tcPr anchor="ctr" marL="109728" marR="109728">
                    <a:solidFill>
                      <a:srgbClr val="2F3D52"/>
                    </a:solidFill>
                  </a:tcPr>
                </a:tc>
              </a:tr>
              <a:tr h="658368">
                <a:tc>
                  <a:txBody>
                    <a:bodyPr/>
                    <a:lstStyle/>
                    <a:p>
                      <a:r>
                        <a:rPr sz="2100" b="0">
                          <a:solidFill>
                            <a:srgbClr val="FFFFFF"/>
                          </a:solidFill>
                          <a:latin typeface="Arial"/>
                        </a:rPr>
                        <a:t>ra3.4xlarge</a:t>
                      </a:r>
                    </a:p>
                  </a:txBody>
                  <a:tcPr anchor="ctr" marL="109728" marR="109728">
                    <a:solidFill>
                      <a:srgbClr val="3A4B66"/>
                    </a:solidFill>
                  </a:tcPr>
                </a:tc>
                <a:tc>
                  <a:txBody>
                    <a:bodyPr/>
                    <a:lstStyle/>
                    <a:p>
                      <a:r>
                        <a:rPr sz="2100" b="0">
                          <a:solidFill>
                            <a:srgbClr val="FFFFFF"/>
                          </a:solidFill>
                          <a:latin typeface="Arial"/>
                        </a:rPr>
                        <a:t>12</a:t>
                      </a:r>
                    </a:p>
                  </a:txBody>
                  <a:tcPr anchor="ctr" marL="109728" marR="109728">
                    <a:solidFill>
                      <a:srgbClr val="3A4B66"/>
                    </a:solidFill>
                  </a:tcPr>
                </a:tc>
                <a:tc>
                  <a:txBody>
                    <a:bodyPr/>
                    <a:lstStyle/>
                    <a:p>
                      <a:r>
                        <a:rPr sz="2100" b="0">
                          <a:solidFill>
                            <a:srgbClr val="FFFFFF"/>
                          </a:solidFill>
                          <a:latin typeface="Arial"/>
                        </a:rPr>
                        <a:t>3,26</a:t>
                      </a:r>
                    </a:p>
                  </a:txBody>
                  <a:tcPr anchor="ctr" marL="109728" marR="109728">
                    <a:solidFill>
                      <a:srgbClr val="3A4B66"/>
                    </a:solidFill>
                  </a:tcPr>
                </a:tc>
                <a:tc>
                  <a:txBody>
                    <a:bodyPr/>
                    <a:lstStyle/>
                    <a:p>
                      <a:r>
                        <a:rPr sz="2100" b="0">
                          <a:solidFill>
                            <a:srgbClr val="FFFFFF"/>
                          </a:solidFill>
                          <a:latin typeface="Arial"/>
                        </a:rPr>
                        <a:t>4 : 3</a:t>
                      </a:r>
                    </a:p>
                  </a:txBody>
                  <a:tcPr anchor="ctr" marL="109728" marR="109728">
                    <a:solidFill>
                      <a:srgbClr val="3A4B66"/>
                    </a:solidFill>
                  </a:tcPr>
                </a:tc>
                <a:tc>
                  <a:txBody>
                    <a:bodyPr/>
                    <a:lstStyle/>
                    <a:p>
                      <a:r>
                        <a:rPr sz="2100" b="0">
                          <a:solidFill>
                            <a:srgbClr val="FFFFFF"/>
                          </a:solidFill>
                          <a:latin typeface="Arial"/>
                        </a:rPr>
                        <a:t>rg.4xlarge</a:t>
                      </a:r>
                    </a:p>
                  </a:txBody>
                  <a:tcPr anchor="ctr" marL="109728" marR="109728">
                    <a:solidFill>
                      <a:srgbClr val="3A4B66"/>
                    </a:solidFill>
                  </a:tcPr>
                </a:tc>
                <a:tc>
                  <a:txBody>
                    <a:bodyPr/>
                    <a:lstStyle/>
                    <a:p>
                      <a:r>
                        <a:rPr sz="2100" b="0">
                          <a:solidFill>
                            <a:srgbClr val="FFFFFF"/>
                          </a:solidFill>
                          <a:latin typeface="Arial"/>
                        </a:rPr>
                        <a:t>16</a:t>
                      </a:r>
                    </a:p>
                  </a:txBody>
                  <a:tcPr anchor="ctr" marL="109728" marR="109728">
                    <a:solidFill>
                      <a:srgbClr val="3A4B66"/>
                    </a:solidFill>
                  </a:tcPr>
                </a:tc>
                <a:tc>
                  <a:txBody>
                    <a:bodyPr/>
                    <a:lstStyle/>
                    <a:p>
                      <a:r>
                        <a:rPr sz="2100" b="0">
                          <a:solidFill>
                            <a:srgbClr val="FFFFFF"/>
                          </a:solidFill>
                          <a:latin typeface="Arial"/>
                        </a:rPr>
                        <a:t>3,04267</a:t>
                      </a:r>
                    </a:p>
                  </a:txBody>
                  <a:tcPr anchor="ctr" marL="109728" marR="109728">
                    <a:solidFill>
                      <a:srgbClr val="3A4B66"/>
                    </a:solidFill>
                  </a:tcPr>
                </a:tc>
                <a:tc>
                  <a:txBody>
                    <a:bodyPr/>
                    <a:lstStyle/>
                    <a:p>
                      <a:r>
                        <a:rPr sz="2100" b="0">
                          <a:solidFill>
                            <a:srgbClr val="FFFFFF"/>
                          </a:solidFill>
                          <a:latin typeface="Arial"/>
                        </a:rPr>
                        <a:t>de 0,272 a 0,190</a:t>
                      </a:r>
                    </a:p>
                  </a:txBody>
                  <a:tcPr anchor="ctr" marL="109728" marR="109728">
                    <a:solidFill>
                      <a:srgbClr val="3A4B66"/>
                    </a:solidFill>
                  </a:tcPr>
                </a:tc>
              </a:tr>
              <a:tr h="658368">
                <a:tc>
                  <a:txBody>
                    <a:bodyPr/>
                    <a:lstStyle/>
                    <a:p>
                      <a:r>
                        <a:rPr sz="2100" b="0">
                          <a:solidFill>
                            <a:srgbClr val="FFFFFF"/>
                          </a:solidFill>
                          <a:latin typeface="Arial"/>
                        </a:rPr>
                        <a:t>—</a:t>
                      </a:r>
                    </a:p>
                  </a:txBody>
                  <a:tcPr anchor="ctr" marL="109728" marR="109728">
                    <a:solidFill>
                      <a:srgbClr val="2F3D52"/>
                    </a:solidFill>
                  </a:tcPr>
                </a:tc>
                <a:tc>
                  <a:txBody>
                    <a:bodyPr/>
                    <a:lstStyle/>
                    <a:p/>
                  </a:txBody>
                  <a:tcPr anchor="ctr" marL="109728" marR="109728">
                    <a:solidFill>
                      <a:srgbClr val="2F3D52"/>
                    </a:solidFill>
                  </a:tcPr>
                </a:tc>
                <a:tc>
                  <a:txBody>
                    <a:bodyPr/>
                    <a:lstStyle/>
                    <a:p/>
                  </a:txBody>
                  <a:tcPr anchor="ctr" marL="109728" marR="109728">
                    <a:solidFill>
                      <a:srgbClr val="2F3D52"/>
                    </a:solidFill>
                  </a:tcPr>
                </a:tc>
                <a:tc>
                  <a:txBody>
                    <a:bodyPr/>
                    <a:lstStyle/>
                    <a:p/>
                  </a:txBody>
                  <a:tcPr anchor="ctr" marL="109728" marR="109728">
                    <a:solidFill>
                      <a:srgbClr val="2F3D52"/>
                    </a:solidFill>
                  </a:tcPr>
                </a:tc>
                <a:tc>
                  <a:txBody>
                    <a:bodyPr/>
                    <a:lstStyle/>
                    <a:p>
                      <a:r>
                        <a:rPr sz="2100" b="0">
                          <a:solidFill>
                            <a:srgbClr val="FFFFFF"/>
                          </a:solidFill>
                          <a:latin typeface="Arial"/>
                        </a:rPr>
                        <a:t>rg.12xlarge</a:t>
                      </a:r>
                    </a:p>
                  </a:txBody>
                  <a:tcPr anchor="ctr" marL="109728" marR="109728">
                    <a:solidFill>
                      <a:srgbClr val="2F3D52"/>
                    </a:solidFill>
                  </a:tcPr>
                </a:tc>
                <a:tc>
                  <a:txBody>
                    <a:bodyPr/>
                    <a:lstStyle/>
                    <a:p>
                      <a:r>
                        <a:rPr sz="2100" b="0">
                          <a:solidFill>
                            <a:srgbClr val="FFFFFF"/>
                          </a:solidFill>
                          <a:latin typeface="Arial"/>
                        </a:rPr>
                        <a:t>48</a:t>
                      </a:r>
                    </a:p>
                  </a:txBody>
                  <a:tcPr anchor="ctr" marL="109728" marR="109728">
                    <a:solidFill>
                      <a:srgbClr val="2F3D52"/>
                    </a:solidFill>
                  </a:tcPr>
                </a:tc>
                <a:tc>
                  <a:txBody>
                    <a:bodyPr/>
                    <a:lstStyle/>
                    <a:p>
                      <a:r>
                        <a:rPr sz="2100" b="0">
                          <a:solidFill>
                            <a:srgbClr val="FFFFFF"/>
                          </a:solidFill>
                          <a:latin typeface="Arial"/>
                        </a:rPr>
                        <a:t>9,128</a:t>
                      </a:r>
                    </a:p>
                  </a:txBody>
                  <a:tcPr anchor="ctr" marL="109728" marR="109728">
                    <a:solidFill>
                      <a:srgbClr val="2F3D52"/>
                    </a:solidFill>
                  </a:tcPr>
                </a:tc>
                <a:tc>
                  <a:txBody>
                    <a:bodyPr/>
                    <a:lstStyle/>
                    <a:p>
                      <a:r>
                        <a:rPr sz="2100" b="0">
                          <a:solidFill>
                            <a:srgbClr val="FFFFFF"/>
                          </a:solidFill>
                          <a:latin typeface="Arial"/>
                        </a:rPr>
                        <a:t>0,190</a:t>
                      </a:r>
                    </a:p>
                  </a:txBody>
                  <a:tcPr anchor="ctr" marL="109728" marR="109728">
                    <a:solidFill>
                      <a:srgbClr val="2F3D52"/>
                    </a:solidFill>
                  </a:tcPr>
                </a:tc>
              </a:tr>
            </a:tbl>
          </a:graphicData>
        </a:graphic>
      </p:graphicFrame>
      <p:sp>
        <p:nvSpPr>
          <p:cNvPr id="11" name="TextBox 10"/>
          <p:cNvSpPr txBox="1"/>
          <p:nvPr/>
        </p:nvSpPr>
        <p:spPr>
          <a:xfrm>
            <a:off x="914400" y="6858000"/>
            <a:ext cx="13898880" cy="1463040"/>
          </a:xfrm>
          <a:prstGeom prst="rect">
            <a:avLst/>
          </a:prstGeom>
          <a:noFill/>
        </p:spPr>
        <p:txBody>
          <a:bodyPr wrap="square" anchor="t" lIns="0" rIns="0" tIns="0" bIns="0">
            <a:spAutoFit/>
          </a:bodyPr>
          <a:lstStyle/>
          <a:p>
            <a:pPr algn="l">
              <a:spcAft>
                <a:spcPts val="1000"/>
              </a:spcAft>
            </a:pPr>
            <a:r>
              <a:rPr sz="2600" b="1">
                <a:solidFill>
                  <a:srgbClr val="FFFFFF"/>
                </a:solidFill>
                <a:latin typeface="Arial"/>
              </a:rPr>
              <a:t>4 nodos ra3.4xlarge equivalen a 3 rg.4xlarge</a:t>
            </a:r>
            <a:r>
              <a:rPr sz="2600" b="0">
                <a:solidFill>
                  <a:srgbClr val="FFFFFF"/>
                </a:solidFill>
                <a:latin typeface="Arial"/>
              </a:rPr>
              <a:t> (48 vCPU en total): USD 13,04 frente a 9,13 por hora</a:t>
            </a:r>
          </a:p>
        </p:txBody>
      </p:sp>
      <p:sp>
        <p:nvSpPr>
          <p:cNvPr id="12" name="TextBox 11"/>
          <p:cNvSpPr txBox="1"/>
          <p:nvPr/>
        </p:nvSpPr>
        <p:spPr>
          <a:xfrm>
            <a:off x="914400" y="7909560"/>
            <a:ext cx="13898880" cy="548640"/>
          </a:xfrm>
          <a:prstGeom prst="rect">
            <a:avLst/>
          </a:prstGeom>
          <a:noFill/>
        </p:spPr>
        <p:txBody>
          <a:bodyPr wrap="square" anchor="t" lIns="0" rIns="0" tIns="0" bIns="0">
            <a:spAutoFit/>
          </a:bodyPr>
          <a:lstStyle/>
          <a:p>
            <a:pPr algn="l">
              <a:spcAft>
                <a:spcPts val="1000"/>
              </a:spcAft>
            </a:pPr>
            <a:r>
              <a:rPr sz="1600" b="0">
                <a:solidFill>
                  <a:srgbClr val="9FB3C8"/>
                </a:solidFill>
                <a:latin typeface="Arial"/>
              </a:rPr>
              <a:t>vCPU: documentación de Redshift («Node type details»). Precios on-demand en us-east-1, Price List API.</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232E3E"/>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txBody>
          <a:bodyPr/>
          <a:p/>
        </p:txBody>
      </p:sp>
      <p:sp>
        <p:nvSpPr>
          <p:cNvPr name="TextBox 3" id="3"/>
          <p:cNvSpPr txBox="true"/>
          <p:nvPr/>
        </p:nvSpPr>
        <p:spPr>
          <a:xfrm rot="0">
            <a:off x="3520440" y="868680"/>
            <a:ext cx="12070080" cy="1874519"/>
          </a:xfrm>
          <a:prstGeom prst="rect">
            <a:avLst/>
          </a:prstGeom>
        </p:spPr>
        <p:txBody>
          <a:bodyPr anchor="ctr" rtlCol="false" tIns="0" lIns="0" bIns="0" rIns="0" wrap="square">
            <a:spAutoFit/>
          </a:bodyPr>
          <a:lstStyle/>
          <a:p>
            <a:pPr algn="l" marL="0" indent="0" lvl="0">
              <a:lnSpc>
                <a:spcPts val="10481"/>
              </a:lnSpc>
              <a:spcBef>
                <a:spcPct val="0"/>
              </a:spcBef>
            </a:pPr>
            <a:r>
              <a:rPr lang="en-US" b="0" sz="5400">
                <a:solidFill>
                  <a:srgbClr val="FFFFFF"/>
                </a:solidFill>
                <a:latin typeface="Arial Black"/>
                <a:ea typeface="Arial Black"/>
                <a:cs typeface="Arial Black"/>
                <a:sym typeface="Arial Black"/>
              </a:rPr>
              <a:t>Lo que anunció AWS</a:t>
            </a:r>
          </a:p>
        </p:txBody>
      </p:sp>
      <p:sp>
        <p:nvSpPr>
          <p:cNvPr name="Freeform 4" id="4"/>
          <p:cNvSpPr/>
          <p:nvPr/>
        </p:nvSpPr>
        <p:spPr>
          <a:xfrm flipH="false" flipV="false" rot="0">
            <a:off x="536304" y="308054"/>
            <a:ext cx="650696" cy="409939"/>
          </a:xfrm>
          <a:custGeom>
            <a:avLst/>
            <a:gdLst/>
            <a:ahLst/>
            <a:cxnLst/>
            <a:rect r="r" b="b" t="t" l="l"/>
            <a:pathLst>
              <a:path h="409939" w="650696">
                <a:moveTo>
                  <a:pt x="0" y="0"/>
                </a:moveTo>
                <a:lnTo>
                  <a:pt x="650697" y="0"/>
                </a:lnTo>
                <a:lnTo>
                  <a:pt x="650697" y="409938"/>
                </a:lnTo>
                <a:lnTo>
                  <a:pt x="0" y="40993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219785" y="9070932"/>
            <a:ext cx="4151107" cy="986035"/>
            <a:chOff x="0" y="0"/>
            <a:chExt cx="5534810" cy="1314713"/>
          </a:xfrm>
        </p:grpSpPr>
        <p:sp>
          <p:nvSpPr>
            <p:cNvPr name="Freeform 6" id="6"/>
            <p:cNvSpPr/>
            <p:nvPr/>
          </p:nvSpPr>
          <p:spPr>
            <a:xfrm flipH="false" flipV="false" rot="0">
              <a:off x="0" y="0"/>
              <a:ext cx="1314713" cy="1314713"/>
            </a:xfrm>
            <a:custGeom>
              <a:avLst/>
              <a:gdLst/>
              <a:ahLst/>
              <a:cxnLst/>
              <a:rect r="r" b="b" t="t" l="l"/>
              <a:pathLst>
                <a:path h="1314713" w="1314713">
                  <a:moveTo>
                    <a:pt x="0" y="0"/>
                  </a:moveTo>
                  <a:lnTo>
                    <a:pt x="1314713" y="0"/>
                  </a:lnTo>
                  <a:lnTo>
                    <a:pt x="1314713" y="1314713"/>
                  </a:lnTo>
                  <a:lnTo>
                    <a:pt x="0" y="131471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7" id="7"/>
            <p:cNvSpPr txBox="true"/>
            <p:nvPr/>
          </p:nvSpPr>
          <p:spPr>
            <a:xfrm rot="0">
              <a:off x="1455753" y="151974"/>
              <a:ext cx="3148240" cy="462308"/>
            </a:xfrm>
            <a:prstGeom prst="rect">
              <a:avLst/>
            </a:prstGeom>
          </p:spPr>
          <p:txBody>
            <a:bodyPr anchor="t" rtlCol="false" tIns="0" lIns="0" bIns="0" rIns="0">
              <a:spAutoFit/>
            </a:bodyPr>
            <a:lstStyle/>
            <a:p>
              <a:pPr algn="l">
                <a:lnSpc>
                  <a:spcPts val="2702"/>
                </a:lnSpc>
              </a:pPr>
              <a:r>
                <a:rPr lang="en-US" b="true" sz="2252">
                  <a:solidFill>
                    <a:srgbClr val="FFFFFF"/>
                  </a:solidFill>
                  <a:latin typeface="Raleway 1 Bold"/>
                  <a:ea typeface="Raleway 1 Bold"/>
                  <a:cs typeface="Raleway 1 Bold"/>
                  <a:sym typeface="Raleway 1 Bold"/>
                </a:rPr>
                <a:t>OCTUBRE</a:t>
              </a:r>
            </a:p>
          </p:txBody>
        </p:sp>
        <p:sp>
          <p:nvSpPr>
            <p:cNvPr name="TextBox 8" id="8"/>
            <p:cNvSpPr txBox="true"/>
            <p:nvPr/>
          </p:nvSpPr>
          <p:spPr>
            <a:xfrm rot="0">
              <a:off x="1468453" y="585710"/>
              <a:ext cx="4066356" cy="565140"/>
            </a:xfrm>
            <a:prstGeom prst="rect">
              <a:avLst/>
            </a:prstGeom>
          </p:spPr>
          <p:txBody>
            <a:bodyPr anchor="t" rtlCol="false" tIns="0" lIns="0" bIns="0" rIns="0">
              <a:spAutoFit/>
            </a:bodyPr>
            <a:lstStyle/>
            <a:p>
              <a:pPr algn="l">
                <a:lnSpc>
                  <a:spcPts val="1130"/>
                </a:lnSpc>
              </a:pPr>
              <a:r>
                <a:rPr lang="en-US" sz="1097" b="true">
                  <a:solidFill>
                    <a:srgbClr val="FFFFFF"/>
                  </a:solidFill>
                  <a:latin typeface="Raleway 1 Bold"/>
                  <a:ea typeface="Raleway 1 Bold"/>
                  <a:cs typeface="Raleway 1 Bold"/>
                  <a:sym typeface="Raleway 1 Bold"/>
                </a:rPr>
                <a:t>Mes de </a:t>
              </a:r>
            </a:p>
            <a:p>
              <a:pPr algn="l">
                <a:lnSpc>
                  <a:spcPts val="2059"/>
                </a:lnSpc>
              </a:pPr>
              <a:r>
                <a:rPr lang="en-US" b="true" sz="1999">
                  <a:solidFill>
                    <a:srgbClr val="FFFFFF"/>
                  </a:solidFill>
                  <a:latin typeface="Raleway 1 Bold"/>
                  <a:ea typeface="Raleway 1 Bold"/>
                  <a:cs typeface="Raleway 1 Bold"/>
                  <a:sym typeface="Raleway 1 Bold"/>
                </a:rPr>
                <a:t>HAN SOLO</a:t>
              </a:r>
            </a:p>
          </p:txBody>
        </p:sp>
      </p:grpSp>
      <p:sp>
        <p:nvSpPr>
          <p:cNvPr name="TextBox 9" id="9"/>
          <p:cNvSpPr txBox="true"/>
          <p:nvPr/>
        </p:nvSpPr>
        <p:spPr>
          <a:xfrm rot="0">
            <a:off x="1258571" y="221658"/>
            <a:ext cx="15091730" cy="563680"/>
          </a:xfrm>
          <a:prstGeom prst="rect">
            <a:avLst/>
          </a:prstGeom>
        </p:spPr>
        <p:txBody>
          <a:bodyPr anchor="t" rtlCol="false" tIns="0" lIns="0" bIns="0" rIns="0">
            <a:spAutoFit/>
          </a:bodyPr>
          <a:lstStyle/>
          <a:p>
            <a:pPr algn="l">
              <a:lnSpc>
                <a:spcPts val="1760"/>
              </a:lnSpc>
            </a:pPr>
            <a:r>
              <a:rPr lang="en-US" sz="2000">
                <a:solidFill>
                  <a:srgbClr val="316CE3"/>
                </a:solidFill>
                <a:latin typeface="Gotham"/>
                <a:ea typeface="Gotham"/>
                <a:cs typeface="Gotham"/>
                <a:sym typeface="Gotham"/>
              </a:rPr>
              <a:t>HOY:</a:t>
            </a:r>
          </a:p>
          <a:p>
            <a:pPr algn="l">
              <a:lnSpc>
                <a:spcPts val="2528"/>
              </a:lnSpc>
            </a:pPr>
            <a:r>
              <a:rPr lang="en-US" sz="2873" b="true">
                <a:solidFill>
                  <a:srgbClr val="316CE3"/>
                </a:solidFill>
                <a:latin typeface="Gotham Bold"/>
                <a:ea typeface="Gotham Bold"/>
                <a:cs typeface="Gotham Bold"/>
                <a:sym typeface="Gotham Bold"/>
              </a:rPr>
              <a:t>Episodio II — El Ataque de los Graviton: Infraestructura y rendimiento</a:t>
            </a:r>
          </a:p>
        </p:txBody>
      </p:sp>
      <p:sp>
        <p:nvSpPr>
          <p:cNvPr id="10" name="Rounded Rectangle 9"/>
          <p:cNvSpPr/>
          <p:nvPr/>
        </p:nvSpPr>
        <p:spPr>
          <a:xfrm>
            <a:off x="914400" y="3200400"/>
            <a:ext cx="3337560" cy="2743200"/>
          </a:xfrm>
          <a:prstGeom prst="roundRect">
            <a:avLst>
              <a:gd name="adj" fmla="val 8000"/>
            </a:avLst>
          </a:prstGeom>
          <a:solidFill>
            <a:srgbClr val="2F3D5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228600" bIns="228600"/>
          <a:lstStyle/>
          <a:p>
            <a:pPr algn="ctr">
              <a:spcAft>
                <a:spcPts val="800"/>
              </a:spcAft>
            </a:pPr>
            <a:r>
              <a:rPr sz="4000" b="1">
                <a:solidFill>
                  <a:srgbClr val="316CE3"/>
                </a:solidFill>
                <a:latin typeface="Arial"/>
              </a:rPr>
              <a:t>Hasta 2,2x</a:t>
            </a:r>
          </a:p>
          <a:p>
            <a:pPr>
              <a:spcAft>
                <a:spcPts val="600"/>
              </a:spcAft>
            </a:pPr>
            <a:r>
              <a:rPr sz="2200" b="0">
                <a:solidFill>
                  <a:srgbClr val="D9E2EC"/>
                </a:solidFill>
                <a:latin typeface="Arial"/>
              </a:rPr>
              <a:t>más rápido en las consultas del warehouse</a:t>
            </a:r>
          </a:p>
        </p:txBody>
      </p:sp>
      <p:sp>
        <p:nvSpPr>
          <p:cNvPr id="11" name="Rounded Rectangle 10"/>
          <p:cNvSpPr/>
          <p:nvPr/>
        </p:nvSpPr>
        <p:spPr>
          <a:xfrm>
            <a:off x="4462272" y="3200400"/>
            <a:ext cx="3337560" cy="2743200"/>
          </a:xfrm>
          <a:prstGeom prst="roundRect">
            <a:avLst>
              <a:gd name="adj" fmla="val 8000"/>
            </a:avLst>
          </a:prstGeom>
          <a:solidFill>
            <a:srgbClr val="2F3D5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228600" bIns="228600"/>
          <a:lstStyle/>
          <a:p>
            <a:pPr algn="ctr">
              <a:spcAft>
                <a:spcPts val="800"/>
              </a:spcAft>
            </a:pPr>
            <a:r>
              <a:rPr sz="4000" b="1">
                <a:solidFill>
                  <a:srgbClr val="316CE3"/>
                </a:solidFill>
                <a:latin typeface="Arial"/>
              </a:rPr>
              <a:t>Hasta 2,4x</a:t>
            </a:r>
          </a:p>
          <a:p>
            <a:pPr>
              <a:spcAft>
                <a:spcPts val="600"/>
              </a:spcAft>
            </a:pPr>
            <a:r>
              <a:rPr sz="2200" b="0">
                <a:solidFill>
                  <a:srgbClr val="D9E2EC"/>
                </a:solidFill>
                <a:latin typeface="Arial"/>
              </a:rPr>
              <a:t>en el data lake con Iceberg (1,5x con Parquet)</a:t>
            </a:r>
          </a:p>
        </p:txBody>
      </p:sp>
      <p:sp>
        <p:nvSpPr>
          <p:cNvPr id="12" name="Rounded Rectangle 11"/>
          <p:cNvSpPr/>
          <p:nvPr/>
        </p:nvSpPr>
        <p:spPr>
          <a:xfrm>
            <a:off x="8010144" y="3200400"/>
            <a:ext cx="3337560" cy="2743200"/>
          </a:xfrm>
          <a:prstGeom prst="roundRect">
            <a:avLst>
              <a:gd name="adj" fmla="val 8000"/>
            </a:avLst>
          </a:prstGeom>
          <a:solidFill>
            <a:srgbClr val="2F3D5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228600" bIns="228600"/>
          <a:lstStyle/>
          <a:p>
            <a:pPr algn="ctr">
              <a:spcAft>
                <a:spcPts val="800"/>
              </a:spcAft>
            </a:pPr>
            <a:r>
              <a:rPr sz="4000" b="1">
                <a:solidFill>
                  <a:srgbClr val="316CE3"/>
                </a:solidFill>
                <a:latin typeface="Arial"/>
              </a:rPr>
              <a:t>−30 %</a:t>
            </a:r>
          </a:p>
          <a:p>
            <a:pPr>
              <a:spcAft>
                <a:spcPts val="600"/>
              </a:spcAft>
            </a:pPr>
            <a:r>
              <a:rPr sz="2200" b="0">
                <a:solidFill>
                  <a:srgbClr val="D9E2EC"/>
                </a:solidFill>
                <a:latin typeface="Arial"/>
              </a:rPr>
              <a:t>en el precio por vCPU</a:t>
            </a:r>
          </a:p>
        </p:txBody>
      </p:sp>
      <p:sp>
        <p:nvSpPr>
          <p:cNvPr id="13" name="Rounded Rectangle 12"/>
          <p:cNvSpPr/>
          <p:nvPr/>
        </p:nvSpPr>
        <p:spPr>
          <a:xfrm>
            <a:off x="11558016" y="3200400"/>
            <a:ext cx="3337560" cy="2743200"/>
          </a:xfrm>
          <a:prstGeom prst="roundRect">
            <a:avLst>
              <a:gd name="adj" fmla="val 8000"/>
            </a:avLst>
          </a:prstGeom>
          <a:solidFill>
            <a:srgbClr val="2F3D5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228600" bIns="228600"/>
          <a:lstStyle/>
          <a:p>
            <a:pPr algn="ctr">
              <a:spcAft>
                <a:spcPts val="800"/>
              </a:spcAft>
            </a:pPr>
            <a:r>
              <a:rPr sz="4000" b="1">
                <a:solidFill>
                  <a:srgbClr val="316CE3"/>
                </a:solidFill>
                <a:latin typeface="Arial"/>
              </a:rPr>
              <a:t>USD 0</a:t>
            </a:r>
          </a:p>
          <a:p>
            <a:pPr>
              <a:spcAft>
                <a:spcPts val="600"/>
              </a:spcAft>
            </a:pPr>
            <a:r>
              <a:rPr sz="2200" b="0">
                <a:solidFill>
                  <a:srgbClr val="D9E2EC"/>
                </a:solidFill>
                <a:latin typeface="Arial"/>
              </a:rPr>
              <a:t>por TB leído desde el data lake</a:t>
            </a:r>
          </a:p>
        </p:txBody>
      </p:sp>
      <p:sp>
        <p:nvSpPr>
          <p:cNvPr id="14" name="TextBox 13"/>
          <p:cNvSpPr txBox="1"/>
          <p:nvPr/>
        </p:nvSpPr>
        <p:spPr>
          <a:xfrm>
            <a:off x="914400" y="6400800"/>
            <a:ext cx="13898880" cy="1097280"/>
          </a:xfrm>
          <a:prstGeom prst="rect">
            <a:avLst/>
          </a:prstGeom>
          <a:noFill/>
        </p:spPr>
        <p:txBody>
          <a:bodyPr wrap="square" anchor="t" lIns="0" rIns="0" tIns="0" bIns="0">
            <a:spAutoFit/>
          </a:bodyPr>
          <a:lstStyle/>
          <a:p>
            <a:pPr algn="l">
              <a:spcAft>
                <a:spcPts val="1000"/>
              </a:spcAft>
            </a:pPr>
            <a:r>
              <a:rPr sz="2400" b="0">
                <a:solidFill>
                  <a:srgbClr val="FFFFFF"/>
                </a:solidFill>
                <a:latin typeface="Arial"/>
              </a:rPr>
              <a:t>AWS lo midió con TPC-DS y TPC-H a </a:t>
            </a:r>
            <a:r>
              <a:rPr sz="2400" b="1">
                <a:solidFill>
                  <a:srgbClr val="FFFFFF"/>
                </a:solidFill>
                <a:latin typeface="Arial"/>
              </a:rPr>
              <a:t>10 TB en nodos rg.4xlarge</a:t>
            </a:r>
            <a:r>
              <a:rPr sz="2400" b="0">
                <a:solidFill>
                  <a:srgbClr val="FFFFFF"/>
                </a:solidFill>
                <a:latin typeface="Arial"/>
              </a:rPr>
              <a:t>. Nosotros, con 100 GB en un clúster de 2 nodos xlarge.</a:t>
            </a:r>
          </a:p>
        </p:txBody>
      </p:sp>
      <p:sp>
        <p:nvSpPr>
          <p:cNvPr id="15" name="TextBox 14"/>
          <p:cNvSpPr txBox="1"/>
          <p:nvPr/>
        </p:nvSpPr>
        <p:spPr>
          <a:xfrm>
            <a:off x="914400" y="7909560"/>
            <a:ext cx="13898880" cy="548640"/>
          </a:xfrm>
          <a:prstGeom prst="rect">
            <a:avLst/>
          </a:prstGeom>
          <a:noFill/>
        </p:spPr>
        <p:txBody>
          <a:bodyPr wrap="square" anchor="t" lIns="0" rIns="0" tIns="0" bIns="0">
            <a:spAutoFit/>
          </a:bodyPr>
          <a:lstStyle/>
          <a:p>
            <a:pPr algn="l">
              <a:spcAft>
                <a:spcPts val="1000"/>
              </a:spcAft>
            </a:pPr>
            <a:r>
              <a:rPr sz="1600" b="0">
                <a:solidFill>
                  <a:srgbClr val="9FB3C8"/>
                </a:solidFill>
                <a:latin typeface="Arial"/>
              </a:rPr>
              <a:t>Fuente: blog de AWS Big Data «Meet Amazon Redshift RG…», 19 de mayo de 2026.</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232E3E"/>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txBody>
          <a:bodyPr/>
          <a:p/>
        </p:txBody>
      </p:sp>
      <p:sp>
        <p:nvSpPr>
          <p:cNvPr name="TextBox 3" id="3"/>
          <p:cNvSpPr txBox="true"/>
          <p:nvPr/>
        </p:nvSpPr>
        <p:spPr>
          <a:xfrm rot="0">
            <a:off x="3444099" y="3763913"/>
            <a:ext cx="13438018" cy="2238374"/>
          </a:xfrm>
          <a:prstGeom prst="rect">
            <a:avLst/>
          </a:prstGeom>
        </p:spPr>
        <p:txBody>
          <a:bodyPr anchor="t" rtlCol="false" tIns="0" lIns="0" bIns="0" rIns="0">
            <a:spAutoFit/>
          </a:bodyPr>
          <a:lstStyle/>
          <a:p>
            <a:pPr algn="l">
              <a:lnSpc>
                <a:spcPts val="8399"/>
              </a:lnSpc>
            </a:pPr>
            <a:r>
              <a:rPr lang="en-US" b="0" sz="8800">
                <a:solidFill>
                  <a:srgbClr val="FFFFFF"/>
                </a:solidFill>
                <a:latin typeface="Arial Black"/>
                <a:ea typeface="Arial Black"/>
                <a:cs typeface="Arial Black"/>
                <a:sym typeface="Arial Black"/>
              </a:rPr>
              <a:t>CÓMO LO</a:t>
            </a:r>
          </a:p>
          <a:p>
            <a:pPr algn="l" marL="0" indent="0" lvl="0">
              <a:lnSpc>
                <a:spcPts val="8399"/>
              </a:lnSpc>
            </a:pPr>
            <a:r>
              <a:rPr lang="en-US" b="0" sz="8800">
                <a:solidFill>
                  <a:srgbClr val="FFFFFF"/>
                </a:solidFill>
                <a:latin typeface="Arial Black"/>
                <a:ea typeface="Arial Black"/>
                <a:cs typeface="Arial Black"/>
                <a:sym typeface="Arial Black"/>
              </a:rPr>
              <a:t>        MEDIMOS</a:t>
            </a:r>
          </a:p>
        </p:txBody>
      </p:sp>
      <p:sp>
        <p:nvSpPr>
          <p:cNvPr name="Freeform 4" id="4"/>
          <p:cNvSpPr/>
          <p:nvPr/>
        </p:nvSpPr>
        <p:spPr>
          <a:xfrm flipH="false" flipV="false" rot="0">
            <a:off x="536304" y="308054"/>
            <a:ext cx="650696" cy="409939"/>
          </a:xfrm>
          <a:custGeom>
            <a:avLst/>
            <a:gdLst/>
            <a:ahLst/>
            <a:cxnLst/>
            <a:rect r="r" b="b" t="t" l="l"/>
            <a:pathLst>
              <a:path h="409939" w="650696">
                <a:moveTo>
                  <a:pt x="0" y="0"/>
                </a:moveTo>
                <a:lnTo>
                  <a:pt x="650697" y="0"/>
                </a:lnTo>
                <a:lnTo>
                  <a:pt x="650697" y="409938"/>
                </a:lnTo>
                <a:lnTo>
                  <a:pt x="0" y="40993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219785" y="9070932"/>
            <a:ext cx="4151107" cy="986035"/>
            <a:chOff x="0" y="0"/>
            <a:chExt cx="5534810" cy="1314713"/>
          </a:xfrm>
        </p:grpSpPr>
        <p:sp>
          <p:nvSpPr>
            <p:cNvPr name="Freeform 6" id="6"/>
            <p:cNvSpPr/>
            <p:nvPr/>
          </p:nvSpPr>
          <p:spPr>
            <a:xfrm flipH="false" flipV="false" rot="0">
              <a:off x="0" y="0"/>
              <a:ext cx="1314713" cy="1314713"/>
            </a:xfrm>
            <a:custGeom>
              <a:avLst/>
              <a:gdLst/>
              <a:ahLst/>
              <a:cxnLst/>
              <a:rect r="r" b="b" t="t" l="l"/>
              <a:pathLst>
                <a:path h="1314713" w="1314713">
                  <a:moveTo>
                    <a:pt x="0" y="0"/>
                  </a:moveTo>
                  <a:lnTo>
                    <a:pt x="1314713" y="0"/>
                  </a:lnTo>
                  <a:lnTo>
                    <a:pt x="1314713" y="1314713"/>
                  </a:lnTo>
                  <a:lnTo>
                    <a:pt x="0" y="131471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7" id="7"/>
            <p:cNvSpPr txBox="true"/>
            <p:nvPr/>
          </p:nvSpPr>
          <p:spPr>
            <a:xfrm rot="0">
              <a:off x="1455753" y="151974"/>
              <a:ext cx="3148240" cy="462308"/>
            </a:xfrm>
            <a:prstGeom prst="rect">
              <a:avLst/>
            </a:prstGeom>
          </p:spPr>
          <p:txBody>
            <a:bodyPr anchor="t" rtlCol="false" tIns="0" lIns="0" bIns="0" rIns="0">
              <a:spAutoFit/>
            </a:bodyPr>
            <a:lstStyle/>
            <a:p>
              <a:pPr algn="l">
                <a:lnSpc>
                  <a:spcPts val="2702"/>
                </a:lnSpc>
              </a:pPr>
              <a:r>
                <a:rPr lang="en-US" b="true" sz="2252">
                  <a:solidFill>
                    <a:srgbClr val="FFFFFF"/>
                  </a:solidFill>
                  <a:latin typeface="Raleway 1 Bold"/>
                  <a:ea typeface="Raleway 1 Bold"/>
                  <a:cs typeface="Raleway 1 Bold"/>
                  <a:sym typeface="Raleway 1 Bold"/>
                </a:rPr>
                <a:t>OCTUBRE</a:t>
              </a:r>
            </a:p>
          </p:txBody>
        </p:sp>
        <p:sp>
          <p:nvSpPr>
            <p:cNvPr name="TextBox 8" id="8"/>
            <p:cNvSpPr txBox="true"/>
            <p:nvPr/>
          </p:nvSpPr>
          <p:spPr>
            <a:xfrm rot="0">
              <a:off x="1468453" y="585710"/>
              <a:ext cx="4066356" cy="565140"/>
            </a:xfrm>
            <a:prstGeom prst="rect">
              <a:avLst/>
            </a:prstGeom>
          </p:spPr>
          <p:txBody>
            <a:bodyPr anchor="t" rtlCol="false" tIns="0" lIns="0" bIns="0" rIns="0">
              <a:spAutoFit/>
            </a:bodyPr>
            <a:lstStyle/>
            <a:p>
              <a:pPr algn="l">
                <a:lnSpc>
                  <a:spcPts val="1130"/>
                </a:lnSpc>
              </a:pPr>
              <a:r>
                <a:rPr lang="en-US" sz="1097" b="true">
                  <a:solidFill>
                    <a:srgbClr val="FFFFFF"/>
                  </a:solidFill>
                  <a:latin typeface="Raleway 1 Bold"/>
                  <a:ea typeface="Raleway 1 Bold"/>
                  <a:cs typeface="Raleway 1 Bold"/>
                  <a:sym typeface="Raleway 1 Bold"/>
                </a:rPr>
                <a:t>Mes de </a:t>
              </a:r>
            </a:p>
            <a:p>
              <a:pPr algn="l">
                <a:lnSpc>
                  <a:spcPts val="2059"/>
                </a:lnSpc>
              </a:pPr>
              <a:r>
                <a:rPr lang="en-US" b="true" sz="1999">
                  <a:solidFill>
                    <a:srgbClr val="FFFFFF"/>
                  </a:solidFill>
                  <a:latin typeface="Raleway 1 Bold"/>
                  <a:ea typeface="Raleway 1 Bold"/>
                  <a:cs typeface="Raleway 1 Bold"/>
                  <a:sym typeface="Raleway 1 Bold"/>
                </a:rPr>
                <a:t>HAN SOLO</a:t>
              </a:r>
            </a:p>
          </p:txBody>
        </p:sp>
      </p:grpSp>
      <p:sp>
        <p:nvSpPr>
          <p:cNvPr name="TextBox 9" id="9"/>
          <p:cNvSpPr txBox="true"/>
          <p:nvPr/>
        </p:nvSpPr>
        <p:spPr>
          <a:xfrm rot="0">
            <a:off x="1258571" y="221658"/>
            <a:ext cx="15091730" cy="563680"/>
          </a:xfrm>
          <a:prstGeom prst="rect">
            <a:avLst/>
          </a:prstGeom>
        </p:spPr>
        <p:txBody>
          <a:bodyPr anchor="t" rtlCol="false" tIns="0" lIns="0" bIns="0" rIns="0">
            <a:spAutoFit/>
          </a:bodyPr>
          <a:lstStyle/>
          <a:p>
            <a:pPr algn="l">
              <a:lnSpc>
                <a:spcPts val="1760"/>
              </a:lnSpc>
            </a:pPr>
            <a:r>
              <a:rPr lang="en-US" sz="2000">
                <a:solidFill>
                  <a:srgbClr val="316CE3"/>
                </a:solidFill>
                <a:latin typeface="Gotham"/>
                <a:ea typeface="Gotham"/>
                <a:cs typeface="Gotham"/>
                <a:sym typeface="Gotham"/>
              </a:rPr>
              <a:t>HOY:</a:t>
            </a:r>
          </a:p>
          <a:p>
            <a:pPr algn="l">
              <a:lnSpc>
                <a:spcPts val="2528"/>
              </a:lnSpc>
            </a:pPr>
            <a:r>
              <a:rPr lang="en-US" sz="2873" b="true">
                <a:solidFill>
                  <a:srgbClr val="316CE3"/>
                </a:solidFill>
                <a:latin typeface="Gotham Bold"/>
                <a:ea typeface="Gotham Bold"/>
                <a:cs typeface="Gotham Bold"/>
                <a:sym typeface="Gotham Bold"/>
              </a:rPr>
              <a:t>Episodio II — El Ataque de los Graviton: Infraestructura y rendimiento</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232E3E"/>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txBody>
          <a:bodyPr/>
          <a:p/>
        </p:txBody>
      </p:sp>
      <p:sp>
        <p:nvSpPr>
          <p:cNvPr name="TextBox 3" id="3"/>
          <p:cNvSpPr txBox="true"/>
          <p:nvPr/>
        </p:nvSpPr>
        <p:spPr>
          <a:xfrm rot="0">
            <a:off x="3520440" y="868680"/>
            <a:ext cx="12070080" cy="1874519"/>
          </a:xfrm>
          <a:prstGeom prst="rect">
            <a:avLst/>
          </a:prstGeom>
        </p:spPr>
        <p:txBody>
          <a:bodyPr anchor="ctr" rtlCol="false" tIns="0" lIns="0" bIns="0" rIns="0" wrap="square">
            <a:spAutoFit/>
          </a:bodyPr>
          <a:lstStyle/>
          <a:p>
            <a:pPr algn="l" marL="0" indent="0" lvl="0">
              <a:lnSpc>
                <a:spcPts val="10481"/>
              </a:lnSpc>
              <a:spcBef>
                <a:spcPct val="0"/>
              </a:spcBef>
            </a:pPr>
            <a:r>
              <a:rPr lang="en-US" b="0" sz="5400">
                <a:solidFill>
                  <a:srgbClr val="FFFFFF"/>
                </a:solidFill>
                <a:latin typeface="Arial Black"/>
                <a:ea typeface="Arial Black"/>
                <a:cs typeface="Arial Black"/>
                <a:sym typeface="Arial Black"/>
              </a:rPr>
              <a:t>El laboratorio</a:t>
            </a:r>
          </a:p>
        </p:txBody>
      </p:sp>
      <p:sp>
        <p:nvSpPr>
          <p:cNvPr name="Freeform 4" id="4"/>
          <p:cNvSpPr/>
          <p:nvPr/>
        </p:nvSpPr>
        <p:spPr>
          <a:xfrm flipH="false" flipV="false" rot="0">
            <a:off x="536304" y="308054"/>
            <a:ext cx="650696" cy="409939"/>
          </a:xfrm>
          <a:custGeom>
            <a:avLst/>
            <a:gdLst/>
            <a:ahLst/>
            <a:cxnLst/>
            <a:rect r="r" b="b" t="t" l="l"/>
            <a:pathLst>
              <a:path h="409939" w="650696">
                <a:moveTo>
                  <a:pt x="0" y="0"/>
                </a:moveTo>
                <a:lnTo>
                  <a:pt x="650697" y="0"/>
                </a:lnTo>
                <a:lnTo>
                  <a:pt x="650697" y="409938"/>
                </a:lnTo>
                <a:lnTo>
                  <a:pt x="0" y="40993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219785" y="9070932"/>
            <a:ext cx="4151107" cy="986035"/>
            <a:chOff x="0" y="0"/>
            <a:chExt cx="5534810" cy="1314713"/>
          </a:xfrm>
        </p:grpSpPr>
        <p:sp>
          <p:nvSpPr>
            <p:cNvPr name="Freeform 6" id="6"/>
            <p:cNvSpPr/>
            <p:nvPr/>
          </p:nvSpPr>
          <p:spPr>
            <a:xfrm flipH="false" flipV="false" rot="0">
              <a:off x="0" y="0"/>
              <a:ext cx="1314713" cy="1314713"/>
            </a:xfrm>
            <a:custGeom>
              <a:avLst/>
              <a:gdLst/>
              <a:ahLst/>
              <a:cxnLst/>
              <a:rect r="r" b="b" t="t" l="l"/>
              <a:pathLst>
                <a:path h="1314713" w="1314713">
                  <a:moveTo>
                    <a:pt x="0" y="0"/>
                  </a:moveTo>
                  <a:lnTo>
                    <a:pt x="1314713" y="0"/>
                  </a:lnTo>
                  <a:lnTo>
                    <a:pt x="1314713" y="1314713"/>
                  </a:lnTo>
                  <a:lnTo>
                    <a:pt x="0" y="131471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7" id="7"/>
            <p:cNvSpPr txBox="true"/>
            <p:nvPr/>
          </p:nvSpPr>
          <p:spPr>
            <a:xfrm rot="0">
              <a:off x="1455753" y="151974"/>
              <a:ext cx="3148240" cy="462308"/>
            </a:xfrm>
            <a:prstGeom prst="rect">
              <a:avLst/>
            </a:prstGeom>
          </p:spPr>
          <p:txBody>
            <a:bodyPr anchor="t" rtlCol="false" tIns="0" lIns="0" bIns="0" rIns="0">
              <a:spAutoFit/>
            </a:bodyPr>
            <a:lstStyle/>
            <a:p>
              <a:pPr algn="l">
                <a:lnSpc>
                  <a:spcPts val="2702"/>
                </a:lnSpc>
              </a:pPr>
              <a:r>
                <a:rPr lang="en-US" b="true" sz="2252">
                  <a:solidFill>
                    <a:srgbClr val="FFFFFF"/>
                  </a:solidFill>
                  <a:latin typeface="Raleway 1 Bold"/>
                  <a:ea typeface="Raleway 1 Bold"/>
                  <a:cs typeface="Raleway 1 Bold"/>
                  <a:sym typeface="Raleway 1 Bold"/>
                </a:rPr>
                <a:t>OCTUBRE</a:t>
              </a:r>
            </a:p>
          </p:txBody>
        </p:sp>
        <p:sp>
          <p:nvSpPr>
            <p:cNvPr name="TextBox 8" id="8"/>
            <p:cNvSpPr txBox="true"/>
            <p:nvPr/>
          </p:nvSpPr>
          <p:spPr>
            <a:xfrm rot="0">
              <a:off x="1468453" y="585710"/>
              <a:ext cx="4066356" cy="565140"/>
            </a:xfrm>
            <a:prstGeom prst="rect">
              <a:avLst/>
            </a:prstGeom>
          </p:spPr>
          <p:txBody>
            <a:bodyPr anchor="t" rtlCol="false" tIns="0" lIns="0" bIns="0" rIns="0">
              <a:spAutoFit/>
            </a:bodyPr>
            <a:lstStyle/>
            <a:p>
              <a:pPr algn="l">
                <a:lnSpc>
                  <a:spcPts val="1130"/>
                </a:lnSpc>
              </a:pPr>
              <a:r>
                <a:rPr lang="en-US" sz="1097" b="true">
                  <a:solidFill>
                    <a:srgbClr val="FFFFFF"/>
                  </a:solidFill>
                  <a:latin typeface="Raleway 1 Bold"/>
                  <a:ea typeface="Raleway 1 Bold"/>
                  <a:cs typeface="Raleway 1 Bold"/>
                  <a:sym typeface="Raleway 1 Bold"/>
                </a:rPr>
                <a:t>Mes de </a:t>
              </a:r>
            </a:p>
            <a:p>
              <a:pPr algn="l">
                <a:lnSpc>
                  <a:spcPts val="2059"/>
                </a:lnSpc>
              </a:pPr>
              <a:r>
                <a:rPr lang="en-US" b="true" sz="1999">
                  <a:solidFill>
                    <a:srgbClr val="FFFFFF"/>
                  </a:solidFill>
                  <a:latin typeface="Raleway 1 Bold"/>
                  <a:ea typeface="Raleway 1 Bold"/>
                  <a:cs typeface="Raleway 1 Bold"/>
                  <a:sym typeface="Raleway 1 Bold"/>
                </a:rPr>
                <a:t>HAN SOLO</a:t>
              </a:r>
            </a:p>
          </p:txBody>
        </p:sp>
      </p:grpSp>
      <p:sp>
        <p:nvSpPr>
          <p:cNvPr name="TextBox 9" id="9"/>
          <p:cNvSpPr txBox="true"/>
          <p:nvPr/>
        </p:nvSpPr>
        <p:spPr>
          <a:xfrm rot="0">
            <a:off x="1258571" y="221658"/>
            <a:ext cx="15091730" cy="563680"/>
          </a:xfrm>
          <a:prstGeom prst="rect">
            <a:avLst/>
          </a:prstGeom>
        </p:spPr>
        <p:txBody>
          <a:bodyPr anchor="t" rtlCol="false" tIns="0" lIns="0" bIns="0" rIns="0">
            <a:spAutoFit/>
          </a:bodyPr>
          <a:lstStyle/>
          <a:p>
            <a:pPr algn="l">
              <a:lnSpc>
                <a:spcPts val="1760"/>
              </a:lnSpc>
            </a:pPr>
            <a:r>
              <a:rPr lang="en-US" sz="2000">
                <a:solidFill>
                  <a:srgbClr val="316CE3"/>
                </a:solidFill>
                <a:latin typeface="Gotham"/>
                <a:ea typeface="Gotham"/>
                <a:cs typeface="Gotham"/>
                <a:sym typeface="Gotham"/>
              </a:rPr>
              <a:t>HOY:</a:t>
            </a:r>
          </a:p>
          <a:p>
            <a:pPr algn="l">
              <a:lnSpc>
                <a:spcPts val="2528"/>
              </a:lnSpc>
            </a:pPr>
            <a:r>
              <a:rPr lang="en-US" sz="2873" b="true">
                <a:solidFill>
                  <a:srgbClr val="316CE3"/>
                </a:solidFill>
                <a:latin typeface="Gotham Bold"/>
                <a:ea typeface="Gotham Bold"/>
                <a:cs typeface="Gotham Bold"/>
                <a:sym typeface="Gotham Bold"/>
              </a:rPr>
              <a:t>Episodio II — El Ataque de los Graviton: Infraestructura y rendimiento</a:t>
            </a:r>
          </a:p>
        </p:txBody>
      </p:sp>
      <p:pic>
        <p:nvPicPr>
          <p:cNvPr id="10" name="Picture 9" descr="arquitectura-lab.png"/>
          <p:cNvPicPr>
            <a:picLocks noChangeAspect="1"/>
          </p:cNvPicPr>
          <p:nvPr/>
        </p:nvPicPr>
        <p:blipFill>
          <a:blip r:embed="rId7"/>
          <a:stretch>
            <a:fillRect/>
          </a:stretch>
        </p:blipFill>
        <p:spPr>
          <a:xfrm>
            <a:off x="2917082" y="3246120"/>
            <a:ext cx="10259274" cy="5257800"/>
          </a:xfrm>
          <a:prstGeom prst="rect">
            <a:avLst/>
          </a:prstGeom>
        </p:spPr>
      </p:pic>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232E3E"/>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txBody>
          <a:bodyPr/>
          <a:p/>
        </p:txBody>
      </p:sp>
      <p:sp>
        <p:nvSpPr>
          <p:cNvPr name="TextBox 3" id="3"/>
          <p:cNvSpPr txBox="true"/>
          <p:nvPr/>
        </p:nvSpPr>
        <p:spPr>
          <a:xfrm rot="0">
            <a:off x="3520440" y="868680"/>
            <a:ext cx="12070080" cy="1874519"/>
          </a:xfrm>
          <a:prstGeom prst="rect">
            <a:avLst/>
          </a:prstGeom>
        </p:spPr>
        <p:txBody>
          <a:bodyPr anchor="ctr" rtlCol="false" tIns="0" lIns="0" bIns="0" rIns="0" wrap="square">
            <a:spAutoFit/>
          </a:bodyPr>
          <a:lstStyle/>
          <a:p>
            <a:pPr algn="l" marL="0" indent="0" lvl="0">
              <a:lnSpc>
                <a:spcPts val="10481"/>
              </a:lnSpc>
              <a:spcBef>
                <a:spcPct val="0"/>
              </a:spcBef>
            </a:pPr>
            <a:r>
              <a:rPr lang="en-US" b="0" sz="5400">
                <a:solidFill>
                  <a:srgbClr val="FFFFFF"/>
                </a:solidFill>
                <a:latin typeface="Arial Black"/>
                <a:ea typeface="Arial Black"/>
                <a:cs typeface="Arial Black"/>
                <a:sym typeface="Arial Black"/>
              </a:rPr>
              <a:t>Una comparación justa</a:t>
            </a:r>
          </a:p>
        </p:txBody>
      </p:sp>
      <p:sp>
        <p:nvSpPr>
          <p:cNvPr name="Freeform 4" id="4"/>
          <p:cNvSpPr/>
          <p:nvPr/>
        </p:nvSpPr>
        <p:spPr>
          <a:xfrm flipH="false" flipV="false" rot="0">
            <a:off x="536304" y="308054"/>
            <a:ext cx="650696" cy="409939"/>
          </a:xfrm>
          <a:custGeom>
            <a:avLst/>
            <a:gdLst/>
            <a:ahLst/>
            <a:cxnLst/>
            <a:rect r="r" b="b" t="t" l="l"/>
            <a:pathLst>
              <a:path h="409939" w="650696">
                <a:moveTo>
                  <a:pt x="0" y="0"/>
                </a:moveTo>
                <a:lnTo>
                  <a:pt x="650697" y="0"/>
                </a:lnTo>
                <a:lnTo>
                  <a:pt x="650697" y="409938"/>
                </a:lnTo>
                <a:lnTo>
                  <a:pt x="0" y="40993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219785" y="9070932"/>
            <a:ext cx="4151107" cy="986035"/>
            <a:chOff x="0" y="0"/>
            <a:chExt cx="5534810" cy="1314713"/>
          </a:xfrm>
        </p:grpSpPr>
        <p:sp>
          <p:nvSpPr>
            <p:cNvPr name="Freeform 6" id="6"/>
            <p:cNvSpPr/>
            <p:nvPr/>
          </p:nvSpPr>
          <p:spPr>
            <a:xfrm flipH="false" flipV="false" rot="0">
              <a:off x="0" y="0"/>
              <a:ext cx="1314713" cy="1314713"/>
            </a:xfrm>
            <a:custGeom>
              <a:avLst/>
              <a:gdLst/>
              <a:ahLst/>
              <a:cxnLst/>
              <a:rect r="r" b="b" t="t" l="l"/>
              <a:pathLst>
                <a:path h="1314713" w="1314713">
                  <a:moveTo>
                    <a:pt x="0" y="0"/>
                  </a:moveTo>
                  <a:lnTo>
                    <a:pt x="1314713" y="0"/>
                  </a:lnTo>
                  <a:lnTo>
                    <a:pt x="1314713" y="1314713"/>
                  </a:lnTo>
                  <a:lnTo>
                    <a:pt x="0" y="131471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7" id="7"/>
            <p:cNvSpPr txBox="true"/>
            <p:nvPr/>
          </p:nvSpPr>
          <p:spPr>
            <a:xfrm rot="0">
              <a:off x="1455753" y="151974"/>
              <a:ext cx="3148240" cy="462308"/>
            </a:xfrm>
            <a:prstGeom prst="rect">
              <a:avLst/>
            </a:prstGeom>
          </p:spPr>
          <p:txBody>
            <a:bodyPr anchor="t" rtlCol="false" tIns="0" lIns="0" bIns="0" rIns="0">
              <a:spAutoFit/>
            </a:bodyPr>
            <a:lstStyle/>
            <a:p>
              <a:pPr algn="l">
                <a:lnSpc>
                  <a:spcPts val="2702"/>
                </a:lnSpc>
              </a:pPr>
              <a:r>
                <a:rPr lang="en-US" b="true" sz="2252">
                  <a:solidFill>
                    <a:srgbClr val="FFFFFF"/>
                  </a:solidFill>
                  <a:latin typeface="Raleway 1 Bold"/>
                  <a:ea typeface="Raleway 1 Bold"/>
                  <a:cs typeface="Raleway 1 Bold"/>
                  <a:sym typeface="Raleway 1 Bold"/>
                </a:rPr>
                <a:t>OCTUBRE</a:t>
              </a:r>
            </a:p>
          </p:txBody>
        </p:sp>
        <p:sp>
          <p:nvSpPr>
            <p:cNvPr name="TextBox 8" id="8"/>
            <p:cNvSpPr txBox="true"/>
            <p:nvPr/>
          </p:nvSpPr>
          <p:spPr>
            <a:xfrm rot="0">
              <a:off x="1468453" y="585710"/>
              <a:ext cx="4066356" cy="565140"/>
            </a:xfrm>
            <a:prstGeom prst="rect">
              <a:avLst/>
            </a:prstGeom>
          </p:spPr>
          <p:txBody>
            <a:bodyPr anchor="t" rtlCol="false" tIns="0" lIns="0" bIns="0" rIns="0">
              <a:spAutoFit/>
            </a:bodyPr>
            <a:lstStyle/>
            <a:p>
              <a:pPr algn="l">
                <a:lnSpc>
                  <a:spcPts val="1130"/>
                </a:lnSpc>
              </a:pPr>
              <a:r>
                <a:rPr lang="en-US" sz="1097" b="true">
                  <a:solidFill>
                    <a:srgbClr val="FFFFFF"/>
                  </a:solidFill>
                  <a:latin typeface="Raleway 1 Bold"/>
                  <a:ea typeface="Raleway 1 Bold"/>
                  <a:cs typeface="Raleway 1 Bold"/>
                  <a:sym typeface="Raleway 1 Bold"/>
                </a:rPr>
                <a:t>Mes de </a:t>
              </a:r>
            </a:p>
            <a:p>
              <a:pPr algn="l">
                <a:lnSpc>
                  <a:spcPts val="2059"/>
                </a:lnSpc>
              </a:pPr>
              <a:r>
                <a:rPr lang="en-US" b="true" sz="1999">
                  <a:solidFill>
                    <a:srgbClr val="FFFFFF"/>
                  </a:solidFill>
                  <a:latin typeface="Raleway 1 Bold"/>
                  <a:ea typeface="Raleway 1 Bold"/>
                  <a:cs typeface="Raleway 1 Bold"/>
                  <a:sym typeface="Raleway 1 Bold"/>
                </a:rPr>
                <a:t>HAN SOLO</a:t>
              </a:r>
            </a:p>
          </p:txBody>
        </p:sp>
      </p:grpSp>
      <p:sp>
        <p:nvSpPr>
          <p:cNvPr name="TextBox 9" id="9"/>
          <p:cNvSpPr txBox="true"/>
          <p:nvPr/>
        </p:nvSpPr>
        <p:spPr>
          <a:xfrm rot="0">
            <a:off x="1258571" y="221658"/>
            <a:ext cx="15091730" cy="563680"/>
          </a:xfrm>
          <a:prstGeom prst="rect">
            <a:avLst/>
          </a:prstGeom>
        </p:spPr>
        <p:txBody>
          <a:bodyPr anchor="t" rtlCol="false" tIns="0" lIns="0" bIns="0" rIns="0">
            <a:spAutoFit/>
          </a:bodyPr>
          <a:lstStyle/>
          <a:p>
            <a:pPr algn="l">
              <a:lnSpc>
                <a:spcPts val="1760"/>
              </a:lnSpc>
            </a:pPr>
            <a:r>
              <a:rPr lang="en-US" sz="2000">
                <a:solidFill>
                  <a:srgbClr val="316CE3"/>
                </a:solidFill>
                <a:latin typeface="Gotham"/>
                <a:ea typeface="Gotham"/>
                <a:cs typeface="Gotham"/>
                <a:sym typeface="Gotham"/>
              </a:rPr>
              <a:t>HOY:</a:t>
            </a:r>
          </a:p>
          <a:p>
            <a:pPr algn="l">
              <a:lnSpc>
                <a:spcPts val="2528"/>
              </a:lnSpc>
            </a:pPr>
            <a:r>
              <a:rPr lang="en-US" sz="2873" b="true">
                <a:solidFill>
                  <a:srgbClr val="316CE3"/>
                </a:solidFill>
                <a:latin typeface="Gotham Bold"/>
                <a:ea typeface="Gotham Bold"/>
                <a:cs typeface="Gotham Bold"/>
                <a:sym typeface="Gotham Bold"/>
              </a:rPr>
              <a:t>Episodio II — El Ataque de los Graviton: Infraestructura y rendimiento</a:t>
            </a:r>
          </a:p>
        </p:txBody>
      </p:sp>
      <p:sp>
        <p:nvSpPr>
          <p:cNvPr id="10" name="TextBox 9"/>
          <p:cNvSpPr txBox="1"/>
          <p:nvPr/>
        </p:nvSpPr>
        <p:spPr>
          <a:xfrm>
            <a:off x="914400" y="3200400"/>
            <a:ext cx="13898880" cy="5303520"/>
          </a:xfrm>
          <a:prstGeom prst="rect">
            <a:avLst/>
          </a:prstGeom>
          <a:noFill/>
        </p:spPr>
        <p:txBody>
          <a:bodyPr wrap="square" anchor="t" lIns="0" rIns="0" tIns="0" bIns="0">
            <a:spAutoFit/>
          </a:bodyPr>
          <a:lstStyle/>
          <a:p>
            <a:pPr algn="l" marL="347472" indent="-347472">
              <a:spcAft>
                <a:spcPts val="2000"/>
              </a:spcAft>
              <a:buChar char="•"/>
            </a:pPr>
            <a:r>
              <a:rPr sz="2500" b="0">
                <a:solidFill>
                  <a:srgbClr val="D9E2EC"/>
                </a:solidFill>
                <a:latin typeface="Arial"/>
              </a:rPr>
              <a:t>Los dos clústeres arrancan del mismo snapshot y con la misma versión de Redshift (1.0.434008)</a:t>
            </a:r>
          </a:p>
          <a:p>
            <a:pPr algn="l" marL="347472" indent="-347472">
              <a:spcAft>
                <a:spcPts val="2000"/>
              </a:spcAft>
              <a:buChar char="•"/>
            </a:pPr>
            <a:r>
              <a:rPr sz="2500" b="0">
                <a:solidFill>
                  <a:srgbClr val="D9E2EC"/>
                </a:solidFill>
                <a:latin typeface="Arial"/>
              </a:rPr>
              <a:t>Sin caché de resultados y sin escalado automático de concurrencia</a:t>
            </a:r>
          </a:p>
          <a:p>
            <a:pPr algn="l" marL="347472" indent="-347472">
              <a:spcAft>
                <a:spcPts val="2000"/>
              </a:spcAft>
              <a:buChar char="•"/>
            </a:pPr>
            <a:r>
              <a:rPr sz="2500" b="0">
                <a:solidFill>
                  <a:srgbClr val="D9E2EC"/>
                </a:solidFill>
                <a:latin typeface="Arial"/>
              </a:rPr>
              <a:t>Los tiempos los mide Redshift (SYS_QUERY_HISTORY), no mi computadora</a:t>
            </a:r>
          </a:p>
          <a:p>
            <a:pPr algn="l" marL="347472" indent="-347472">
              <a:spcAft>
                <a:spcPts val="2000"/>
              </a:spcAft>
              <a:buChar char="•"/>
            </a:pPr>
            <a:r>
              <a:rPr sz="2500" b="0">
                <a:solidFill>
                  <a:srgbClr val="D9E2EC"/>
                </a:solidFill>
                <a:latin typeface="Arial"/>
              </a:rPr>
              <a:t>Cada consulta se repite tres veces: la primera no cuenta y nos quedamos con la mediana</a:t>
            </a:r>
          </a:p>
          <a:p>
            <a:pPr algn="l" marL="347472" indent="-347472">
              <a:spcAft>
                <a:spcPts val="2000"/>
              </a:spcAft>
              <a:buChar char="•"/>
            </a:pPr>
            <a:r>
              <a:rPr sz="2500" b="1">
                <a:solidFill>
                  <a:srgbClr val="D9E2EC"/>
                </a:solidFill>
                <a:latin typeface="Arial"/>
              </a:rPr>
              <a:t>Si alguna consulta usa la caché, la prueba entera se descarta. En este laboratorio no se descartó ninguna.</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232E3E"/>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txBody>
          <a:bodyPr/>
          <a:p/>
        </p:txBody>
      </p:sp>
      <p:sp>
        <p:nvSpPr>
          <p:cNvPr name="TextBox 3" id="3"/>
          <p:cNvSpPr txBox="true"/>
          <p:nvPr/>
        </p:nvSpPr>
        <p:spPr>
          <a:xfrm rot="0">
            <a:off x="3520440" y="868680"/>
            <a:ext cx="12070080" cy="1874519"/>
          </a:xfrm>
          <a:prstGeom prst="rect">
            <a:avLst/>
          </a:prstGeom>
        </p:spPr>
        <p:txBody>
          <a:bodyPr anchor="ctr" rtlCol="false" tIns="0" lIns="0" bIns="0" rIns="0" wrap="square">
            <a:spAutoFit/>
          </a:bodyPr>
          <a:lstStyle/>
          <a:p>
            <a:pPr algn="l" marL="0" indent="0" lvl="0">
              <a:lnSpc>
                <a:spcPts val="10481"/>
              </a:lnSpc>
              <a:spcBef>
                <a:spcPct val="0"/>
              </a:spcBef>
            </a:pPr>
            <a:r>
              <a:rPr lang="en-US" b="0" sz="5400">
                <a:solidFill>
                  <a:srgbClr val="FFFFFF"/>
                </a:solidFill>
                <a:latin typeface="Arial Black"/>
                <a:ea typeface="Arial Black"/>
                <a:cs typeface="Arial Black"/>
                <a:sym typeface="Arial Black"/>
              </a:rPr>
              <a:t>Lo que no probamos</a:t>
            </a:r>
          </a:p>
        </p:txBody>
      </p:sp>
      <p:sp>
        <p:nvSpPr>
          <p:cNvPr name="Freeform 4" id="4"/>
          <p:cNvSpPr/>
          <p:nvPr/>
        </p:nvSpPr>
        <p:spPr>
          <a:xfrm flipH="false" flipV="false" rot="0">
            <a:off x="536304" y="308054"/>
            <a:ext cx="650696" cy="409939"/>
          </a:xfrm>
          <a:custGeom>
            <a:avLst/>
            <a:gdLst/>
            <a:ahLst/>
            <a:cxnLst/>
            <a:rect r="r" b="b" t="t" l="l"/>
            <a:pathLst>
              <a:path h="409939" w="650696">
                <a:moveTo>
                  <a:pt x="0" y="0"/>
                </a:moveTo>
                <a:lnTo>
                  <a:pt x="650697" y="0"/>
                </a:lnTo>
                <a:lnTo>
                  <a:pt x="650697" y="409938"/>
                </a:lnTo>
                <a:lnTo>
                  <a:pt x="0" y="40993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219785" y="9070932"/>
            <a:ext cx="4151107" cy="986035"/>
            <a:chOff x="0" y="0"/>
            <a:chExt cx="5534810" cy="1314713"/>
          </a:xfrm>
        </p:grpSpPr>
        <p:sp>
          <p:nvSpPr>
            <p:cNvPr name="Freeform 6" id="6"/>
            <p:cNvSpPr/>
            <p:nvPr/>
          </p:nvSpPr>
          <p:spPr>
            <a:xfrm flipH="false" flipV="false" rot="0">
              <a:off x="0" y="0"/>
              <a:ext cx="1314713" cy="1314713"/>
            </a:xfrm>
            <a:custGeom>
              <a:avLst/>
              <a:gdLst/>
              <a:ahLst/>
              <a:cxnLst/>
              <a:rect r="r" b="b" t="t" l="l"/>
              <a:pathLst>
                <a:path h="1314713" w="1314713">
                  <a:moveTo>
                    <a:pt x="0" y="0"/>
                  </a:moveTo>
                  <a:lnTo>
                    <a:pt x="1314713" y="0"/>
                  </a:lnTo>
                  <a:lnTo>
                    <a:pt x="1314713" y="1314713"/>
                  </a:lnTo>
                  <a:lnTo>
                    <a:pt x="0" y="131471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7" id="7"/>
            <p:cNvSpPr txBox="true"/>
            <p:nvPr/>
          </p:nvSpPr>
          <p:spPr>
            <a:xfrm rot="0">
              <a:off x="1455753" y="151974"/>
              <a:ext cx="3148240" cy="462308"/>
            </a:xfrm>
            <a:prstGeom prst="rect">
              <a:avLst/>
            </a:prstGeom>
          </p:spPr>
          <p:txBody>
            <a:bodyPr anchor="t" rtlCol="false" tIns="0" lIns="0" bIns="0" rIns="0">
              <a:spAutoFit/>
            </a:bodyPr>
            <a:lstStyle/>
            <a:p>
              <a:pPr algn="l">
                <a:lnSpc>
                  <a:spcPts val="2702"/>
                </a:lnSpc>
              </a:pPr>
              <a:r>
                <a:rPr lang="en-US" b="true" sz="2252">
                  <a:solidFill>
                    <a:srgbClr val="FFFFFF"/>
                  </a:solidFill>
                  <a:latin typeface="Raleway 1 Bold"/>
                  <a:ea typeface="Raleway 1 Bold"/>
                  <a:cs typeface="Raleway 1 Bold"/>
                  <a:sym typeface="Raleway 1 Bold"/>
                </a:rPr>
                <a:t>OCTUBRE</a:t>
              </a:r>
            </a:p>
          </p:txBody>
        </p:sp>
        <p:sp>
          <p:nvSpPr>
            <p:cNvPr name="TextBox 8" id="8"/>
            <p:cNvSpPr txBox="true"/>
            <p:nvPr/>
          </p:nvSpPr>
          <p:spPr>
            <a:xfrm rot="0">
              <a:off x="1468453" y="585710"/>
              <a:ext cx="4066356" cy="565140"/>
            </a:xfrm>
            <a:prstGeom prst="rect">
              <a:avLst/>
            </a:prstGeom>
          </p:spPr>
          <p:txBody>
            <a:bodyPr anchor="t" rtlCol="false" tIns="0" lIns="0" bIns="0" rIns="0">
              <a:spAutoFit/>
            </a:bodyPr>
            <a:lstStyle/>
            <a:p>
              <a:pPr algn="l">
                <a:lnSpc>
                  <a:spcPts val="1130"/>
                </a:lnSpc>
              </a:pPr>
              <a:r>
                <a:rPr lang="en-US" sz="1097" b="true">
                  <a:solidFill>
                    <a:srgbClr val="FFFFFF"/>
                  </a:solidFill>
                  <a:latin typeface="Raleway 1 Bold"/>
                  <a:ea typeface="Raleway 1 Bold"/>
                  <a:cs typeface="Raleway 1 Bold"/>
                  <a:sym typeface="Raleway 1 Bold"/>
                </a:rPr>
                <a:t>Mes de </a:t>
              </a:r>
            </a:p>
            <a:p>
              <a:pPr algn="l">
                <a:lnSpc>
                  <a:spcPts val="2059"/>
                </a:lnSpc>
              </a:pPr>
              <a:r>
                <a:rPr lang="en-US" b="true" sz="1999">
                  <a:solidFill>
                    <a:srgbClr val="FFFFFF"/>
                  </a:solidFill>
                  <a:latin typeface="Raleway 1 Bold"/>
                  <a:ea typeface="Raleway 1 Bold"/>
                  <a:cs typeface="Raleway 1 Bold"/>
                  <a:sym typeface="Raleway 1 Bold"/>
                </a:rPr>
                <a:t>HAN SOLO</a:t>
              </a:r>
            </a:p>
          </p:txBody>
        </p:sp>
      </p:grpSp>
      <p:sp>
        <p:nvSpPr>
          <p:cNvPr name="TextBox 9" id="9"/>
          <p:cNvSpPr txBox="true"/>
          <p:nvPr/>
        </p:nvSpPr>
        <p:spPr>
          <a:xfrm rot="0">
            <a:off x="1258571" y="221658"/>
            <a:ext cx="15091730" cy="563680"/>
          </a:xfrm>
          <a:prstGeom prst="rect">
            <a:avLst/>
          </a:prstGeom>
        </p:spPr>
        <p:txBody>
          <a:bodyPr anchor="t" rtlCol="false" tIns="0" lIns="0" bIns="0" rIns="0">
            <a:spAutoFit/>
          </a:bodyPr>
          <a:lstStyle/>
          <a:p>
            <a:pPr algn="l">
              <a:lnSpc>
                <a:spcPts val="1760"/>
              </a:lnSpc>
            </a:pPr>
            <a:r>
              <a:rPr lang="en-US" sz="2000">
                <a:solidFill>
                  <a:srgbClr val="316CE3"/>
                </a:solidFill>
                <a:latin typeface="Gotham"/>
                <a:ea typeface="Gotham"/>
                <a:cs typeface="Gotham"/>
                <a:sym typeface="Gotham"/>
              </a:rPr>
              <a:t>HOY:</a:t>
            </a:r>
          </a:p>
          <a:p>
            <a:pPr algn="l">
              <a:lnSpc>
                <a:spcPts val="2528"/>
              </a:lnSpc>
            </a:pPr>
            <a:r>
              <a:rPr lang="en-US" sz="2873" b="true">
                <a:solidFill>
                  <a:srgbClr val="316CE3"/>
                </a:solidFill>
                <a:latin typeface="Gotham Bold"/>
                <a:ea typeface="Gotham Bold"/>
                <a:cs typeface="Gotham Bold"/>
                <a:sym typeface="Gotham Bold"/>
              </a:rPr>
              <a:t>Episodio II — El Ataque de los Graviton: Infraestructura y rendimiento</a:t>
            </a:r>
          </a:p>
        </p:txBody>
      </p:sp>
      <p:sp>
        <p:nvSpPr>
          <p:cNvPr id="10" name="Rounded Rectangle 9"/>
          <p:cNvSpPr/>
          <p:nvPr/>
        </p:nvSpPr>
        <p:spPr>
          <a:xfrm>
            <a:off x="914400" y="3200400"/>
            <a:ext cx="6903720" cy="2423160"/>
          </a:xfrm>
          <a:prstGeom prst="roundRect">
            <a:avLst>
              <a:gd name="adj" fmla="val 8000"/>
            </a:avLst>
          </a:prstGeom>
          <a:solidFill>
            <a:srgbClr val="2F3D5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228600" bIns="228600"/>
          <a:lstStyle/>
          <a:p>
            <a:pPr algn="ctr">
              <a:spcAft>
                <a:spcPts val="800"/>
              </a:spcAft>
            </a:pPr>
            <a:r>
              <a:rPr sz="2600" b="1">
                <a:solidFill>
                  <a:srgbClr val="F2A65A"/>
                </a:solidFill>
                <a:latin typeface="Arial"/>
              </a:rPr>
              <a:t>100 GB, no 10 TB</a:t>
            </a:r>
          </a:p>
          <a:p>
            <a:pPr>
              <a:spcAft>
                <a:spcPts val="600"/>
              </a:spcAft>
            </a:pPr>
            <a:r>
              <a:rPr sz="2200" b="0">
                <a:solidFill>
                  <a:srgbClr val="D9E2EC"/>
                </a:solidFill>
                <a:latin typeface="Arial"/>
              </a:rPr>
              <a:t>Con pocos datos, el costo fijo de cada consulta pesa más</a:t>
            </a:r>
          </a:p>
        </p:txBody>
      </p:sp>
      <p:sp>
        <p:nvSpPr>
          <p:cNvPr id="11" name="Rounded Rectangle 10"/>
          <p:cNvSpPr/>
          <p:nvPr/>
        </p:nvSpPr>
        <p:spPr>
          <a:xfrm>
            <a:off x="8092440" y="3200400"/>
            <a:ext cx="6903720" cy="2423160"/>
          </a:xfrm>
          <a:prstGeom prst="roundRect">
            <a:avLst>
              <a:gd name="adj" fmla="val 8000"/>
            </a:avLst>
          </a:prstGeom>
          <a:solidFill>
            <a:srgbClr val="2F3D5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228600" bIns="228600"/>
          <a:lstStyle/>
          <a:p>
            <a:pPr algn="ctr">
              <a:spcAft>
                <a:spcPts val="800"/>
              </a:spcAft>
            </a:pPr>
            <a:r>
              <a:rPr sz="2600" b="1">
                <a:solidFill>
                  <a:srgbClr val="F2A65A"/>
                </a:solidFill>
                <a:latin typeface="Arial"/>
              </a:rPr>
              <a:t>Solo el tamaño xlarge</a:t>
            </a:r>
          </a:p>
          <a:p>
            <a:pPr>
              <a:spcAft>
                <a:spcPts val="600"/>
              </a:spcAft>
            </a:pPr>
            <a:r>
              <a:rPr sz="2200" b="0">
                <a:solidFill>
                  <a:srgbClr val="D9E2EC"/>
                </a:solidFill>
                <a:latin typeface="Arial"/>
              </a:rPr>
              <a:t>No probamos 4xlarge ni 12xlarge</a:t>
            </a:r>
          </a:p>
        </p:txBody>
      </p:sp>
      <p:sp>
        <p:nvSpPr>
          <p:cNvPr id="12" name="Rounded Rectangle 11"/>
          <p:cNvSpPr/>
          <p:nvPr/>
        </p:nvSpPr>
        <p:spPr>
          <a:xfrm>
            <a:off x="914400" y="5897880"/>
            <a:ext cx="6903720" cy="2423160"/>
          </a:xfrm>
          <a:prstGeom prst="roundRect">
            <a:avLst>
              <a:gd name="adj" fmla="val 8000"/>
            </a:avLst>
          </a:prstGeom>
          <a:solidFill>
            <a:srgbClr val="2F3D5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228600" bIns="228600"/>
          <a:lstStyle/>
          <a:p>
            <a:pPr algn="ctr">
              <a:spcAft>
                <a:spcPts val="800"/>
              </a:spcAft>
            </a:pPr>
            <a:r>
              <a:rPr sz="2600" b="1">
                <a:solidFill>
                  <a:srgbClr val="F2A65A"/>
                </a:solidFill>
                <a:latin typeface="Arial"/>
              </a:rPr>
              <a:t>Serverless solo a 4 RPU</a:t>
            </a:r>
          </a:p>
          <a:p>
            <a:pPr>
              <a:spcAft>
                <a:spcPts val="600"/>
              </a:spcAft>
            </a:pPr>
            <a:r>
              <a:rPr sz="2200" b="0">
                <a:solidFill>
                  <a:srgbClr val="D9E2EC"/>
                </a:solidFill>
                <a:latin typeface="Arial"/>
              </a:rPr>
              <a:t>Capacidad fija para comparar; no probamos cómo escala</a:t>
            </a:r>
          </a:p>
        </p:txBody>
      </p:sp>
      <p:sp>
        <p:nvSpPr>
          <p:cNvPr id="13" name="Rounded Rectangle 12"/>
          <p:cNvSpPr/>
          <p:nvPr/>
        </p:nvSpPr>
        <p:spPr>
          <a:xfrm>
            <a:off x="8092440" y="5897880"/>
            <a:ext cx="6903720" cy="2423160"/>
          </a:xfrm>
          <a:prstGeom prst="roundRect">
            <a:avLst>
              <a:gd name="adj" fmla="val 8000"/>
            </a:avLst>
          </a:prstGeom>
          <a:solidFill>
            <a:srgbClr val="2F3D5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228600" bIns="228600"/>
          <a:lstStyle/>
          <a:p>
            <a:pPr algn="ctr">
              <a:spcAft>
                <a:spcPts val="800"/>
              </a:spcAft>
            </a:pPr>
            <a:r>
              <a:rPr sz="2600" b="1">
                <a:solidFill>
                  <a:srgbClr val="F2A65A"/>
                </a:solidFill>
                <a:latin typeface="Arial"/>
              </a:rPr>
              <a:t>S3 Tables</a:t>
            </a:r>
          </a:p>
          <a:p>
            <a:pPr>
              <a:spcAft>
                <a:spcPts val="600"/>
              </a:spcAft>
            </a:pPr>
            <a:r>
              <a:rPr sz="2200" b="0">
                <a:solidFill>
                  <a:srgbClr val="D9E2EC"/>
                </a:solidFill>
                <a:latin typeface="Arial"/>
              </a:rPr>
              <a:t>No lo pudimos probar; más adelante les cuento por qué</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232E3E"/>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txBody>
          <a:bodyPr/>
          <a:p/>
        </p:txBody>
      </p:sp>
      <p:sp>
        <p:nvSpPr>
          <p:cNvPr name="TextBox 3" id="3"/>
          <p:cNvSpPr txBox="true"/>
          <p:nvPr/>
        </p:nvSpPr>
        <p:spPr>
          <a:xfrm rot="0">
            <a:off x="3444099" y="3763913"/>
            <a:ext cx="13438018" cy="2238374"/>
          </a:xfrm>
          <a:prstGeom prst="rect">
            <a:avLst/>
          </a:prstGeom>
        </p:spPr>
        <p:txBody>
          <a:bodyPr anchor="t" rtlCol="false" tIns="0" lIns="0" bIns="0" rIns="0">
            <a:spAutoFit/>
          </a:bodyPr>
          <a:lstStyle/>
          <a:p>
            <a:pPr algn="l">
              <a:lnSpc>
                <a:spcPts val="8399"/>
              </a:lnSpc>
            </a:pPr>
            <a:r>
              <a:rPr lang="en-US" b="0" sz="8800">
                <a:solidFill>
                  <a:srgbClr val="FFFFFF"/>
                </a:solidFill>
                <a:latin typeface="Arial Black"/>
                <a:ea typeface="Arial Black"/>
                <a:cs typeface="Arial Black"/>
                <a:sym typeface="Arial Black"/>
              </a:rPr>
              <a:t>WAREHOUSE</a:t>
            </a:r>
          </a:p>
          <a:p>
            <a:pPr algn="l" marL="0" indent="0" lvl="0">
              <a:lnSpc>
                <a:spcPts val="8399"/>
              </a:lnSpc>
            </a:pPr>
            <a:r>
              <a:rPr lang="en-US" b="0" sz="8800">
                <a:solidFill>
                  <a:srgbClr val="FFFFFF"/>
                </a:solidFill>
                <a:latin typeface="Arial Black"/>
                <a:ea typeface="Arial Black"/>
                <a:cs typeface="Arial Black"/>
                <a:sym typeface="Arial Black"/>
              </a:rPr>
              <a:t/>
            </a:r>
          </a:p>
        </p:txBody>
      </p:sp>
      <p:sp>
        <p:nvSpPr>
          <p:cNvPr name="Freeform 4" id="4"/>
          <p:cNvSpPr/>
          <p:nvPr/>
        </p:nvSpPr>
        <p:spPr>
          <a:xfrm flipH="false" flipV="false" rot="0">
            <a:off x="536304" y="308054"/>
            <a:ext cx="650696" cy="409939"/>
          </a:xfrm>
          <a:custGeom>
            <a:avLst/>
            <a:gdLst/>
            <a:ahLst/>
            <a:cxnLst/>
            <a:rect r="r" b="b" t="t" l="l"/>
            <a:pathLst>
              <a:path h="409939" w="650696">
                <a:moveTo>
                  <a:pt x="0" y="0"/>
                </a:moveTo>
                <a:lnTo>
                  <a:pt x="650697" y="0"/>
                </a:lnTo>
                <a:lnTo>
                  <a:pt x="650697" y="409938"/>
                </a:lnTo>
                <a:lnTo>
                  <a:pt x="0" y="40993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219785" y="9070932"/>
            <a:ext cx="4151107" cy="986035"/>
            <a:chOff x="0" y="0"/>
            <a:chExt cx="5534810" cy="1314713"/>
          </a:xfrm>
        </p:grpSpPr>
        <p:sp>
          <p:nvSpPr>
            <p:cNvPr name="Freeform 6" id="6"/>
            <p:cNvSpPr/>
            <p:nvPr/>
          </p:nvSpPr>
          <p:spPr>
            <a:xfrm flipH="false" flipV="false" rot="0">
              <a:off x="0" y="0"/>
              <a:ext cx="1314713" cy="1314713"/>
            </a:xfrm>
            <a:custGeom>
              <a:avLst/>
              <a:gdLst/>
              <a:ahLst/>
              <a:cxnLst/>
              <a:rect r="r" b="b" t="t" l="l"/>
              <a:pathLst>
                <a:path h="1314713" w="1314713">
                  <a:moveTo>
                    <a:pt x="0" y="0"/>
                  </a:moveTo>
                  <a:lnTo>
                    <a:pt x="1314713" y="0"/>
                  </a:lnTo>
                  <a:lnTo>
                    <a:pt x="1314713" y="1314713"/>
                  </a:lnTo>
                  <a:lnTo>
                    <a:pt x="0" y="131471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7" id="7"/>
            <p:cNvSpPr txBox="true"/>
            <p:nvPr/>
          </p:nvSpPr>
          <p:spPr>
            <a:xfrm rot="0">
              <a:off x="1455753" y="151974"/>
              <a:ext cx="3148240" cy="462308"/>
            </a:xfrm>
            <a:prstGeom prst="rect">
              <a:avLst/>
            </a:prstGeom>
          </p:spPr>
          <p:txBody>
            <a:bodyPr anchor="t" rtlCol="false" tIns="0" lIns="0" bIns="0" rIns="0">
              <a:spAutoFit/>
            </a:bodyPr>
            <a:lstStyle/>
            <a:p>
              <a:pPr algn="l">
                <a:lnSpc>
                  <a:spcPts val="2702"/>
                </a:lnSpc>
              </a:pPr>
              <a:r>
                <a:rPr lang="en-US" b="true" sz="2252">
                  <a:solidFill>
                    <a:srgbClr val="FFFFFF"/>
                  </a:solidFill>
                  <a:latin typeface="Raleway 1 Bold"/>
                  <a:ea typeface="Raleway 1 Bold"/>
                  <a:cs typeface="Raleway 1 Bold"/>
                  <a:sym typeface="Raleway 1 Bold"/>
                </a:rPr>
                <a:t>OCTUBRE</a:t>
              </a:r>
            </a:p>
          </p:txBody>
        </p:sp>
        <p:sp>
          <p:nvSpPr>
            <p:cNvPr name="TextBox 8" id="8"/>
            <p:cNvSpPr txBox="true"/>
            <p:nvPr/>
          </p:nvSpPr>
          <p:spPr>
            <a:xfrm rot="0">
              <a:off x="1468453" y="585710"/>
              <a:ext cx="4066356" cy="565140"/>
            </a:xfrm>
            <a:prstGeom prst="rect">
              <a:avLst/>
            </a:prstGeom>
          </p:spPr>
          <p:txBody>
            <a:bodyPr anchor="t" rtlCol="false" tIns="0" lIns="0" bIns="0" rIns="0">
              <a:spAutoFit/>
            </a:bodyPr>
            <a:lstStyle/>
            <a:p>
              <a:pPr algn="l">
                <a:lnSpc>
                  <a:spcPts val="1130"/>
                </a:lnSpc>
              </a:pPr>
              <a:r>
                <a:rPr lang="en-US" sz="1097" b="true">
                  <a:solidFill>
                    <a:srgbClr val="FFFFFF"/>
                  </a:solidFill>
                  <a:latin typeface="Raleway 1 Bold"/>
                  <a:ea typeface="Raleway 1 Bold"/>
                  <a:cs typeface="Raleway 1 Bold"/>
                  <a:sym typeface="Raleway 1 Bold"/>
                </a:rPr>
                <a:t>Mes de </a:t>
              </a:r>
            </a:p>
            <a:p>
              <a:pPr algn="l">
                <a:lnSpc>
                  <a:spcPts val="2059"/>
                </a:lnSpc>
              </a:pPr>
              <a:r>
                <a:rPr lang="en-US" b="true" sz="1999">
                  <a:solidFill>
                    <a:srgbClr val="FFFFFF"/>
                  </a:solidFill>
                  <a:latin typeface="Raleway 1 Bold"/>
                  <a:ea typeface="Raleway 1 Bold"/>
                  <a:cs typeface="Raleway 1 Bold"/>
                  <a:sym typeface="Raleway 1 Bold"/>
                </a:rPr>
                <a:t>HAN SOLO</a:t>
              </a:r>
            </a:p>
          </p:txBody>
        </p:sp>
      </p:grpSp>
      <p:sp>
        <p:nvSpPr>
          <p:cNvPr name="TextBox 9" id="9"/>
          <p:cNvSpPr txBox="true"/>
          <p:nvPr/>
        </p:nvSpPr>
        <p:spPr>
          <a:xfrm rot="0">
            <a:off x="1258571" y="221658"/>
            <a:ext cx="15091730" cy="563680"/>
          </a:xfrm>
          <a:prstGeom prst="rect">
            <a:avLst/>
          </a:prstGeom>
        </p:spPr>
        <p:txBody>
          <a:bodyPr anchor="t" rtlCol="false" tIns="0" lIns="0" bIns="0" rIns="0">
            <a:spAutoFit/>
          </a:bodyPr>
          <a:lstStyle/>
          <a:p>
            <a:pPr algn="l">
              <a:lnSpc>
                <a:spcPts val="1760"/>
              </a:lnSpc>
            </a:pPr>
            <a:r>
              <a:rPr lang="en-US" sz="2000">
                <a:solidFill>
                  <a:srgbClr val="316CE3"/>
                </a:solidFill>
                <a:latin typeface="Gotham"/>
                <a:ea typeface="Gotham"/>
                <a:cs typeface="Gotham"/>
                <a:sym typeface="Gotham"/>
              </a:rPr>
              <a:t>HOY:</a:t>
            </a:r>
          </a:p>
          <a:p>
            <a:pPr algn="l">
              <a:lnSpc>
                <a:spcPts val="2528"/>
              </a:lnSpc>
            </a:pPr>
            <a:r>
              <a:rPr lang="en-US" sz="2873" b="true">
                <a:solidFill>
                  <a:srgbClr val="316CE3"/>
                </a:solidFill>
                <a:latin typeface="Gotham Bold"/>
                <a:ea typeface="Gotham Bold"/>
                <a:cs typeface="Gotham Bold"/>
                <a:sym typeface="Gotham Bold"/>
              </a:rPr>
              <a:t>Episodio II — El Ataque de los Graviton: Infraestructura y rendimiento</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232E3E"/>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txBody>
          <a:bodyPr/>
          <a:p/>
        </p:txBody>
      </p:sp>
      <p:sp>
        <p:nvSpPr>
          <p:cNvPr name="TextBox 3" id="3"/>
          <p:cNvSpPr txBox="true"/>
          <p:nvPr/>
        </p:nvSpPr>
        <p:spPr>
          <a:xfrm rot="0">
            <a:off x="3520440" y="868680"/>
            <a:ext cx="12070080" cy="1874519"/>
          </a:xfrm>
          <a:prstGeom prst="rect">
            <a:avLst/>
          </a:prstGeom>
        </p:spPr>
        <p:txBody>
          <a:bodyPr anchor="ctr" rtlCol="false" tIns="0" lIns="0" bIns="0" rIns="0" wrap="square">
            <a:spAutoFit/>
          </a:bodyPr>
          <a:lstStyle/>
          <a:p>
            <a:pPr algn="l" marL="0" indent="0" lvl="0">
              <a:lnSpc>
                <a:spcPts val="10481"/>
              </a:lnSpc>
              <a:spcBef>
                <a:spcPct val="0"/>
              </a:spcBef>
            </a:pPr>
            <a:r>
              <a:rPr lang="en-US" b="0" sz="5400">
                <a:solidFill>
                  <a:srgbClr val="FFFFFF"/>
                </a:solidFill>
                <a:latin typeface="Arial Black"/>
                <a:ea typeface="Arial Black"/>
                <a:cs typeface="Arial Black"/>
                <a:sym typeface="Arial Black"/>
              </a:rPr>
              <a:t>RG fue 1,90x más rápido</a:t>
            </a:r>
          </a:p>
        </p:txBody>
      </p:sp>
      <p:sp>
        <p:nvSpPr>
          <p:cNvPr name="Freeform 4" id="4"/>
          <p:cNvSpPr/>
          <p:nvPr/>
        </p:nvSpPr>
        <p:spPr>
          <a:xfrm flipH="false" flipV="false" rot="0">
            <a:off x="536304" y="308054"/>
            <a:ext cx="650696" cy="409939"/>
          </a:xfrm>
          <a:custGeom>
            <a:avLst/>
            <a:gdLst/>
            <a:ahLst/>
            <a:cxnLst/>
            <a:rect r="r" b="b" t="t" l="l"/>
            <a:pathLst>
              <a:path h="409939" w="650696">
                <a:moveTo>
                  <a:pt x="0" y="0"/>
                </a:moveTo>
                <a:lnTo>
                  <a:pt x="650697" y="0"/>
                </a:lnTo>
                <a:lnTo>
                  <a:pt x="650697" y="409938"/>
                </a:lnTo>
                <a:lnTo>
                  <a:pt x="0" y="40993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219785" y="9070932"/>
            <a:ext cx="4151107" cy="986035"/>
            <a:chOff x="0" y="0"/>
            <a:chExt cx="5534810" cy="1314713"/>
          </a:xfrm>
        </p:grpSpPr>
        <p:sp>
          <p:nvSpPr>
            <p:cNvPr name="Freeform 6" id="6"/>
            <p:cNvSpPr/>
            <p:nvPr/>
          </p:nvSpPr>
          <p:spPr>
            <a:xfrm flipH="false" flipV="false" rot="0">
              <a:off x="0" y="0"/>
              <a:ext cx="1314713" cy="1314713"/>
            </a:xfrm>
            <a:custGeom>
              <a:avLst/>
              <a:gdLst/>
              <a:ahLst/>
              <a:cxnLst/>
              <a:rect r="r" b="b" t="t" l="l"/>
              <a:pathLst>
                <a:path h="1314713" w="1314713">
                  <a:moveTo>
                    <a:pt x="0" y="0"/>
                  </a:moveTo>
                  <a:lnTo>
                    <a:pt x="1314713" y="0"/>
                  </a:lnTo>
                  <a:lnTo>
                    <a:pt x="1314713" y="1314713"/>
                  </a:lnTo>
                  <a:lnTo>
                    <a:pt x="0" y="131471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7" id="7"/>
            <p:cNvSpPr txBox="true"/>
            <p:nvPr/>
          </p:nvSpPr>
          <p:spPr>
            <a:xfrm rot="0">
              <a:off x="1455753" y="151974"/>
              <a:ext cx="3148240" cy="462308"/>
            </a:xfrm>
            <a:prstGeom prst="rect">
              <a:avLst/>
            </a:prstGeom>
          </p:spPr>
          <p:txBody>
            <a:bodyPr anchor="t" rtlCol="false" tIns="0" lIns="0" bIns="0" rIns="0">
              <a:spAutoFit/>
            </a:bodyPr>
            <a:lstStyle/>
            <a:p>
              <a:pPr algn="l">
                <a:lnSpc>
                  <a:spcPts val="2702"/>
                </a:lnSpc>
              </a:pPr>
              <a:r>
                <a:rPr lang="en-US" b="true" sz="2252">
                  <a:solidFill>
                    <a:srgbClr val="FFFFFF"/>
                  </a:solidFill>
                  <a:latin typeface="Raleway 1 Bold"/>
                  <a:ea typeface="Raleway 1 Bold"/>
                  <a:cs typeface="Raleway 1 Bold"/>
                  <a:sym typeface="Raleway 1 Bold"/>
                </a:rPr>
                <a:t>OCTUBRE</a:t>
              </a:r>
            </a:p>
          </p:txBody>
        </p:sp>
        <p:sp>
          <p:nvSpPr>
            <p:cNvPr name="TextBox 8" id="8"/>
            <p:cNvSpPr txBox="true"/>
            <p:nvPr/>
          </p:nvSpPr>
          <p:spPr>
            <a:xfrm rot="0">
              <a:off x="1468453" y="585710"/>
              <a:ext cx="4066356" cy="565140"/>
            </a:xfrm>
            <a:prstGeom prst="rect">
              <a:avLst/>
            </a:prstGeom>
          </p:spPr>
          <p:txBody>
            <a:bodyPr anchor="t" rtlCol="false" tIns="0" lIns="0" bIns="0" rIns="0">
              <a:spAutoFit/>
            </a:bodyPr>
            <a:lstStyle/>
            <a:p>
              <a:pPr algn="l">
                <a:lnSpc>
                  <a:spcPts val="1130"/>
                </a:lnSpc>
              </a:pPr>
              <a:r>
                <a:rPr lang="en-US" sz="1097" b="true">
                  <a:solidFill>
                    <a:srgbClr val="FFFFFF"/>
                  </a:solidFill>
                  <a:latin typeface="Raleway 1 Bold"/>
                  <a:ea typeface="Raleway 1 Bold"/>
                  <a:cs typeface="Raleway 1 Bold"/>
                  <a:sym typeface="Raleway 1 Bold"/>
                </a:rPr>
                <a:t>Mes de </a:t>
              </a:r>
            </a:p>
            <a:p>
              <a:pPr algn="l">
                <a:lnSpc>
                  <a:spcPts val="2059"/>
                </a:lnSpc>
              </a:pPr>
              <a:r>
                <a:rPr lang="en-US" b="true" sz="1999">
                  <a:solidFill>
                    <a:srgbClr val="FFFFFF"/>
                  </a:solidFill>
                  <a:latin typeface="Raleway 1 Bold"/>
                  <a:ea typeface="Raleway 1 Bold"/>
                  <a:cs typeface="Raleway 1 Bold"/>
                  <a:sym typeface="Raleway 1 Bold"/>
                </a:rPr>
                <a:t>HAN SOLO</a:t>
              </a:r>
            </a:p>
          </p:txBody>
        </p:sp>
      </p:grpSp>
      <p:sp>
        <p:nvSpPr>
          <p:cNvPr name="TextBox 9" id="9"/>
          <p:cNvSpPr txBox="true"/>
          <p:nvPr/>
        </p:nvSpPr>
        <p:spPr>
          <a:xfrm rot="0">
            <a:off x="1258571" y="221658"/>
            <a:ext cx="15091730" cy="563680"/>
          </a:xfrm>
          <a:prstGeom prst="rect">
            <a:avLst/>
          </a:prstGeom>
        </p:spPr>
        <p:txBody>
          <a:bodyPr anchor="t" rtlCol="false" tIns="0" lIns="0" bIns="0" rIns="0">
            <a:spAutoFit/>
          </a:bodyPr>
          <a:lstStyle/>
          <a:p>
            <a:pPr algn="l">
              <a:lnSpc>
                <a:spcPts val="1760"/>
              </a:lnSpc>
            </a:pPr>
            <a:r>
              <a:rPr lang="en-US" sz="2000">
                <a:solidFill>
                  <a:srgbClr val="316CE3"/>
                </a:solidFill>
                <a:latin typeface="Gotham"/>
                <a:ea typeface="Gotham"/>
                <a:cs typeface="Gotham"/>
                <a:sym typeface="Gotham"/>
              </a:rPr>
              <a:t>HOY:</a:t>
            </a:r>
          </a:p>
          <a:p>
            <a:pPr algn="l">
              <a:lnSpc>
                <a:spcPts val="2528"/>
              </a:lnSpc>
            </a:pPr>
            <a:r>
              <a:rPr lang="en-US" sz="2873" b="true">
                <a:solidFill>
                  <a:srgbClr val="316CE3"/>
                </a:solidFill>
                <a:latin typeface="Gotham Bold"/>
                <a:ea typeface="Gotham Bold"/>
                <a:cs typeface="Gotham Bold"/>
                <a:sym typeface="Gotham Bold"/>
              </a:rPr>
              <a:t>Episodio II — El Ataque de los Graviton: Infraestructura y rendimiento</a:t>
            </a:r>
          </a:p>
        </p:txBody>
      </p:sp>
      <p:graphicFrame>
        <p:nvGraphicFramePr>
          <p:cNvPr id="10" name="Chart 9"/>
          <p:cNvGraphicFramePr>
            <a:graphicFrameLocks noGrp="1"/>
          </p:cNvGraphicFramePr>
          <p:nvPr/>
        </p:nvGraphicFramePr>
        <p:xfrm>
          <a:off x="822960" y="3108960"/>
          <a:ext cx="9326880" cy="5669280"/>
        </p:xfrm>
        <a:graphic>
          <a:graphicData uri="http://schemas.openxmlformats.org/drawingml/2006/chart">
            <c:chart xmlns:c="http://schemas.openxmlformats.org/drawingml/2006/chart" r:id="rId7"/>
          </a:graphicData>
        </a:graphic>
      </p:graphicFrame>
      <p:sp>
        <p:nvSpPr>
          <p:cNvPr id="11" name="TextBox 10"/>
          <p:cNvSpPr txBox="1"/>
          <p:nvPr/>
        </p:nvSpPr>
        <p:spPr>
          <a:xfrm>
            <a:off x="10149840" y="3246120"/>
            <a:ext cx="5303520" cy="822960"/>
          </a:xfrm>
          <a:prstGeom prst="rect">
            <a:avLst/>
          </a:prstGeom>
          <a:noFill/>
        </p:spPr>
        <p:txBody>
          <a:bodyPr wrap="square" anchor="t" lIns="0" rIns="0" tIns="0" bIns="0">
            <a:spAutoFit/>
          </a:bodyPr>
          <a:lstStyle/>
          <a:p>
            <a:pPr algn="l">
              <a:spcAft>
                <a:spcPts val="1000"/>
              </a:spcAft>
            </a:pPr>
            <a:r>
              <a:rPr sz="1700" b="0">
                <a:solidFill>
                  <a:srgbClr val="D9E2EC"/>
                </a:solidFill>
                <a:latin typeface="Arial"/>
              </a:rPr>
              <a:t>Cuántas veces más rápido fue RG en cada consulta</a:t>
            </a:r>
          </a:p>
          <a:p>
            <a:r>
              <a:rPr sz="1700" b="0">
                <a:solidFill>
                  <a:srgbClr val="316CE3"/>
                </a:solidFill>
                <a:latin typeface="Arial"/>
              </a:rPr>
              <a:t>■ lectura   </a:t>
            </a:r>
            <a:r>
              <a:rPr sz="1700" b="0">
                <a:solidFill>
                  <a:srgbClr val="F2A65A"/>
                </a:solidFill>
                <a:latin typeface="Arial"/>
              </a:rPr>
              <a:t>■ cálculo</a:t>
            </a:r>
          </a:p>
        </p:txBody>
      </p:sp>
      <p:sp>
        <p:nvSpPr>
          <p:cNvPr id="12" name="TextBox 11"/>
          <p:cNvSpPr txBox="1"/>
          <p:nvPr/>
        </p:nvSpPr>
        <p:spPr>
          <a:xfrm>
            <a:off x="10149840" y="4343400"/>
            <a:ext cx="5303520" cy="457200"/>
          </a:xfrm>
          <a:prstGeom prst="rect">
            <a:avLst/>
          </a:prstGeom>
          <a:noFill/>
        </p:spPr>
        <p:txBody>
          <a:bodyPr wrap="square" anchor="t" lIns="0" rIns="0" tIns="0" bIns="0">
            <a:spAutoFit/>
          </a:bodyPr>
          <a:lstStyle/>
          <a:p>
            <a:pPr algn="l">
              <a:spcAft>
                <a:spcPts val="1000"/>
              </a:spcAft>
            </a:pPr>
            <a:r>
              <a:rPr sz="2000" b="0">
                <a:solidFill>
                  <a:srgbClr val="D9E2EC"/>
                </a:solidFill>
                <a:latin typeface="Arial"/>
              </a:rPr>
              <a:t>Tiempo total de las 20 consultas</a:t>
            </a:r>
          </a:p>
        </p:txBody>
      </p:sp>
      <p:sp>
        <p:nvSpPr>
          <p:cNvPr id="13" name="TextBox 12"/>
          <p:cNvSpPr txBox="1"/>
          <p:nvPr/>
        </p:nvSpPr>
        <p:spPr>
          <a:xfrm>
            <a:off x="10149840" y="4846320"/>
            <a:ext cx="2651760" cy="914400"/>
          </a:xfrm>
          <a:prstGeom prst="rect">
            <a:avLst/>
          </a:prstGeom>
          <a:noFill/>
        </p:spPr>
        <p:txBody>
          <a:bodyPr wrap="square" anchor="t" lIns="0" rIns="0" tIns="0" bIns="0">
            <a:spAutoFit/>
          </a:bodyPr>
          <a:lstStyle/>
          <a:p>
            <a:pPr algn="l">
              <a:spcAft>
                <a:spcPts val="1000"/>
              </a:spcAft>
            </a:pPr>
            <a:r>
              <a:rPr sz="4000" b="1">
                <a:solidFill>
                  <a:srgbClr val="8FA3B8"/>
                </a:solidFill>
                <a:latin typeface="Arial"/>
              </a:rPr>
              <a:t>148,3 s</a:t>
            </a:r>
          </a:p>
        </p:txBody>
      </p:sp>
      <p:sp>
        <p:nvSpPr>
          <p:cNvPr id="14" name="TextBox 13"/>
          <p:cNvSpPr txBox="1"/>
          <p:nvPr/>
        </p:nvSpPr>
        <p:spPr>
          <a:xfrm>
            <a:off x="12801600" y="4846320"/>
            <a:ext cx="2651760" cy="914400"/>
          </a:xfrm>
          <a:prstGeom prst="rect">
            <a:avLst/>
          </a:prstGeom>
          <a:noFill/>
        </p:spPr>
        <p:txBody>
          <a:bodyPr wrap="square" anchor="t" lIns="0" rIns="0" tIns="0" bIns="0">
            <a:spAutoFit/>
          </a:bodyPr>
          <a:lstStyle/>
          <a:p>
            <a:pPr algn="l">
              <a:spcAft>
                <a:spcPts val="1000"/>
              </a:spcAft>
            </a:pPr>
            <a:r>
              <a:rPr sz="4000" b="1">
                <a:solidFill>
                  <a:srgbClr val="316CE3"/>
                </a:solidFill>
                <a:latin typeface="Arial"/>
              </a:rPr>
              <a:t>96,7 s</a:t>
            </a:r>
          </a:p>
        </p:txBody>
      </p:sp>
      <p:sp>
        <p:nvSpPr>
          <p:cNvPr id="15" name="TextBox 14"/>
          <p:cNvSpPr txBox="1"/>
          <p:nvPr/>
        </p:nvSpPr>
        <p:spPr>
          <a:xfrm>
            <a:off x="10149840" y="5623560"/>
            <a:ext cx="2651760" cy="457200"/>
          </a:xfrm>
          <a:prstGeom prst="rect">
            <a:avLst/>
          </a:prstGeom>
          <a:noFill/>
        </p:spPr>
        <p:txBody>
          <a:bodyPr wrap="square" anchor="t" lIns="0" rIns="0" tIns="0" bIns="0">
            <a:spAutoFit/>
          </a:bodyPr>
          <a:lstStyle/>
          <a:p>
            <a:pPr algn="l">
              <a:spcAft>
                <a:spcPts val="1000"/>
              </a:spcAft>
            </a:pPr>
            <a:r>
              <a:rPr sz="1800" b="0">
                <a:solidFill>
                  <a:srgbClr val="8FA3B8"/>
                </a:solidFill>
                <a:latin typeface="Arial"/>
              </a:rPr>
              <a:t>RA3</a:t>
            </a:r>
          </a:p>
        </p:txBody>
      </p:sp>
      <p:sp>
        <p:nvSpPr>
          <p:cNvPr id="16" name="TextBox 15"/>
          <p:cNvSpPr txBox="1"/>
          <p:nvPr/>
        </p:nvSpPr>
        <p:spPr>
          <a:xfrm>
            <a:off x="12801600" y="5623560"/>
            <a:ext cx="2651760" cy="457200"/>
          </a:xfrm>
          <a:prstGeom prst="rect">
            <a:avLst/>
          </a:prstGeom>
          <a:noFill/>
        </p:spPr>
        <p:txBody>
          <a:bodyPr wrap="square" anchor="t" lIns="0" rIns="0" tIns="0" bIns="0">
            <a:spAutoFit/>
          </a:bodyPr>
          <a:lstStyle/>
          <a:p>
            <a:pPr algn="l">
              <a:spcAft>
                <a:spcPts val="1000"/>
              </a:spcAft>
            </a:pPr>
            <a:r>
              <a:rPr sz="1800" b="0">
                <a:solidFill>
                  <a:srgbClr val="316CE3"/>
                </a:solidFill>
                <a:latin typeface="Arial"/>
              </a:rPr>
              <a:t>RG</a:t>
            </a:r>
          </a:p>
        </p:txBody>
      </p:sp>
      <p:sp>
        <p:nvSpPr>
          <p:cNvPr id="17" name="TextBox 16"/>
          <p:cNvSpPr txBox="1"/>
          <p:nvPr/>
        </p:nvSpPr>
        <p:spPr>
          <a:xfrm>
            <a:off x="10149840" y="6035040"/>
            <a:ext cx="5303520" cy="457200"/>
          </a:xfrm>
          <a:prstGeom prst="rect">
            <a:avLst/>
          </a:prstGeom>
          <a:noFill/>
        </p:spPr>
        <p:txBody>
          <a:bodyPr wrap="square" anchor="t" lIns="0" rIns="0" tIns="0" bIns="0">
            <a:spAutoFit/>
          </a:bodyPr>
          <a:lstStyle/>
          <a:p>
            <a:pPr algn="l">
              <a:spcAft>
                <a:spcPts val="1000"/>
              </a:spcAft>
            </a:pPr>
            <a:r>
              <a:rPr sz="1600" b="0">
                <a:solidFill>
                  <a:srgbClr val="9FB3C8"/>
                </a:solidFill>
                <a:latin typeface="Arial"/>
              </a:rPr>
              <a:t>menos tiempo es mejor</a:t>
            </a:r>
          </a:p>
        </p:txBody>
      </p:sp>
      <p:sp>
        <p:nvSpPr>
          <p:cNvPr id="18" name="TextBox 17"/>
          <p:cNvSpPr txBox="1"/>
          <p:nvPr/>
        </p:nvSpPr>
        <p:spPr>
          <a:xfrm>
            <a:off x="10149840" y="6629400"/>
            <a:ext cx="5303520" cy="457200"/>
          </a:xfrm>
          <a:prstGeom prst="rect">
            <a:avLst/>
          </a:prstGeom>
          <a:noFill/>
        </p:spPr>
        <p:txBody>
          <a:bodyPr wrap="square" anchor="t" lIns="0" rIns="0" tIns="0" bIns="0">
            <a:spAutoFit/>
          </a:bodyPr>
          <a:lstStyle/>
          <a:p>
            <a:pPr algn="l">
              <a:spcAft>
                <a:spcPts val="1000"/>
              </a:spcAft>
            </a:pPr>
            <a:r>
              <a:rPr sz="2000" b="0">
                <a:solidFill>
                  <a:srgbClr val="D9E2EC"/>
                </a:solidFill>
                <a:latin typeface="Arial"/>
              </a:rPr>
              <a:t>Una consulta típica (mediana)</a:t>
            </a:r>
          </a:p>
        </p:txBody>
      </p:sp>
      <p:sp>
        <p:nvSpPr>
          <p:cNvPr id="19" name="TextBox 18"/>
          <p:cNvSpPr txBox="1"/>
          <p:nvPr/>
        </p:nvSpPr>
        <p:spPr>
          <a:xfrm>
            <a:off x="10149840" y="7132320"/>
            <a:ext cx="2651760" cy="914400"/>
          </a:xfrm>
          <a:prstGeom prst="rect">
            <a:avLst/>
          </a:prstGeom>
          <a:noFill/>
        </p:spPr>
        <p:txBody>
          <a:bodyPr wrap="square" anchor="t" lIns="0" rIns="0" tIns="0" bIns="0">
            <a:spAutoFit/>
          </a:bodyPr>
          <a:lstStyle/>
          <a:p>
            <a:pPr algn="l">
              <a:spcAft>
                <a:spcPts val="1000"/>
              </a:spcAft>
            </a:pPr>
            <a:r>
              <a:rPr sz="4000" b="1">
                <a:solidFill>
                  <a:srgbClr val="8FA3B8"/>
                </a:solidFill>
                <a:latin typeface="Arial"/>
              </a:rPr>
              <a:t>1,65 s</a:t>
            </a:r>
          </a:p>
        </p:txBody>
      </p:sp>
      <p:sp>
        <p:nvSpPr>
          <p:cNvPr id="20" name="TextBox 19"/>
          <p:cNvSpPr txBox="1"/>
          <p:nvPr/>
        </p:nvSpPr>
        <p:spPr>
          <a:xfrm>
            <a:off x="12801600" y="7132320"/>
            <a:ext cx="2651760" cy="914400"/>
          </a:xfrm>
          <a:prstGeom prst="rect">
            <a:avLst/>
          </a:prstGeom>
          <a:noFill/>
        </p:spPr>
        <p:txBody>
          <a:bodyPr wrap="square" anchor="t" lIns="0" rIns="0" tIns="0" bIns="0">
            <a:spAutoFit/>
          </a:bodyPr>
          <a:lstStyle/>
          <a:p>
            <a:pPr algn="l">
              <a:spcAft>
                <a:spcPts val="1000"/>
              </a:spcAft>
            </a:pPr>
            <a:r>
              <a:rPr sz="4000" b="1">
                <a:solidFill>
                  <a:srgbClr val="316CE3"/>
                </a:solidFill>
                <a:latin typeface="Arial"/>
              </a:rPr>
              <a:t>0,58 s</a:t>
            </a:r>
          </a:p>
        </p:txBody>
      </p:sp>
      <p:sp>
        <p:nvSpPr>
          <p:cNvPr id="21" name="TextBox 20"/>
          <p:cNvSpPr txBox="1"/>
          <p:nvPr/>
        </p:nvSpPr>
        <p:spPr>
          <a:xfrm>
            <a:off x="10149840" y="7909560"/>
            <a:ext cx="2651760" cy="457200"/>
          </a:xfrm>
          <a:prstGeom prst="rect">
            <a:avLst/>
          </a:prstGeom>
          <a:noFill/>
        </p:spPr>
        <p:txBody>
          <a:bodyPr wrap="square" anchor="t" lIns="0" rIns="0" tIns="0" bIns="0">
            <a:spAutoFit/>
          </a:bodyPr>
          <a:lstStyle/>
          <a:p>
            <a:pPr algn="l">
              <a:spcAft>
                <a:spcPts val="1000"/>
              </a:spcAft>
            </a:pPr>
            <a:r>
              <a:rPr sz="1800" b="0">
                <a:solidFill>
                  <a:srgbClr val="8FA3B8"/>
                </a:solidFill>
                <a:latin typeface="Arial"/>
              </a:rPr>
              <a:t>RA3</a:t>
            </a:r>
          </a:p>
        </p:txBody>
      </p:sp>
      <p:sp>
        <p:nvSpPr>
          <p:cNvPr id="22" name="TextBox 21"/>
          <p:cNvSpPr txBox="1"/>
          <p:nvPr/>
        </p:nvSpPr>
        <p:spPr>
          <a:xfrm>
            <a:off x="12801600" y="7909560"/>
            <a:ext cx="2651760" cy="457200"/>
          </a:xfrm>
          <a:prstGeom prst="rect">
            <a:avLst/>
          </a:prstGeom>
          <a:noFill/>
        </p:spPr>
        <p:txBody>
          <a:bodyPr wrap="square" anchor="t" lIns="0" rIns="0" tIns="0" bIns="0">
            <a:spAutoFit/>
          </a:bodyPr>
          <a:lstStyle/>
          <a:p>
            <a:pPr algn="l">
              <a:spcAft>
                <a:spcPts val="1000"/>
              </a:spcAft>
            </a:pPr>
            <a:r>
              <a:rPr sz="1800" b="0">
                <a:solidFill>
                  <a:srgbClr val="316CE3"/>
                </a:solidFill>
                <a:latin typeface="Arial"/>
              </a:rPr>
              <a:t>RG</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232E3E"/>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txBody>
          <a:bodyPr/>
          <a:p/>
        </p:txBody>
      </p:sp>
      <p:sp>
        <p:nvSpPr>
          <p:cNvPr name="TextBox 3" id="3"/>
          <p:cNvSpPr txBox="true"/>
          <p:nvPr/>
        </p:nvSpPr>
        <p:spPr>
          <a:xfrm rot="0">
            <a:off x="3520440" y="868680"/>
            <a:ext cx="12070080" cy="1874519"/>
          </a:xfrm>
          <a:prstGeom prst="rect">
            <a:avLst/>
          </a:prstGeom>
        </p:spPr>
        <p:txBody>
          <a:bodyPr anchor="ctr" rtlCol="false" tIns="0" lIns="0" bIns="0" rIns="0" wrap="square">
            <a:spAutoFit/>
          </a:bodyPr>
          <a:lstStyle/>
          <a:p>
            <a:pPr algn="l" marL="0" indent="0" lvl="0">
              <a:lnSpc>
                <a:spcPts val="10481"/>
              </a:lnSpc>
              <a:spcBef>
                <a:spcPct val="0"/>
              </a:spcBef>
            </a:pPr>
            <a:r>
              <a:rPr lang="en-US" b="0" sz="4500">
                <a:solidFill>
                  <a:srgbClr val="FFFFFF"/>
                </a:solidFill>
                <a:latin typeface="Arial Black"/>
                <a:ea typeface="Arial Black"/>
                <a:cs typeface="Arial Black"/>
                <a:sym typeface="Arial Black"/>
              </a:rPr>
              <a:t>Donde más gana: leer y agregar</a:t>
            </a:r>
          </a:p>
        </p:txBody>
      </p:sp>
      <p:sp>
        <p:nvSpPr>
          <p:cNvPr name="Freeform 4" id="4"/>
          <p:cNvSpPr/>
          <p:nvPr/>
        </p:nvSpPr>
        <p:spPr>
          <a:xfrm flipH="false" flipV="false" rot="0">
            <a:off x="536304" y="308054"/>
            <a:ext cx="650696" cy="409939"/>
          </a:xfrm>
          <a:custGeom>
            <a:avLst/>
            <a:gdLst/>
            <a:ahLst/>
            <a:cxnLst/>
            <a:rect r="r" b="b" t="t" l="l"/>
            <a:pathLst>
              <a:path h="409939" w="650696">
                <a:moveTo>
                  <a:pt x="0" y="0"/>
                </a:moveTo>
                <a:lnTo>
                  <a:pt x="650697" y="0"/>
                </a:lnTo>
                <a:lnTo>
                  <a:pt x="650697" y="409938"/>
                </a:lnTo>
                <a:lnTo>
                  <a:pt x="0" y="40993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219785" y="9070932"/>
            <a:ext cx="4151107" cy="986035"/>
            <a:chOff x="0" y="0"/>
            <a:chExt cx="5534810" cy="1314713"/>
          </a:xfrm>
        </p:grpSpPr>
        <p:sp>
          <p:nvSpPr>
            <p:cNvPr name="Freeform 6" id="6"/>
            <p:cNvSpPr/>
            <p:nvPr/>
          </p:nvSpPr>
          <p:spPr>
            <a:xfrm flipH="false" flipV="false" rot="0">
              <a:off x="0" y="0"/>
              <a:ext cx="1314713" cy="1314713"/>
            </a:xfrm>
            <a:custGeom>
              <a:avLst/>
              <a:gdLst/>
              <a:ahLst/>
              <a:cxnLst/>
              <a:rect r="r" b="b" t="t" l="l"/>
              <a:pathLst>
                <a:path h="1314713" w="1314713">
                  <a:moveTo>
                    <a:pt x="0" y="0"/>
                  </a:moveTo>
                  <a:lnTo>
                    <a:pt x="1314713" y="0"/>
                  </a:lnTo>
                  <a:lnTo>
                    <a:pt x="1314713" y="1314713"/>
                  </a:lnTo>
                  <a:lnTo>
                    <a:pt x="0" y="131471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7" id="7"/>
            <p:cNvSpPr txBox="true"/>
            <p:nvPr/>
          </p:nvSpPr>
          <p:spPr>
            <a:xfrm rot="0">
              <a:off x="1455753" y="151974"/>
              <a:ext cx="3148240" cy="462308"/>
            </a:xfrm>
            <a:prstGeom prst="rect">
              <a:avLst/>
            </a:prstGeom>
          </p:spPr>
          <p:txBody>
            <a:bodyPr anchor="t" rtlCol="false" tIns="0" lIns="0" bIns="0" rIns="0">
              <a:spAutoFit/>
            </a:bodyPr>
            <a:lstStyle/>
            <a:p>
              <a:pPr algn="l">
                <a:lnSpc>
                  <a:spcPts val="2702"/>
                </a:lnSpc>
              </a:pPr>
              <a:r>
                <a:rPr lang="en-US" b="true" sz="2252">
                  <a:solidFill>
                    <a:srgbClr val="FFFFFF"/>
                  </a:solidFill>
                  <a:latin typeface="Raleway 1 Bold"/>
                  <a:ea typeface="Raleway 1 Bold"/>
                  <a:cs typeface="Raleway 1 Bold"/>
                  <a:sym typeface="Raleway 1 Bold"/>
                </a:rPr>
                <a:t>OCTUBRE</a:t>
              </a:r>
            </a:p>
          </p:txBody>
        </p:sp>
        <p:sp>
          <p:nvSpPr>
            <p:cNvPr name="TextBox 8" id="8"/>
            <p:cNvSpPr txBox="true"/>
            <p:nvPr/>
          </p:nvSpPr>
          <p:spPr>
            <a:xfrm rot="0">
              <a:off x="1468453" y="585710"/>
              <a:ext cx="4066356" cy="565140"/>
            </a:xfrm>
            <a:prstGeom prst="rect">
              <a:avLst/>
            </a:prstGeom>
          </p:spPr>
          <p:txBody>
            <a:bodyPr anchor="t" rtlCol="false" tIns="0" lIns="0" bIns="0" rIns="0">
              <a:spAutoFit/>
            </a:bodyPr>
            <a:lstStyle/>
            <a:p>
              <a:pPr algn="l">
                <a:lnSpc>
                  <a:spcPts val="1130"/>
                </a:lnSpc>
              </a:pPr>
              <a:r>
                <a:rPr lang="en-US" sz="1097" b="true">
                  <a:solidFill>
                    <a:srgbClr val="FFFFFF"/>
                  </a:solidFill>
                  <a:latin typeface="Raleway 1 Bold"/>
                  <a:ea typeface="Raleway 1 Bold"/>
                  <a:cs typeface="Raleway 1 Bold"/>
                  <a:sym typeface="Raleway 1 Bold"/>
                </a:rPr>
                <a:t>Mes de </a:t>
              </a:r>
            </a:p>
            <a:p>
              <a:pPr algn="l">
                <a:lnSpc>
                  <a:spcPts val="2059"/>
                </a:lnSpc>
              </a:pPr>
              <a:r>
                <a:rPr lang="en-US" b="true" sz="1999">
                  <a:solidFill>
                    <a:srgbClr val="FFFFFF"/>
                  </a:solidFill>
                  <a:latin typeface="Raleway 1 Bold"/>
                  <a:ea typeface="Raleway 1 Bold"/>
                  <a:cs typeface="Raleway 1 Bold"/>
                  <a:sym typeface="Raleway 1 Bold"/>
                </a:rPr>
                <a:t>HAN SOLO</a:t>
              </a:r>
            </a:p>
          </p:txBody>
        </p:sp>
      </p:grpSp>
      <p:sp>
        <p:nvSpPr>
          <p:cNvPr name="TextBox 9" id="9"/>
          <p:cNvSpPr txBox="true"/>
          <p:nvPr/>
        </p:nvSpPr>
        <p:spPr>
          <a:xfrm rot="0">
            <a:off x="1258571" y="221658"/>
            <a:ext cx="15091730" cy="563680"/>
          </a:xfrm>
          <a:prstGeom prst="rect">
            <a:avLst/>
          </a:prstGeom>
        </p:spPr>
        <p:txBody>
          <a:bodyPr anchor="t" rtlCol="false" tIns="0" lIns="0" bIns="0" rIns="0">
            <a:spAutoFit/>
          </a:bodyPr>
          <a:lstStyle/>
          <a:p>
            <a:pPr algn="l">
              <a:lnSpc>
                <a:spcPts val="1760"/>
              </a:lnSpc>
            </a:pPr>
            <a:r>
              <a:rPr lang="en-US" sz="2000">
                <a:solidFill>
                  <a:srgbClr val="316CE3"/>
                </a:solidFill>
                <a:latin typeface="Gotham"/>
                <a:ea typeface="Gotham"/>
                <a:cs typeface="Gotham"/>
                <a:sym typeface="Gotham"/>
              </a:rPr>
              <a:t>HOY:</a:t>
            </a:r>
          </a:p>
          <a:p>
            <a:pPr algn="l">
              <a:lnSpc>
                <a:spcPts val="2528"/>
              </a:lnSpc>
            </a:pPr>
            <a:r>
              <a:rPr lang="en-US" sz="2873" b="true">
                <a:solidFill>
                  <a:srgbClr val="316CE3"/>
                </a:solidFill>
                <a:latin typeface="Gotham Bold"/>
                <a:ea typeface="Gotham Bold"/>
                <a:cs typeface="Gotham Bold"/>
                <a:sym typeface="Gotham Bold"/>
              </a:rPr>
              <a:t>Episodio II — El Ataque de los Graviton: Infraestructura y rendimiento</a:t>
            </a:r>
          </a:p>
        </p:txBody>
      </p:sp>
      <p:sp>
        <p:nvSpPr>
          <p:cNvPr id="10" name="TextBox 9"/>
          <p:cNvSpPr txBox="1"/>
          <p:nvPr/>
        </p:nvSpPr>
        <p:spPr>
          <a:xfrm>
            <a:off x="914400" y="3520440"/>
            <a:ext cx="6949440" cy="1280160"/>
          </a:xfrm>
          <a:prstGeom prst="rect">
            <a:avLst/>
          </a:prstGeom>
          <a:noFill/>
        </p:spPr>
        <p:txBody>
          <a:bodyPr wrap="square" anchor="b" lIns="0" rIns="0" tIns="0" bIns="0">
            <a:spAutoFit/>
          </a:bodyPr>
          <a:lstStyle/>
          <a:p>
            <a:pPr algn="l">
              <a:spcAft>
                <a:spcPts val="1000"/>
              </a:spcAft>
            </a:pPr>
            <a:r>
              <a:rPr sz="12000" b="1">
                <a:solidFill>
                  <a:srgbClr val="316CE3"/>
                </a:solidFill>
                <a:latin typeface="Arial"/>
              </a:rPr>
              <a:t>2,28x</a:t>
            </a:r>
          </a:p>
        </p:txBody>
      </p:sp>
      <p:sp>
        <p:nvSpPr>
          <p:cNvPr id="11" name="TextBox 10"/>
          <p:cNvSpPr txBox="1"/>
          <p:nvPr/>
        </p:nvSpPr>
        <p:spPr>
          <a:xfrm>
            <a:off x="914400" y="4892040"/>
            <a:ext cx="6949440" cy="1097280"/>
          </a:xfrm>
          <a:prstGeom prst="rect">
            <a:avLst/>
          </a:prstGeom>
          <a:noFill/>
        </p:spPr>
        <p:txBody>
          <a:bodyPr wrap="square" anchor="t" lIns="0" rIns="0" tIns="0" bIns="0">
            <a:spAutoFit/>
          </a:bodyPr>
          <a:lstStyle/>
          <a:p>
            <a:pPr algn="l">
              <a:spcAft>
                <a:spcPts val="1000"/>
              </a:spcAft>
            </a:pPr>
            <a:r>
              <a:rPr sz="2200" b="0">
                <a:solidFill>
                  <a:srgbClr val="D9E2EC"/>
                </a:solidFill>
                <a:latin typeface="Arial"/>
              </a:rPr>
              <a:t>consultas que leen y agregan muchos datos (10 consultas)</a:t>
            </a:r>
          </a:p>
        </p:txBody>
      </p:sp>
      <p:sp>
        <p:nvSpPr>
          <p:cNvPr id="12" name="TextBox 11"/>
          <p:cNvSpPr txBox="1"/>
          <p:nvPr/>
        </p:nvSpPr>
        <p:spPr>
          <a:xfrm>
            <a:off x="8321040" y="3520440"/>
            <a:ext cx="6949440" cy="1280160"/>
          </a:xfrm>
          <a:prstGeom prst="rect">
            <a:avLst/>
          </a:prstGeom>
          <a:noFill/>
        </p:spPr>
        <p:txBody>
          <a:bodyPr wrap="square" anchor="b" lIns="0" rIns="0" tIns="0" bIns="0">
            <a:spAutoFit/>
          </a:bodyPr>
          <a:lstStyle/>
          <a:p>
            <a:pPr algn="l">
              <a:spcAft>
                <a:spcPts val="1000"/>
              </a:spcAft>
            </a:pPr>
            <a:r>
              <a:rPr sz="12000" b="1">
                <a:solidFill>
                  <a:srgbClr val="F2A65A"/>
                </a:solidFill>
                <a:latin typeface="Arial"/>
              </a:rPr>
              <a:t>1,58x</a:t>
            </a:r>
          </a:p>
        </p:txBody>
      </p:sp>
      <p:sp>
        <p:nvSpPr>
          <p:cNvPr id="13" name="TextBox 12"/>
          <p:cNvSpPr txBox="1"/>
          <p:nvPr/>
        </p:nvSpPr>
        <p:spPr>
          <a:xfrm>
            <a:off x="8321040" y="4892040"/>
            <a:ext cx="6949440" cy="1097280"/>
          </a:xfrm>
          <a:prstGeom prst="rect">
            <a:avLst/>
          </a:prstGeom>
          <a:noFill/>
        </p:spPr>
        <p:txBody>
          <a:bodyPr wrap="square" anchor="t" lIns="0" rIns="0" tIns="0" bIns="0">
            <a:spAutoFit/>
          </a:bodyPr>
          <a:lstStyle/>
          <a:p>
            <a:pPr algn="l">
              <a:spcAft>
                <a:spcPts val="1000"/>
              </a:spcAft>
            </a:pPr>
            <a:r>
              <a:rPr sz="2200" b="0">
                <a:solidFill>
                  <a:srgbClr val="D9E2EC"/>
                </a:solidFill>
                <a:latin typeface="Arial"/>
              </a:rPr>
              <a:t>consultas de cálculo pesado: funciones de ventana y joins grandes (10 consultas)</a:t>
            </a:r>
          </a:p>
        </p:txBody>
      </p:sp>
      <p:sp>
        <p:nvSpPr>
          <p:cNvPr id="14" name="TextBox 13"/>
          <p:cNvSpPr txBox="1"/>
          <p:nvPr/>
        </p:nvSpPr>
        <p:spPr>
          <a:xfrm>
            <a:off x="914400" y="7315200"/>
            <a:ext cx="13898880" cy="914400"/>
          </a:xfrm>
          <a:prstGeom prst="rect">
            <a:avLst/>
          </a:prstGeom>
          <a:noFill/>
        </p:spPr>
        <p:txBody>
          <a:bodyPr wrap="square" anchor="t" lIns="0" rIns="0" tIns="0" bIns="0">
            <a:spAutoFit/>
          </a:bodyPr>
          <a:lstStyle/>
          <a:p>
            <a:pPr algn="l">
              <a:spcAft>
                <a:spcPts val="1000"/>
              </a:spcAft>
            </a:pPr>
            <a:r>
              <a:rPr sz="2500" b="0">
                <a:solidFill>
                  <a:srgbClr val="FFFFFF"/>
                </a:solidFill>
                <a:latin typeface="Arial"/>
              </a:rPr>
              <a:t>AWS anuncia hasta 2,2x: </a:t>
            </a:r>
            <a:r>
              <a:rPr sz="2500" b="1">
                <a:solidFill>
                  <a:srgbClr val="FFFFFF"/>
                </a:solidFill>
                <a:latin typeface="Arial"/>
              </a:rPr>
              <a:t>en las consultas de lectura lo superamos; en las de cálculo, no llegamos.</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232E3E"/>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txBody>
          <a:bodyPr/>
          <a:p/>
        </p:txBody>
      </p:sp>
      <p:sp>
        <p:nvSpPr>
          <p:cNvPr name="TextBox 3" id="3"/>
          <p:cNvSpPr txBox="true"/>
          <p:nvPr/>
        </p:nvSpPr>
        <p:spPr>
          <a:xfrm rot="0">
            <a:off x="3520440" y="868680"/>
            <a:ext cx="12070080" cy="1874519"/>
          </a:xfrm>
          <a:prstGeom prst="rect">
            <a:avLst/>
          </a:prstGeom>
        </p:spPr>
        <p:txBody>
          <a:bodyPr anchor="ctr" rtlCol="false" tIns="0" lIns="0" bIns="0" rIns="0" wrap="square">
            <a:spAutoFit/>
          </a:bodyPr>
          <a:lstStyle/>
          <a:p>
            <a:pPr algn="l" marL="0" indent="0" lvl="0">
              <a:lnSpc>
                <a:spcPts val="10481"/>
              </a:lnSpc>
              <a:spcBef>
                <a:spcPct val="0"/>
              </a:spcBef>
            </a:pPr>
            <a:r>
              <a:rPr lang="en-US" b="0" sz="4500">
                <a:solidFill>
                  <a:srgbClr val="FFFFFF"/>
                </a:solidFill>
                <a:latin typeface="Arial Black"/>
                <a:ea typeface="Arial Black"/>
                <a:cs typeface="Arial Black"/>
                <a:sym typeface="Arial Black"/>
              </a:rPr>
              <a:t>Varios usuarios a la vez: 1,8x</a:t>
            </a:r>
          </a:p>
        </p:txBody>
      </p:sp>
      <p:sp>
        <p:nvSpPr>
          <p:cNvPr name="Freeform 4" id="4"/>
          <p:cNvSpPr/>
          <p:nvPr/>
        </p:nvSpPr>
        <p:spPr>
          <a:xfrm flipH="false" flipV="false" rot="0">
            <a:off x="536304" y="308054"/>
            <a:ext cx="650696" cy="409939"/>
          </a:xfrm>
          <a:custGeom>
            <a:avLst/>
            <a:gdLst/>
            <a:ahLst/>
            <a:cxnLst/>
            <a:rect r="r" b="b" t="t" l="l"/>
            <a:pathLst>
              <a:path h="409939" w="650696">
                <a:moveTo>
                  <a:pt x="0" y="0"/>
                </a:moveTo>
                <a:lnTo>
                  <a:pt x="650697" y="0"/>
                </a:lnTo>
                <a:lnTo>
                  <a:pt x="650697" y="409938"/>
                </a:lnTo>
                <a:lnTo>
                  <a:pt x="0" y="40993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219785" y="9070932"/>
            <a:ext cx="4151107" cy="986035"/>
            <a:chOff x="0" y="0"/>
            <a:chExt cx="5534810" cy="1314713"/>
          </a:xfrm>
        </p:grpSpPr>
        <p:sp>
          <p:nvSpPr>
            <p:cNvPr name="Freeform 6" id="6"/>
            <p:cNvSpPr/>
            <p:nvPr/>
          </p:nvSpPr>
          <p:spPr>
            <a:xfrm flipH="false" flipV="false" rot="0">
              <a:off x="0" y="0"/>
              <a:ext cx="1314713" cy="1314713"/>
            </a:xfrm>
            <a:custGeom>
              <a:avLst/>
              <a:gdLst/>
              <a:ahLst/>
              <a:cxnLst/>
              <a:rect r="r" b="b" t="t" l="l"/>
              <a:pathLst>
                <a:path h="1314713" w="1314713">
                  <a:moveTo>
                    <a:pt x="0" y="0"/>
                  </a:moveTo>
                  <a:lnTo>
                    <a:pt x="1314713" y="0"/>
                  </a:lnTo>
                  <a:lnTo>
                    <a:pt x="1314713" y="1314713"/>
                  </a:lnTo>
                  <a:lnTo>
                    <a:pt x="0" y="131471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7" id="7"/>
            <p:cNvSpPr txBox="true"/>
            <p:nvPr/>
          </p:nvSpPr>
          <p:spPr>
            <a:xfrm rot="0">
              <a:off x="1455753" y="151974"/>
              <a:ext cx="3148240" cy="462308"/>
            </a:xfrm>
            <a:prstGeom prst="rect">
              <a:avLst/>
            </a:prstGeom>
          </p:spPr>
          <p:txBody>
            <a:bodyPr anchor="t" rtlCol="false" tIns="0" lIns="0" bIns="0" rIns="0">
              <a:spAutoFit/>
            </a:bodyPr>
            <a:lstStyle/>
            <a:p>
              <a:pPr algn="l">
                <a:lnSpc>
                  <a:spcPts val="2702"/>
                </a:lnSpc>
              </a:pPr>
              <a:r>
                <a:rPr lang="en-US" b="true" sz="2252">
                  <a:solidFill>
                    <a:srgbClr val="FFFFFF"/>
                  </a:solidFill>
                  <a:latin typeface="Raleway 1 Bold"/>
                  <a:ea typeface="Raleway 1 Bold"/>
                  <a:cs typeface="Raleway 1 Bold"/>
                  <a:sym typeface="Raleway 1 Bold"/>
                </a:rPr>
                <a:t>OCTUBRE</a:t>
              </a:r>
            </a:p>
          </p:txBody>
        </p:sp>
        <p:sp>
          <p:nvSpPr>
            <p:cNvPr name="TextBox 8" id="8"/>
            <p:cNvSpPr txBox="true"/>
            <p:nvPr/>
          </p:nvSpPr>
          <p:spPr>
            <a:xfrm rot="0">
              <a:off x="1468453" y="585710"/>
              <a:ext cx="4066356" cy="565140"/>
            </a:xfrm>
            <a:prstGeom prst="rect">
              <a:avLst/>
            </a:prstGeom>
          </p:spPr>
          <p:txBody>
            <a:bodyPr anchor="t" rtlCol="false" tIns="0" lIns="0" bIns="0" rIns="0">
              <a:spAutoFit/>
            </a:bodyPr>
            <a:lstStyle/>
            <a:p>
              <a:pPr algn="l">
                <a:lnSpc>
                  <a:spcPts val="1130"/>
                </a:lnSpc>
              </a:pPr>
              <a:r>
                <a:rPr lang="en-US" sz="1097" b="true">
                  <a:solidFill>
                    <a:srgbClr val="FFFFFF"/>
                  </a:solidFill>
                  <a:latin typeface="Raleway 1 Bold"/>
                  <a:ea typeface="Raleway 1 Bold"/>
                  <a:cs typeface="Raleway 1 Bold"/>
                  <a:sym typeface="Raleway 1 Bold"/>
                </a:rPr>
                <a:t>Mes de </a:t>
              </a:r>
            </a:p>
            <a:p>
              <a:pPr algn="l">
                <a:lnSpc>
                  <a:spcPts val="2059"/>
                </a:lnSpc>
              </a:pPr>
              <a:r>
                <a:rPr lang="en-US" b="true" sz="1999">
                  <a:solidFill>
                    <a:srgbClr val="FFFFFF"/>
                  </a:solidFill>
                  <a:latin typeface="Raleway 1 Bold"/>
                  <a:ea typeface="Raleway 1 Bold"/>
                  <a:cs typeface="Raleway 1 Bold"/>
                  <a:sym typeface="Raleway 1 Bold"/>
                </a:rPr>
                <a:t>HAN SOLO</a:t>
              </a:r>
            </a:p>
          </p:txBody>
        </p:sp>
      </p:grpSp>
      <p:sp>
        <p:nvSpPr>
          <p:cNvPr name="TextBox 9" id="9"/>
          <p:cNvSpPr txBox="true"/>
          <p:nvPr/>
        </p:nvSpPr>
        <p:spPr>
          <a:xfrm rot="0">
            <a:off x="1258571" y="221658"/>
            <a:ext cx="15091730" cy="563680"/>
          </a:xfrm>
          <a:prstGeom prst="rect">
            <a:avLst/>
          </a:prstGeom>
        </p:spPr>
        <p:txBody>
          <a:bodyPr anchor="t" rtlCol="false" tIns="0" lIns="0" bIns="0" rIns="0">
            <a:spAutoFit/>
          </a:bodyPr>
          <a:lstStyle/>
          <a:p>
            <a:pPr algn="l">
              <a:lnSpc>
                <a:spcPts val="1760"/>
              </a:lnSpc>
            </a:pPr>
            <a:r>
              <a:rPr lang="en-US" sz="2000">
                <a:solidFill>
                  <a:srgbClr val="316CE3"/>
                </a:solidFill>
                <a:latin typeface="Gotham"/>
                <a:ea typeface="Gotham"/>
                <a:cs typeface="Gotham"/>
                <a:sym typeface="Gotham"/>
              </a:rPr>
              <a:t>HOY:</a:t>
            </a:r>
          </a:p>
          <a:p>
            <a:pPr algn="l">
              <a:lnSpc>
                <a:spcPts val="2528"/>
              </a:lnSpc>
            </a:pPr>
            <a:r>
              <a:rPr lang="en-US" sz="2873" b="true">
                <a:solidFill>
                  <a:srgbClr val="316CE3"/>
                </a:solidFill>
                <a:latin typeface="Gotham Bold"/>
                <a:ea typeface="Gotham Bold"/>
                <a:cs typeface="Gotham Bold"/>
                <a:sym typeface="Gotham Bold"/>
              </a:rPr>
              <a:t>Episodio II — El Ataque de los Graviton: Infraestructura y rendimiento</a:t>
            </a:r>
          </a:p>
        </p:txBody>
      </p:sp>
      <p:graphicFrame>
        <p:nvGraphicFramePr>
          <p:cNvPr id="10" name="Chart 9"/>
          <p:cNvGraphicFramePr>
            <a:graphicFrameLocks noGrp="1"/>
          </p:cNvGraphicFramePr>
          <p:nvPr/>
        </p:nvGraphicFramePr>
        <p:xfrm>
          <a:off x="914400" y="3017520"/>
          <a:ext cx="8229600" cy="5486400"/>
        </p:xfrm>
        <a:graphic>
          <a:graphicData uri="http://schemas.openxmlformats.org/drawingml/2006/chart">
            <c:chart xmlns:c="http://schemas.openxmlformats.org/drawingml/2006/chart" r:id="rId7"/>
          </a:graphicData>
        </a:graphic>
      </p:graphicFrame>
      <p:sp>
        <p:nvSpPr>
          <p:cNvPr id="11" name="TextBox 10"/>
          <p:cNvSpPr txBox="1"/>
          <p:nvPr/>
        </p:nvSpPr>
        <p:spPr>
          <a:xfrm>
            <a:off x="9692640" y="3749039"/>
            <a:ext cx="5669280" cy="4114800"/>
          </a:xfrm>
          <a:prstGeom prst="rect">
            <a:avLst/>
          </a:prstGeom>
          <a:noFill/>
        </p:spPr>
        <p:txBody>
          <a:bodyPr wrap="square" anchor="t" lIns="0" rIns="0" tIns="0" bIns="0">
            <a:spAutoFit/>
          </a:bodyPr>
          <a:lstStyle/>
          <a:p>
            <a:pPr algn="l">
              <a:spcAft>
                <a:spcPts val="1800"/>
              </a:spcAft>
            </a:pPr>
            <a:r>
              <a:rPr sz="2500" b="1">
                <a:solidFill>
                  <a:srgbClr val="D9E2EC"/>
                </a:solidFill>
                <a:latin typeface="Arial"/>
              </a:rPr>
              <a:t>Consultas por hora</a:t>
            </a:r>
            <a:r>
              <a:rPr sz="2500" b="0">
                <a:solidFill>
                  <a:srgbClr val="D9E2EC"/>
                </a:solidFill>
                <a:latin typeface="Arial"/>
              </a:rPr>
              <a:t> (más es mejor)</a:t>
            </a:r>
          </a:p>
          <a:p>
            <a:pPr algn="l">
              <a:spcAft>
                <a:spcPts val="1800"/>
              </a:spcAft>
            </a:pPr>
            <a:r>
              <a:rPr sz="2500" b="0">
                <a:solidFill>
                  <a:srgbClr val="D9E2EC"/>
                </a:solidFill>
                <a:latin typeface="Arial"/>
              </a:rPr>
              <a:t>Cinco usuarios simulados durante 30 minutos</a:t>
            </a:r>
          </a:p>
          <a:p>
            <a:pPr algn="l">
              <a:spcAft>
                <a:spcPts val="1800"/>
              </a:spcAft>
            </a:pPr>
            <a:r>
              <a:rPr sz="2500" b="0">
                <a:solidFill>
                  <a:srgbClr val="D9E2EC"/>
                </a:solidFill>
                <a:latin typeface="Arial"/>
              </a:rPr>
              <a:t>Ninguna consulta quedó en espera</a:t>
            </a:r>
          </a:p>
          <a:p>
            <a:pPr algn="l">
              <a:spcAft>
                <a:spcPts val="1800"/>
              </a:spcAft>
            </a:pPr>
            <a:r>
              <a:rPr sz="2500" b="0">
                <a:solidFill>
                  <a:srgbClr val="D9E2EC"/>
                </a:solidFill>
                <a:latin typeface="Arial"/>
              </a:rPr>
              <a:t>Ningún error</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232E3E"/>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txBody>
          <a:bodyPr/>
          <a:p/>
        </p:txBody>
      </p:sp>
      <p:sp>
        <p:nvSpPr>
          <p:cNvPr name="TextBox 3" id="3"/>
          <p:cNvSpPr txBox="true"/>
          <p:nvPr/>
        </p:nvSpPr>
        <p:spPr>
          <a:xfrm rot="0">
            <a:off x="3520440" y="868680"/>
            <a:ext cx="12070080" cy="1874519"/>
          </a:xfrm>
          <a:prstGeom prst="rect">
            <a:avLst/>
          </a:prstGeom>
        </p:spPr>
        <p:txBody>
          <a:bodyPr anchor="ctr" rtlCol="false" tIns="0" lIns="0" bIns="0" rIns="0" wrap="square">
            <a:spAutoFit/>
          </a:bodyPr>
          <a:lstStyle/>
          <a:p>
            <a:pPr algn="l" marL="0" indent="0" lvl="0">
              <a:lnSpc>
                <a:spcPts val="10481"/>
              </a:lnSpc>
              <a:spcBef>
                <a:spcPct val="0"/>
              </a:spcBef>
            </a:pPr>
            <a:r>
              <a:rPr lang="en-US" b="0" sz="5400">
                <a:solidFill>
                  <a:srgbClr val="FFFFFF"/>
                </a:solidFill>
                <a:latin typeface="Arial Black"/>
                <a:ea typeface="Arial Black"/>
                <a:cs typeface="Arial Black"/>
                <a:sym typeface="Arial Black"/>
              </a:rPr>
              <a:t>Carga y transformación</a:t>
            </a:r>
          </a:p>
        </p:txBody>
      </p:sp>
      <p:sp>
        <p:nvSpPr>
          <p:cNvPr name="Freeform 4" id="4"/>
          <p:cNvSpPr/>
          <p:nvPr/>
        </p:nvSpPr>
        <p:spPr>
          <a:xfrm flipH="false" flipV="false" rot="0">
            <a:off x="536304" y="308054"/>
            <a:ext cx="650696" cy="409939"/>
          </a:xfrm>
          <a:custGeom>
            <a:avLst/>
            <a:gdLst/>
            <a:ahLst/>
            <a:cxnLst/>
            <a:rect r="r" b="b" t="t" l="l"/>
            <a:pathLst>
              <a:path h="409939" w="650696">
                <a:moveTo>
                  <a:pt x="0" y="0"/>
                </a:moveTo>
                <a:lnTo>
                  <a:pt x="650697" y="0"/>
                </a:lnTo>
                <a:lnTo>
                  <a:pt x="650697" y="409938"/>
                </a:lnTo>
                <a:lnTo>
                  <a:pt x="0" y="40993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219785" y="9070932"/>
            <a:ext cx="4151107" cy="986035"/>
            <a:chOff x="0" y="0"/>
            <a:chExt cx="5534810" cy="1314713"/>
          </a:xfrm>
        </p:grpSpPr>
        <p:sp>
          <p:nvSpPr>
            <p:cNvPr name="Freeform 6" id="6"/>
            <p:cNvSpPr/>
            <p:nvPr/>
          </p:nvSpPr>
          <p:spPr>
            <a:xfrm flipH="false" flipV="false" rot="0">
              <a:off x="0" y="0"/>
              <a:ext cx="1314713" cy="1314713"/>
            </a:xfrm>
            <a:custGeom>
              <a:avLst/>
              <a:gdLst/>
              <a:ahLst/>
              <a:cxnLst/>
              <a:rect r="r" b="b" t="t" l="l"/>
              <a:pathLst>
                <a:path h="1314713" w="1314713">
                  <a:moveTo>
                    <a:pt x="0" y="0"/>
                  </a:moveTo>
                  <a:lnTo>
                    <a:pt x="1314713" y="0"/>
                  </a:lnTo>
                  <a:lnTo>
                    <a:pt x="1314713" y="1314713"/>
                  </a:lnTo>
                  <a:lnTo>
                    <a:pt x="0" y="131471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7" id="7"/>
            <p:cNvSpPr txBox="true"/>
            <p:nvPr/>
          </p:nvSpPr>
          <p:spPr>
            <a:xfrm rot="0">
              <a:off x="1455753" y="151974"/>
              <a:ext cx="3148240" cy="462308"/>
            </a:xfrm>
            <a:prstGeom prst="rect">
              <a:avLst/>
            </a:prstGeom>
          </p:spPr>
          <p:txBody>
            <a:bodyPr anchor="t" rtlCol="false" tIns="0" lIns="0" bIns="0" rIns="0">
              <a:spAutoFit/>
            </a:bodyPr>
            <a:lstStyle/>
            <a:p>
              <a:pPr algn="l">
                <a:lnSpc>
                  <a:spcPts val="2702"/>
                </a:lnSpc>
              </a:pPr>
              <a:r>
                <a:rPr lang="en-US" b="true" sz="2252">
                  <a:solidFill>
                    <a:srgbClr val="FFFFFF"/>
                  </a:solidFill>
                  <a:latin typeface="Raleway 1 Bold"/>
                  <a:ea typeface="Raleway 1 Bold"/>
                  <a:cs typeface="Raleway 1 Bold"/>
                  <a:sym typeface="Raleway 1 Bold"/>
                </a:rPr>
                <a:t>OCTUBRE</a:t>
              </a:r>
            </a:p>
          </p:txBody>
        </p:sp>
        <p:sp>
          <p:nvSpPr>
            <p:cNvPr name="TextBox 8" id="8"/>
            <p:cNvSpPr txBox="true"/>
            <p:nvPr/>
          </p:nvSpPr>
          <p:spPr>
            <a:xfrm rot="0">
              <a:off x="1468453" y="585710"/>
              <a:ext cx="4066356" cy="565140"/>
            </a:xfrm>
            <a:prstGeom prst="rect">
              <a:avLst/>
            </a:prstGeom>
          </p:spPr>
          <p:txBody>
            <a:bodyPr anchor="t" rtlCol="false" tIns="0" lIns="0" bIns="0" rIns="0">
              <a:spAutoFit/>
            </a:bodyPr>
            <a:lstStyle/>
            <a:p>
              <a:pPr algn="l">
                <a:lnSpc>
                  <a:spcPts val="1130"/>
                </a:lnSpc>
              </a:pPr>
              <a:r>
                <a:rPr lang="en-US" sz="1097" b="true">
                  <a:solidFill>
                    <a:srgbClr val="FFFFFF"/>
                  </a:solidFill>
                  <a:latin typeface="Raleway 1 Bold"/>
                  <a:ea typeface="Raleway 1 Bold"/>
                  <a:cs typeface="Raleway 1 Bold"/>
                  <a:sym typeface="Raleway 1 Bold"/>
                </a:rPr>
                <a:t>Mes de </a:t>
              </a:r>
            </a:p>
            <a:p>
              <a:pPr algn="l">
                <a:lnSpc>
                  <a:spcPts val="2059"/>
                </a:lnSpc>
              </a:pPr>
              <a:r>
                <a:rPr lang="en-US" b="true" sz="1999">
                  <a:solidFill>
                    <a:srgbClr val="FFFFFF"/>
                  </a:solidFill>
                  <a:latin typeface="Raleway 1 Bold"/>
                  <a:ea typeface="Raleway 1 Bold"/>
                  <a:cs typeface="Raleway 1 Bold"/>
                  <a:sym typeface="Raleway 1 Bold"/>
                </a:rPr>
                <a:t>HAN SOLO</a:t>
              </a:r>
            </a:p>
          </p:txBody>
        </p:sp>
      </p:grpSp>
      <p:sp>
        <p:nvSpPr>
          <p:cNvPr name="TextBox 9" id="9"/>
          <p:cNvSpPr txBox="true"/>
          <p:nvPr/>
        </p:nvSpPr>
        <p:spPr>
          <a:xfrm rot="0">
            <a:off x="1258571" y="221658"/>
            <a:ext cx="15091730" cy="563680"/>
          </a:xfrm>
          <a:prstGeom prst="rect">
            <a:avLst/>
          </a:prstGeom>
        </p:spPr>
        <p:txBody>
          <a:bodyPr anchor="t" rtlCol="false" tIns="0" lIns="0" bIns="0" rIns="0">
            <a:spAutoFit/>
          </a:bodyPr>
          <a:lstStyle/>
          <a:p>
            <a:pPr algn="l">
              <a:lnSpc>
                <a:spcPts val="1760"/>
              </a:lnSpc>
            </a:pPr>
            <a:r>
              <a:rPr lang="en-US" sz="2000">
                <a:solidFill>
                  <a:srgbClr val="316CE3"/>
                </a:solidFill>
                <a:latin typeface="Gotham"/>
                <a:ea typeface="Gotham"/>
                <a:cs typeface="Gotham"/>
                <a:sym typeface="Gotham"/>
              </a:rPr>
              <a:t>HOY:</a:t>
            </a:r>
          </a:p>
          <a:p>
            <a:pPr algn="l">
              <a:lnSpc>
                <a:spcPts val="2528"/>
              </a:lnSpc>
            </a:pPr>
            <a:r>
              <a:rPr lang="en-US" sz="2873" b="true">
                <a:solidFill>
                  <a:srgbClr val="316CE3"/>
                </a:solidFill>
                <a:latin typeface="Gotham Bold"/>
                <a:ea typeface="Gotham Bold"/>
                <a:cs typeface="Gotham Bold"/>
                <a:sym typeface="Gotham Bold"/>
              </a:rPr>
              <a:t>Episodio II — El Ataque de los Graviton: Infraestructura y rendimiento</a:t>
            </a:r>
          </a:p>
        </p:txBody>
      </p:sp>
      <p:sp>
        <p:nvSpPr>
          <p:cNvPr id="10" name="TextBox 9"/>
          <p:cNvSpPr txBox="1"/>
          <p:nvPr/>
        </p:nvSpPr>
        <p:spPr>
          <a:xfrm>
            <a:off x="914400" y="3291840"/>
            <a:ext cx="6035040" cy="5120640"/>
          </a:xfrm>
          <a:prstGeom prst="rect">
            <a:avLst/>
          </a:prstGeom>
          <a:noFill/>
        </p:spPr>
        <p:txBody>
          <a:bodyPr wrap="square" anchor="t" lIns="0" rIns="0" tIns="0" bIns="0">
            <a:spAutoFit/>
          </a:bodyPr>
          <a:lstStyle/>
          <a:p>
            <a:pPr algn="l">
              <a:spcAft>
                <a:spcPts val="1800"/>
              </a:spcAft>
            </a:pPr>
            <a:r>
              <a:rPr sz="2500" b="1">
                <a:solidFill>
                  <a:srgbClr val="D9E2EC"/>
                </a:solidFill>
                <a:latin typeface="Arial"/>
              </a:rPr>
              <a:t>Cargar los 100 GB tomó 20 min 44 s</a:t>
            </a:r>
          </a:p>
          <a:p>
            <a:pPr algn="l">
              <a:spcAft>
                <a:spcPts val="1800"/>
              </a:spcAft>
            </a:pPr>
            <a:r>
              <a:rPr sz="2500" b="0">
                <a:solidFill>
                  <a:srgbClr val="D9E2EC"/>
                </a:solidFill>
                <a:latin typeface="Arial"/>
              </a:rPr>
              <a:t>Desde S3, en RA3, una sola vez</a:t>
            </a:r>
          </a:p>
          <a:p>
            <a:pPr algn="l">
              <a:spcAft>
                <a:spcPts val="1800"/>
              </a:spcAft>
            </a:pPr>
            <a:r>
              <a:rPr sz="2500" b="0">
                <a:solidFill>
                  <a:srgbClr val="D9E2EC"/>
                </a:solidFill>
                <a:latin typeface="Arial"/>
              </a:rPr>
              <a:t>Copiar una tabla desde S3: </a:t>
            </a:r>
            <a:r>
              <a:rPr sz="2500" b="1">
                <a:solidFill>
                  <a:srgbClr val="D9E2EC"/>
                </a:solidFill>
                <a:latin typeface="Arial"/>
              </a:rPr>
              <a:t>1,50x</a:t>
            </a:r>
          </a:p>
          <a:p>
            <a:pPr algn="l">
              <a:spcAft>
                <a:spcPts val="1800"/>
              </a:spcAft>
            </a:pPr>
            <a:r>
              <a:rPr sz="2500" b="0">
                <a:solidFill>
                  <a:srgbClr val="D9E2EC"/>
                </a:solidFill>
                <a:latin typeface="Arial"/>
              </a:rPr>
              <a:t>Crear una tabla resumen (CTAS): </a:t>
            </a:r>
            <a:r>
              <a:rPr sz="2500" b="1">
                <a:solidFill>
                  <a:srgbClr val="D9E2EC"/>
                </a:solidFill>
                <a:latin typeface="Arial"/>
              </a:rPr>
              <a:t>1,62x</a:t>
            </a:r>
          </a:p>
        </p:txBody>
      </p:sp>
      <p:graphicFrame>
        <p:nvGraphicFramePr>
          <p:cNvPr id="11" name="Chart 10"/>
          <p:cNvGraphicFramePr>
            <a:graphicFrameLocks noGrp="1"/>
          </p:cNvGraphicFramePr>
          <p:nvPr/>
        </p:nvGraphicFramePr>
        <p:xfrm>
          <a:off x="7315200" y="3017520"/>
          <a:ext cx="7863840" cy="5486400"/>
        </p:xfrm>
        <a:graphic>
          <a:graphicData uri="http://schemas.openxmlformats.org/drawingml/2006/chart">
            <c:chart xmlns:c="http://schemas.openxmlformats.org/drawingml/2006/chart" r:id="rId7"/>
          </a:graphicData>
        </a:graphic>
      </p:graphicFrame>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232E3E"/>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txBody>
          <a:bodyPr/>
          <a:p/>
        </p:txBody>
      </p:sp>
      <p:sp>
        <p:nvSpPr>
          <p:cNvPr name="TextBox 3" id="3"/>
          <p:cNvSpPr txBox="true"/>
          <p:nvPr/>
        </p:nvSpPr>
        <p:spPr>
          <a:xfrm rot="0">
            <a:off x="3520440" y="868680"/>
            <a:ext cx="12070080" cy="1874519"/>
          </a:xfrm>
          <a:prstGeom prst="rect">
            <a:avLst/>
          </a:prstGeom>
        </p:spPr>
        <p:txBody>
          <a:bodyPr anchor="ctr" rtlCol="false" tIns="0" lIns="0" bIns="0" rIns="0" wrap="square">
            <a:spAutoFit/>
          </a:bodyPr>
          <a:lstStyle/>
          <a:p>
            <a:pPr algn="l" marL="0" indent="0" lvl="0">
              <a:lnSpc>
                <a:spcPts val="10481"/>
              </a:lnSpc>
              <a:spcBef>
                <a:spcPct val="0"/>
              </a:spcBef>
            </a:pPr>
            <a:r>
              <a:rPr lang="en-US" b="0" sz="4400">
                <a:solidFill>
                  <a:srgbClr val="FFFFFF"/>
                </a:solidFill>
                <a:latin typeface="Arial Black"/>
                <a:ea typeface="Arial Black"/>
                <a:cs typeface="Arial Black"/>
                <a:sym typeface="Arial Black"/>
              </a:rPr>
              <a:t>Más rápido y también más barato</a:t>
            </a:r>
          </a:p>
        </p:txBody>
      </p:sp>
      <p:sp>
        <p:nvSpPr>
          <p:cNvPr name="Freeform 4" id="4"/>
          <p:cNvSpPr/>
          <p:nvPr/>
        </p:nvSpPr>
        <p:spPr>
          <a:xfrm flipH="false" flipV="false" rot="0">
            <a:off x="536304" y="308054"/>
            <a:ext cx="650696" cy="409939"/>
          </a:xfrm>
          <a:custGeom>
            <a:avLst/>
            <a:gdLst/>
            <a:ahLst/>
            <a:cxnLst/>
            <a:rect r="r" b="b" t="t" l="l"/>
            <a:pathLst>
              <a:path h="409939" w="650696">
                <a:moveTo>
                  <a:pt x="0" y="0"/>
                </a:moveTo>
                <a:lnTo>
                  <a:pt x="650697" y="0"/>
                </a:lnTo>
                <a:lnTo>
                  <a:pt x="650697" y="409938"/>
                </a:lnTo>
                <a:lnTo>
                  <a:pt x="0" y="40993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219785" y="9070932"/>
            <a:ext cx="4151107" cy="986035"/>
            <a:chOff x="0" y="0"/>
            <a:chExt cx="5534810" cy="1314713"/>
          </a:xfrm>
        </p:grpSpPr>
        <p:sp>
          <p:nvSpPr>
            <p:cNvPr name="Freeform 6" id="6"/>
            <p:cNvSpPr/>
            <p:nvPr/>
          </p:nvSpPr>
          <p:spPr>
            <a:xfrm flipH="false" flipV="false" rot="0">
              <a:off x="0" y="0"/>
              <a:ext cx="1314713" cy="1314713"/>
            </a:xfrm>
            <a:custGeom>
              <a:avLst/>
              <a:gdLst/>
              <a:ahLst/>
              <a:cxnLst/>
              <a:rect r="r" b="b" t="t" l="l"/>
              <a:pathLst>
                <a:path h="1314713" w="1314713">
                  <a:moveTo>
                    <a:pt x="0" y="0"/>
                  </a:moveTo>
                  <a:lnTo>
                    <a:pt x="1314713" y="0"/>
                  </a:lnTo>
                  <a:lnTo>
                    <a:pt x="1314713" y="1314713"/>
                  </a:lnTo>
                  <a:lnTo>
                    <a:pt x="0" y="131471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7" id="7"/>
            <p:cNvSpPr txBox="true"/>
            <p:nvPr/>
          </p:nvSpPr>
          <p:spPr>
            <a:xfrm rot="0">
              <a:off x="1455753" y="151974"/>
              <a:ext cx="3148240" cy="462308"/>
            </a:xfrm>
            <a:prstGeom prst="rect">
              <a:avLst/>
            </a:prstGeom>
          </p:spPr>
          <p:txBody>
            <a:bodyPr anchor="t" rtlCol="false" tIns="0" lIns="0" bIns="0" rIns="0">
              <a:spAutoFit/>
            </a:bodyPr>
            <a:lstStyle/>
            <a:p>
              <a:pPr algn="l">
                <a:lnSpc>
                  <a:spcPts val="2702"/>
                </a:lnSpc>
              </a:pPr>
              <a:r>
                <a:rPr lang="en-US" b="true" sz="2252">
                  <a:solidFill>
                    <a:srgbClr val="FFFFFF"/>
                  </a:solidFill>
                  <a:latin typeface="Raleway 1 Bold"/>
                  <a:ea typeface="Raleway 1 Bold"/>
                  <a:cs typeface="Raleway 1 Bold"/>
                  <a:sym typeface="Raleway 1 Bold"/>
                </a:rPr>
                <a:t>OCTUBRE</a:t>
              </a:r>
            </a:p>
          </p:txBody>
        </p:sp>
        <p:sp>
          <p:nvSpPr>
            <p:cNvPr name="TextBox 8" id="8"/>
            <p:cNvSpPr txBox="true"/>
            <p:nvPr/>
          </p:nvSpPr>
          <p:spPr>
            <a:xfrm rot="0">
              <a:off x="1468453" y="585710"/>
              <a:ext cx="4066356" cy="565140"/>
            </a:xfrm>
            <a:prstGeom prst="rect">
              <a:avLst/>
            </a:prstGeom>
          </p:spPr>
          <p:txBody>
            <a:bodyPr anchor="t" rtlCol="false" tIns="0" lIns="0" bIns="0" rIns="0">
              <a:spAutoFit/>
            </a:bodyPr>
            <a:lstStyle/>
            <a:p>
              <a:pPr algn="l">
                <a:lnSpc>
                  <a:spcPts val="1130"/>
                </a:lnSpc>
              </a:pPr>
              <a:r>
                <a:rPr lang="en-US" sz="1097" b="true">
                  <a:solidFill>
                    <a:srgbClr val="FFFFFF"/>
                  </a:solidFill>
                  <a:latin typeface="Raleway 1 Bold"/>
                  <a:ea typeface="Raleway 1 Bold"/>
                  <a:cs typeface="Raleway 1 Bold"/>
                  <a:sym typeface="Raleway 1 Bold"/>
                </a:rPr>
                <a:t>Mes de </a:t>
              </a:r>
            </a:p>
            <a:p>
              <a:pPr algn="l">
                <a:lnSpc>
                  <a:spcPts val="2059"/>
                </a:lnSpc>
              </a:pPr>
              <a:r>
                <a:rPr lang="en-US" b="true" sz="1999">
                  <a:solidFill>
                    <a:srgbClr val="FFFFFF"/>
                  </a:solidFill>
                  <a:latin typeface="Raleway 1 Bold"/>
                  <a:ea typeface="Raleway 1 Bold"/>
                  <a:cs typeface="Raleway 1 Bold"/>
                  <a:sym typeface="Raleway 1 Bold"/>
                </a:rPr>
                <a:t>HAN SOLO</a:t>
              </a:r>
            </a:p>
          </p:txBody>
        </p:sp>
      </p:grpSp>
      <p:sp>
        <p:nvSpPr>
          <p:cNvPr name="TextBox 9" id="9"/>
          <p:cNvSpPr txBox="true"/>
          <p:nvPr/>
        </p:nvSpPr>
        <p:spPr>
          <a:xfrm rot="0">
            <a:off x="1258571" y="221658"/>
            <a:ext cx="15091730" cy="563680"/>
          </a:xfrm>
          <a:prstGeom prst="rect">
            <a:avLst/>
          </a:prstGeom>
        </p:spPr>
        <p:txBody>
          <a:bodyPr anchor="t" rtlCol="false" tIns="0" lIns="0" bIns="0" rIns="0">
            <a:spAutoFit/>
          </a:bodyPr>
          <a:lstStyle/>
          <a:p>
            <a:pPr algn="l">
              <a:lnSpc>
                <a:spcPts val="1760"/>
              </a:lnSpc>
            </a:pPr>
            <a:r>
              <a:rPr lang="en-US" sz="2000">
                <a:solidFill>
                  <a:srgbClr val="316CE3"/>
                </a:solidFill>
                <a:latin typeface="Gotham"/>
                <a:ea typeface="Gotham"/>
                <a:cs typeface="Gotham"/>
                <a:sym typeface="Gotham"/>
              </a:rPr>
              <a:t>HOY:</a:t>
            </a:r>
          </a:p>
          <a:p>
            <a:pPr algn="l">
              <a:lnSpc>
                <a:spcPts val="2528"/>
              </a:lnSpc>
            </a:pPr>
            <a:r>
              <a:rPr lang="en-US" sz="2873" b="true">
                <a:solidFill>
                  <a:srgbClr val="316CE3"/>
                </a:solidFill>
                <a:latin typeface="Gotham Bold"/>
                <a:ea typeface="Gotham Bold"/>
                <a:cs typeface="Gotham Bold"/>
                <a:sym typeface="Gotham Bold"/>
              </a:rPr>
              <a:t>Episodio II — El Ataque de los Graviton: Infraestructura y rendimiento</a:t>
            </a:r>
          </a:p>
        </p:txBody>
      </p:sp>
      <p:sp>
        <p:nvSpPr>
          <p:cNvPr id="10" name="TextBox 9"/>
          <p:cNvSpPr txBox="1"/>
          <p:nvPr/>
        </p:nvSpPr>
        <p:spPr>
          <a:xfrm>
            <a:off x="914400" y="3383280"/>
            <a:ext cx="8229600" cy="1280160"/>
          </a:xfrm>
          <a:prstGeom prst="rect">
            <a:avLst/>
          </a:prstGeom>
          <a:noFill/>
        </p:spPr>
        <p:txBody>
          <a:bodyPr wrap="square" anchor="b" lIns="0" rIns="0" tIns="0" bIns="0">
            <a:spAutoFit/>
          </a:bodyPr>
          <a:lstStyle/>
          <a:p>
            <a:pPr algn="l">
              <a:spcAft>
                <a:spcPts val="1000"/>
              </a:spcAft>
            </a:pPr>
            <a:r>
              <a:rPr sz="5400" b="1">
                <a:solidFill>
                  <a:srgbClr val="FFFFFF"/>
                </a:solidFill>
                <a:latin typeface="Arial"/>
              </a:rPr>
              <a:t>USD 0,089 → 0,041</a:t>
            </a:r>
          </a:p>
        </p:txBody>
      </p:sp>
      <p:sp>
        <p:nvSpPr>
          <p:cNvPr id="11" name="TextBox 10"/>
          <p:cNvSpPr txBox="1"/>
          <p:nvPr/>
        </p:nvSpPr>
        <p:spPr>
          <a:xfrm>
            <a:off x="914400" y="4754880"/>
            <a:ext cx="8229600" cy="1097280"/>
          </a:xfrm>
          <a:prstGeom prst="rect">
            <a:avLst/>
          </a:prstGeom>
          <a:noFill/>
        </p:spPr>
        <p:txBody>
          <a:bodyPr wrap="square" anchor="t" lIns="0" rIns="0" tIns="0" bIns="0">
            <a:spAutoFit/>
          </a:bodyPr>
          <a:lstStyle/>
          <a:p>
            <a:pPr algn="l">
              <a:spcAft>
                <a:spcPts val="1000"/>
              </a:spcAft>
            </a:pPr>
            <a:r>
              <a:rPr sz="2200" b="0">
                <a:solidFill>
                  <a:srgbClr val="D9E2EC"/>
                </a:solidFill>
                <a:latin typeface="Arial"/>
              </a:rPr>
              <a:t>lo que costó cada ejecución de las 20 consultas</a:t>
            </a:r>
          </a:p>
        </p:txBody>
      </p:sp>
      <p:sp>
        <p:nvSpPr>
          <p:cNvPr id="12" name="TextBox 11"/>
          <p:cNvSpPr txBox="1"/>
          <p:nvPr/>
        </p:nvSpPr>
        <p:spPr>
          <a:xfrm>
            <a:off x="9326880" y="3383280"/>
            <a:ext cx="5669280" cy="1280160"/>
          </a:xfrm>
          <a:prstGeom prst="rect">
            <a:avLst/>
          </a:prstGeom>
          <a:noFill/>
        </p:spPr>
        <p:txBody>
          <a:bodyPr wrap="square" anchor="b" lIns="0" rIns="0" tIns="0" bIns="0">
            <a:spAutoFit/>
          </a:bodyPr>
          <a:lstStyle/>
          <a:p>
            <a:pPr algn="l">
              <a:spcAft>
                <a:spcPts val="1000"/>
              </a:spcAft>
            </a:pPr>
            <a:r>
              <a:rPr sz="11000" b="1">
                <a:solidFill>
                  <a:srgbClr val="316CE3"/>
                </a:solidFill>
                <a:latin typeface="Arial"/>
              </a:rPr>
              <a:t>2,2x</a:t>
            </a:r>
          </a:p>
        </p:txBody>
      </p:sp>
      <p:sp>
        <p:nvSpPr>
          <p:cNvPr id="13" name="TextBox 12"/>
          <p:cNvSpPr txBox="1"/>
          <p:nvPr/>
        </p:nvSpPr>
        <p:spPr>
          <a:xfrm>
            <a:off x="9326880" y="4754880"/>
            <a:ext cx="5669280" cy="1097280"/>
          </a:xfrm>
          <a:prstGeom prst="rect">
            <a:avLst/>
          </a:prstGeom>
          <a:noFill/>
        </p:spPr>
        <p:txBody>
          <a:bodyPr wrap="square" anchor="t" lIns="0" rIns="0" tIns="0" bIns="0">
            <a:spAutoFit/>
          </a:bodyPr>
          <a:lstStyle/>
          <a:p>
            <a:pPr algn="l">
              <a:spcAft>
                <a:spcPts val="1000"/>
              </a:spcAft>
            </a:pPr>
            <a:r>
              <a:rPr sz="2200" b="0">
                <a:solidFill>
                  <a:srgbClr val="D9E2EC"/>
                </a:solidFill>
                <a:latin typeface="Arial"/>
              </a:rPr>
              <a:t>menos costo por el mismo trabajo</a:t>
            </a:r>
          </a:p>
        </p:txBody>
      </p:sp>
      <p:sp>
        <p:nvSpPr>
          <p:cNvPr id="14" name="TextBox 13"/>
          <p:cNvSpPr txBox="1"/>
          <p:nvPr/>
        </p:nvSpPr>
        <p:spPr>
          <a:xfrm>
            <a:off x="914400" y="7223760"/>
            <a:ext cx="13898880" cy="1097280"/>
          </a:xfrm>
          <a:prstGeom prst="rect">
            <a:avLst/>
          </a:prstGeom>
          <a:noFill/>
        </p:spPr>
        <p:txBody>
          <a:bodyPr wrap="square" anchor="t" lIns="0" rIns="0" tIns="0" bIns="0">
            <a:spAutoFit/>
          </a:bodyPr>
          <a:lstStyle/>
          <a:p>
            <a:pPr algn="l">
              <a:spcAft>
                <a:spcPts val="1000"/>
              </a:spcAft>
            </a:pPr>
            <a:r>
              <a:rPr sz="2500" b="0">
                <a:solidFill>
                  <a:srgbClr val="FFFFFF"/>
                </a:solidFill>
                <a:latin typeface="Arial"/>
              </a:rPr>
              <a:t>Dos razones que se suman: </a:t>
            </a:r>
            <a:r>
              <a:rPr sz="2500" b="1">
                <a:solidFill>
                  <a:srgbClr val="FFFFFF"/>
                </a:solidFill>
                <a:latin typeface="Arial"/>
              </a:rPr>
              <a:t>el nodo RG cuesta 30 % menos por hora y además termina antes.</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232E3E"/>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txBody>
          <a:bodyPr/>
          <a:p/>
        </p:txBody>
      </p:sp>
      <p:sp>
        <p:nvSpPr>
          <p:cNvPr name="TextBox 3" id="3"/>
          <p:cNvSpPr txBox="true"/>
          <p:nvPr/>
        </p:nvSpPr>
        <p:spPr>
          <a:xfrm rot="0">
            <a:off x="3520440" y="868680"/>
            <a:ext cx="12070080" cy="1874519"/>
          </a:xfrm>
          <a:prstGeom prst="rect">
            <a:avLst/>
          </a:prstGeom>
        </p:spPr>
        <p:txBody>
          <a:bodyPr anchor="ctr" rtlCol="false" tIns="0" lIns="0" bIns="0" rIns="0" wrap="square">
            <a:spAutoFit/>
          </a:bodyPr>
          <a:lstStyle/>
          <a:p>
            <a:pPr algn="l" marL="0" indent="0" lvl="0">
              <a:lnSpc>
                <a:spcPts val="10481"/>
              </a:lnSpc>
              <a:spcBef>
                <a:spcPct val="0"/>
              </a:spcBef>
            </a:pPr>
            <a:r>
              <a:rPr lang="en-US" b="0" sz="5400">
                <a:solidFill>
                  <a:srgbClr val="FFFFFF"/>
                </a:solidFill>
                <a:latin typeface="Arial Black"/>
                <a:ea typeface="Arial Black"/>
                <a:cs typeface="Arial Black"/>
                <a:sym typeface="Arial Black"/>
              </a:rPr>
              <a:t>¿Y Serverless?</a:t>
            </a:r>
          </a:p>
        </p:txBody>
      </p:sp>
      <p:sp>
        <p:nvSpPr>
          <p:cNvPr name="Freeform 4" id="4"/>
          <p:cNvSpPr/>
          <p:nvPr/>
        </p:nvSpPr>
        <p:spPr>
          <a:xfrm flipH="false" flipV="false" rot="0">
            <a:off x="536304" y="308054"/>
            <a:ext cx="650696" cy="409939"/>
          </a:xfrm>
          <a:custGeom>
            <a:avLst/>
            <a:gdLst/>
            <a:ahLst/>
            <a:cxnLst/>
            <a:rect r="r" b="b" t="t" l="l"/>
            <a:pathLst>
              <a:path h="409939" w="650696">
                <a:moveTo>
                  <a:pt x="0" y="0"/>
                </a:moveTo>
                <a:lnTo>
                  <a:pt x="650697" y="0"/>
                </a:lnTo>
                <a:lnTo>
                  <a:pt x="650697" y="409938"/>
                </a:lnTo>
                <a:lnTo>
                  <a:pt x="0" y="40993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219785" y="9070932"/>
            <a:ext cx="4151107" cy="986035"/>
            <a:chOff x="0" y="0"/>
            <a:chExt cx="5534810" cy="1314713"/>
          </a:xfrm>
        </p:grpSpPr>
        <p:sp>
          <p:nvSpPr>
            <p:cNvPr name="Freeform 6" id="6"/>
            <p:cNvSpPr/>
            <p:nvPr/>
          </p:nvSpPr>
          <p:spPr>
            <a:xfrm flipH="false" flipV="false" rot="0">
              <a:off x="0" y="0"/>
              <a:ext cx="1314713" cy="1314713"/>
            </a:xfrm>
            <a:custGeom>
              <a:avLst/>
              <a:gdLst/>
              <a:ahLst/>
              <a:cxnLst/>
              <a:rect r="r" b="b" t="t" l="l"/>
              <a:pathLst>
                <a:path h="1314713" w="1314713">
                  <a:moveTo>
                    <a:pt x="0" y="0"/>
                  </a:moveTo>
                  <a:lnTo>
                    <a:pt x="1314713" y="0"/>
                  </a:lnTo>
                  <a:lnTo>
                    <a:pt x="1314713" y="1314713"/>
                  </a:lnTo>
                  <a:lnTo>
                    <a:pt x="0" y="131471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7" id="7"/>
            <p:cNvSpPr txBox="true"/>
            <p:nvPr/>
          </p:nvSpPr>
          <p:spPr>
            <a:xfrm rot="0">
              <a:off x="1455753" y="151974"/>
              <a:ext cx="3148240" cy="462308"/>
            </a:xfrm>
            <a:prstGeom prst="rect">
              <a:avLst/>
            </a:prstGeom>
          </p:spPr>
          <p:txBody>
            <a:bodyPr anchor="t" rtlCol="false" tIns="0" lIns="0" bIns="0" rIns="0">
              <a:spAutoFit/>
            </a:bodyPr>
            <a:lstStyle/>
            <a:p>
              <a:pPr algn="l">
                <a:lnSpc>
                  <a:spcPts val="2702"/>
                </a:lnSpc>
              </a:pPr>
              <a:r>
                <a:rPr lang="en-US" b="true" sz="2252">
                  <a:solidFill>
                    <a:srgbClr val="FFFFFF"/>
                  </a:solidFill>
                  <a:latin typeface="Raleway 1 Bold"/>
                  <a:ea typeface="Raleway 1 Bold"/>
                  <a:cs typeface="Raleway 1 Bold"/>
                  <a:sym typeface="Raleway 1 Bold"/>
                </a:rPr>
                <a:t>OCTUBRE</a:t>
              </a:r>
            </a:p>
          </p:txBody>
        </p:sp>
        <p:sp>
          <p:nvSpPr>
            <p:cNvPr name="TextBox 8" id="8"/>
            <p:cNvSpPr txBox="true"/>
            <p:nvPr/>
          </p:nvSpPr>
          <p:spPr>
            <a:xfrm rot="0">
              <a:off x="1468453" y="585710"/>
              <a:ext cx="4066356" cy="565140"/>
            </a:xfrm>
            <a:prstGeom prst="rect">
              <a:avLst/>
            </a:prstGeom>
          </p:spPr>
          <p:txBody>
            <a:bodyPr anchor="t" rtlCol="false" tIns="0" lIns="0" bIns="0" rIns="0">
              <a:spAutoFit/>
            </a:bodyPr>
            <a:lstStyle/>
            <a:p>
              <a:pPr algn="l">
                <a:lnSpc>
                  <a:spcPts val="1130"/>
                </a:lnSpc>
              </a:pPr>
              <a:r>
                <a:rPr lang="en-US" sz="1097" b="true">
                  <a:solidFill>
                    <a:srgbClr val="FFFFFF"/>
                  </a:solidFill>
                  <a:latin typeface="Raleway 1 Bold"/>
                  <a:ea typeface="Raleway 1 Bold"/>
                  <a:cs typeface="Raleway 1 Bold"/>
                  <a:sym typeface="Raleway 1 Bold"/>
                </a:rPr>
                <a:t>Mes de </a:t>
              </a:r>
            </a:p>
            <a:p>
              <a:pPr algn="l">
                <a:lnSpc>
                  <a:spcPts val="2059"/>
                </a:lnSpc>
              </a:pPr>
              <a:r>
                <a:rPr lang="en-US" b="true" sz="1999">
                  <a:solidFill>
                    <a:srgbClr val="FFFFFF"/>
                  </a:solidFill>
                  <a:latin typeface="Raleway 1 Bold"/>
                  <a:ea typeface="Raleway 1 Bold"/>
                  <a:cs typeface="Raleway 1 Bold"/>
                  <a:sym typeface="Raleway 1 Bold"/>
                </a:rPr>
                <a:t>HAN SOLO</a:t>
              </a:r>
            </a:p>
          </p:txBody>
        </p:sp>
      </p:grpSp>
      <p:sp>
        <p:nvSpPr>
          <p:cNvPr name="TextBox 9" id="9"/>
          <p:cNvSpPr txBox="true"/>
          <p:nvPr/>
        </p:nvSpPr>
        <p:spPr>
          <a:xfrm rot="0">
            <a:off x="1258571" y="221658"/>
            <a:ext cx="15091730" cy="563680"/>
          </a:xfrm>
          <a:prstGeom prst="rect">
            <a:avLst/>
          </a:prstGeom>
        </p:spPr>
        <p:txBody>
          <a:bodyPr anchor="t" rtlCol="false" tIns="0" lIns="0" bIns="0" rIns="0">
            <a:spAutoFit/>
          </a:bodyPr>
          <a:lstStyle/>
          <a:p>
            <a:pPr algn="l">
              <a:lnSpc>
                <a:spcPts val="1760"/>
              </a:lnSpc>
            </a:pPr>
            <a:r>
              <a:rPr lang="en-US" sz="2000">
                <a:solidFill>
                  <a:srgbClr val="316CE3"/>
                </a:solidFill>
                <a:latin typeface="Gotham"/>
                <a:ea typeface="Gotham"/>
                <a:cs typeface="Gotham"/>
                <a:sym typeface="Gotham"/>
              </a:rPr>
              <a:t>HOY:</a:t>
            </a:r>
          </a:p>
          <a:p>
            <a:pPr algn="l">
              <a:lnSpc>
                <a:spcPts val="2528"/>
              </a:lnSpc>
            </a:pPr>
            <a:r>
              <a:rPr lang="en-US" sz="2873" b="true">
                <a:solidFill>
                  <a:srgbClr val="316CE3"/>
                </a:solidFill>
                <a:latin typeface="Gotham Bold"/>
                <a:ea typeface="Gotham Bold"/>
                <a:cs typeface="Gotham Bold"/>
                <a:sym typeface="Gotham Bold"/>
              </a:rPr>
              <a:t>Episodio II — El Ataque de los Graviton: Infraestructura y rendimiento</a:t>
            </a:r>
          </a:p>
        </p:txBody>
      </p:sp>
      <p:graphicFrame>
        <p:nvGraphicFramePr>
          <p:cNvPr id="10" name="Table 9"/>
          <p:cNvGraphicFramePr>
            <a:graphicFrameLocks noGrp="1"/>
          </p:cNvGraphicFramePr>
          <p:nvPr/>
        </p:nvGraphicFramePr>
        <p:xfrm>
          <a:off x="914400" y="3200400"/>
          <a:ext cx="13898880" cy="3200400"/>
        </p:xfrm>
        <a:graphic>
          <a:graphicData uri="http://schemas.openxmlformats.org/drawingml/2006/table">
            <a:tbl>
              <a:tblPr firstRow="1" bandRow="1">
                <a:tableStyleId>{5C22544A-7EE6-4342-B048-85BDC9FD1C3A}</a:tableStyleId>
              </a:tblPr>
              <a:tblGrid>
                <a:gridCol w="4572000"/>
                <a:gridCol w="2743200"/>
                <a:gridCol w="2743200"/>
                <a:gridCol w="3840480"/>
              </a:tblGrid>
              <a:tr h="640080">
                <a:tc>
                  <a:txBody>
                    <a:bodyPr/>
                    <a:lstStyle/>
                    <a:p/>
                  </a:txBody>
                  <a:tcPr anchor="ctr" marL="109728" marR="109728">
                    <a:solidFill>
                      <a:srgbClr val="316CE3"/>
                    </a:solidFill>
                  </a:tcPr>
                </a:tc>
                <a:tc>
                  <a:txBody>
                    <a:bodyPr/>
                    <a:lstStyle/>
                    <a:p>
                      <a:r>
                        <a:rPr sz="2200" b="1">
                          <a:solidFill>
                            <a:srgbClr val="FFFFFF"/>
                          </a:solidFill>
                          <a:latin typeface="Arial"/>
                        </a:rPr>
                        <a:t>RA3</a:t>
                      </a:r>
                    </a:p>
                  </a:txBody>
                  <a:tcPr anchor="ctr" marL="109728" marR="109728">
                    <a:solidFill>
                      <a:srgbClr val="316CE3"/>
                    </a:solidFill>
                  </a:tcPr>
                </a:tc>
                <a:tc>
                  <a:txBody>
                    <a:bodyPr/>
                    <a:lstStyle/>
                    <a:p>
                      <a:r>
                        <a:rPr sz="2200" b="1">
                          <a:solidFill>
                            <a:srgbClr val="FFFFFF"/>
                          </a:solidFill>
                          <a:latin typeface="Arial"/>
                        </a:rPr>
                        <a:t>RG</a:t>
                      </a:r>
                    </a:p>
                  </a:txBody>
                  <a:tcPr anchor="ctr" marL="109728" marR="109728">
                    <a:solidFill>
                      <a:srgbClr val="316CE3"/>
                    </a:solidFill>
                  </a:tcPr>
                </a:tc>
                <a:tc>
                  <a:txBody>
                    <a:bodyPr/>
                    <a:lstStyle/>
                    <a:p>
                      <a:r>
                        <a:rPr sz="2200" b="1">
                          <a:solidFill>
                            <a:srgbClr val="FFFFFF"/>
                          </a:solidFill>
                          <a:latin typeface="Arial"/>
                        </a:rPr>
                        <a:t>Serverless 4 RPU</a:t>
                      </a:r>
                    </a:p>
                  </a:txBody>
                  <a:tcPr anchor="ctr" marL="109728" marR="109728">
                    <a:solidFill>
                      <a:srgbClr val="316CE3"/>
                    </a:solidFill>
                  </a:tcPr>
                </a:tc>
              </a:tr>
              <a:tr h="640080">
                <a:tc>
                  <a:txBody>
                    <a:bodyPr/>
                    <a:lstStyle/>
                    <a:p>
                      <a:r>
                        <a:rPr sz="2200" b="0">
                          <a:solidFill>
                            <a:srgbClr val="FFFFFF"/>
                          </a:solidFill>
                          <a:latin typeface="Arial"/>
                        </a:rPr>
                        <a:t>20 consultas (total)</a:t>
                      </a:r>
                    </a:p>
                  </a:txBody>
                  <a:tcPr anchor="ctr" marL="109728" marR="109728">
                    <a:solidFill>
                      <a:srgbClr val="2F3D52"/>
                    </a:solidFill>
                  </a:tcPr>
                </a:tc>
                <a:tc>
                  <a:txBody>
                    <a:bodyPr/>
                    <a:lstStyle/>
                    <a:p>
                      <a:r>
                        <a:rPr sz="2200" b="0">
                          <a:solidFill>
                            <a:srgbClr val="FFFFFF"/>
                          </a:solidFill>
                          <a:latin typeface="Arial"/>
                        </a:rPr>
                        <a:t>148,3 s</a:t>
                      </a:r>
                    </a:p>
                  </a:txBody>
                  <a:tcPr anchor="ctr" marL="109728" marR="109728">
                    <a:solidFill>
                      <a:srgbClr val="2F3D52"/>
                    </a:solidFill>
                  </a:tcPr>
                </a:tc>
                <a:tc>
                  <a:txBody>
                    <a:bodyPr/>
                    <a:lstStyle/>
                    <a:p>
                      <a:r>
                        <a:rPr sz="2200" b="1">
                          <a:solidFill>
                            <a:srgbClr val="FFFFFF"/>
                          </a:solidFill>
                          <a:latin typeface="Arial"/>
                        </a:rPr>
                        <a:t>96,7 s</a:t>
                      </a:r>
                    </a:p>
                  </a:txBody>
                  <a:tcPr anchor="ctr" marL="109728" marR="109728">
                    <a:solidFill>
                      <a:srgbClr val="2F3D52"/>
                    </a:solidFill>
                  </a:tcPr>
                </a:tc>
                <a:tc>
                  <a:txBody>
                    <a:bodyPr/>
                    <a:lstStyle/>
                    <a:p>
                      <a:r>
                        <a:rPr sz="2200" b="0">
                          <a:solidFill>
                            <a:srgbClr val="FFFFFF"/>
                          </a:solidFill>
                          <a:latin typeface="Arial"/>
                        </a:rPr>
                        <a:t>243,9 s</a:t>
                      </a:r>
                    </a:p>
                  </a:txBody>
                  <a:tcPr anchor="ctr" marL="109728" marR="109728">
                    <a:solidFill>
                      <a:srgbClr val="2F3D52"/>
                    </a:solidFill>
                  </a:tcPr>
                </a:tc>
              </a:tr>
              <a:tr h="640080">
                <a:tc>
                  <a:txBody>
                    <a:bodyPr/>
                    <a:lstStyle/>
                    <a:p>
                      <a:r>
                        <a:rPr sz="2200" b="0">
                          <a:solidFill>
                            <a:srgbClr val="FFFFFF"/>
                          </a:solidFill>
                          <a:latin typeface="Arial"/>
                        </a:rPr>
                        <a:t>Consultas por hora, 5 usuarios</a:t>
                      </a:r>
                    </a:p>
                  </a:txBody>
                  <a:tcPr anchor="ctr" marL="109728" marR="109728">
                    <a:solidFill>
                      <a:srgbClr val="2F3D52"/>
                    </a:solidFill>
                  </a:tcPr>
                </a:tc>
                <a:tc>
                  <a:txBody>
                    <a:bodyPr/>
                    <a:lstStyle/>
                    <a:p>
                      <a:r>
                        <a:rPr sz="2200" b="0">
                          <a:solidFill>
                            <a:srgbClr val="FFFFFF"/>
                          </a:solidFill>
                          <a:latin typeface="Arial"/>
                        </a:rPr>
                        <a:t>680</a:t>
                      </a:r>
                    </a:p>
                  </a:txBody>
                  <a:tcPr anchor="ctr" marL="109728" marR="109728">
                    <a:solidFill>
                      <a:srgbClr val="2F3D52"/>
                    </a:solidFill>
                  </a:tcPr>
                </a:tc>
                <a:tc>
                  <a:txBody>
                    <a:bodyPr/>
                    <a:lstStyle/>
                    <a:p>
                      <a:r>
                        <a:rPr sz="2200" b="1">
                          <a:solidFill>
                            <a:srgbClr val="FFFFFF"/>
                          </a:solidFill>
                          <a:latin typeface="Arial"/>
                        </a:rPr>
                        <a:t>1224</a:t>
                      </a:r>
                    </a:p>
                  </a:txBody>
                  <a:tcPr anchor="ctr" marL="109728" marR="109728">
                    <a:solidFill>
                      <a:srgbClr val="2F3D52"/>
                    </a:solidFill>
                  </a:tcPr>
                </a:tc>
                <a:tc>
                  <a:txBody>
                    <a:bodyPr/>
                    <a:lstStyle/>
                    <a:p>
                      <a:r>
                        <a:rPr sz="2200" b="0">
                          <a:solidFill>
                            <a:srgbClr val="FFFFFF"/>
                          </a:solidFill>
                          <a:latin typeface="Arial"/>
                        </a:rPr>
                        <a:t>720</a:t>
                      </a:r>
                    </a:p>
                  </a:txBody>
                  <a:tcPr anchor="ctr" marL="109728" marR="109728">
                    <a:solidFill>
                      <a:srgbClr val="2F3D52"/>
                    </a:solidFill>
                  </a:tcPr>
                </a:tc>
              </a:tr>
              <a:tr h="640080">
                <a:tc>
                  <a:txBody>
                    <a:bodyPr/>
                    <a:lstStyle/>
                    <a:p>
                      <a:r>
                        <a:rPr sz="2200" b="0">
                          <a:solidFill>
                            <a:srgbClr val="FFFFFF"/>
                          </a:solidFill>
                          <a:latin typeface="Arial"/>
                        </a:rPr>
                        <a:t>Iceberg (6 consultas)</a:t>
                      </a:r>
                    </a:p>
                  </a:txBody>
                  <a:tcPr anchor="ctr" marL="109728" marR="109728">
                    <a:solidFill>
                      <a:srgbClr val="2F3D52"/>
                    </a:solidFill>
                  </a:tcPr>
                </a:tc>
                <a:tc>
                  <a:txBody>
                    <a:bodyPr/>
                    <a:lstStyle/>
                    <a:p>
                      <a:r>
                        <a:rPr sz="2200" b="0">
                          <a:solidFill>
                            <a:srgbClr val="FFFFFF"/>
                          </a:solidFill>
                          <a:latin typeface="Arial"/>
                        </a:rPr>
                        <a:t>29,4 s</a:t>
                      </a:r>
                    </a:p>
                  </a:txBody>
                  <a:tcPr anchor="ctr" marL="109728" marR="109728">
                    <a:solidFill>
                      <a:srgbClr val="2F3D52"/>
                    </a:solidFill>
                  </a:tcPr>
                </a:tc>
                <a:tc>
                  <a:txBody>
                    <a:bodyPr/>
                    <a:lstStyle/>
                    <a:p>
                      <a:r>
                        <a:rPr sz="2200" b="1">
                          <a:solidFill>
                            <a:srgbClr val="FFFFFF"/>
                          </a:solidFill>
                          <a:latin typeface="Arial"/>
                        </a:rPr>
                        <a:t>14,6 s</a:t>
                      </a:r>
                    </a:p>
                  </a:txBody>
                  <a:tcPr anchor="ctr" marL="109728" marR="109728">
                    <a:solidFill>
                      <a:srgbClr val="2F3D52"/>
                    </a:solidFill>
                  </a:tcPr>
                </a:tc>
                <a:tc>
                  <a:txBody>
                    <a:bodyPr/>
                    <a:lstStyle/>
                    <a:p>
                      <a:r>
                        <a:rPr sz="2200" b="0">
                          <a:solidFill>
                            <a:srgbClr val="FFFFFF"/>
                          </a:solidFill>
                          <a:latin typeface="Arial"/>
                        </a:rPr>
                        <a:t>34,7 s</a:t>
                      </a:r>
                    </a:p>
                  </a:txBody>
                  <a:tcPr anchor="ctr" marL="109728" marR="109728">
                    <a:solidFill>
                      <a:srgbClr val="2F3D52"/>
                    </a:solidFill>
                  </a:tcPr>
                </a:tc>
              </a:tr>
              <a:tr h="640080">
                <a:tc>
                  <a:txBody>
                    <a:bodyPr/>
                    <a:lstStyle/>
                    <a:p>
                      <a:r>
                        <a:rPr sz="2200" b="0">
                          <a:solidFill>
                            <a:srgbClr val="FFFFFF"/>
                          </a:solidFill>
                          <a:latin typeface="Arial"/>
                        </a:rPr>
                        <a:t>Costo por ejecución de las 20</a:t>
                      </a:r>
                    </a:p>
                  </a:txBody>
                  <a:tcPr anchor="ctr" marL="109728" marR="109728">
                    <a:solidFill>
                      <a:srgbClr val="2F3D52"/>
                    </a:solidFill>
                  </a:tcPr>
                </a:tc>
                <a:tc>
                  <a:txBody>
                    <a:bodyPr/>
                    <a:lstStyle/>
                    <a:p>
                      <a:r>
                        <a:rPr sz="2200" b="0">
                          <a:solidFill>
                            <a:srgbClr val="FFFFFF"/>
                          </a:solidFill>
                          <a:latin typeface="Arial"/>
                        </a:rPr>
                        <a:t>USD 0,089</a:t>
                      </a:r>
                    </a:p>
                  </a:txBody>
                  <a:tcPr anchor="ctr" marL="109728" marR="109728">
                    <a:solidFill>
                      <a:srgbClr val="2F3D52"/>
                    </a:solidFill>
                  </a:tcPr>
                </a:tc>
                <a:tc>
                  <a:txBody>
                    <a:bodyPr/>
                    <a:lstStyle/>
                    <a:p>
                      <a:r>
                        <a:rPr sz="2200" b="1">
                          <a:solidFill>
                            <a:srgbClr val="FFFFFF"/>
                          </a:solidFill>
                          <a:latin typeface="Arial"/>
                        </a:rPr>
                        <a:t>USD 0,041</a:t>
                      </a:r>
                    </a:p>
                  </a:txBody>
                  <a:tcPr anchor="ctr" marL="109728" marR="109728">
                    <a:solidFill>
                      <a:srgbClr val="2F3D52"/>
                    </a:solidFill>
                  </a:tcPr>
                </a:tc>
                <a:tc>
                  <a:txBody>
                    <a:bodyPr/>
                    <a:lstStyle/>
                    <a:p>
                      <a:r>
                        <a:rPr sz="2200" b="0">
                          <a:solidFill>
                            <a:srgbClr val="FFFFFF"/>
                          </a:solidFill>
                          <a:latin typeface="Arial"/>
                        </a:rPr>
                        <a:t>USD 0,102</a:t>
                      </a:r>
                    </a:p>
                  </a:txBody>
                  <a:tcPr anchor="ctr" marL="109728" marR="109728">
                    <a:solidFill>
                      <a:srgbClr val="2F3D52"/>
                    </a:solidFill>
                  </a:tcPr>
                </a:tc>
              </a:tr>
            </a:tbl>
          </a:graphicData>
        </a:graphic>
      </p:graphicFrame>
      <p:sp>
        <p:nvSpPr>
          <p:cNvPr id="11" name="TextBox 10"/>
          <p:cNvSpPr txBox="1"/>
          <p:nvPr/>
        </p:nvSpPr>
        <p:spPr>
          <a:xfrm>
            <a:off x="914400" y="6629400"/>
            <a:ext cx="13898880" cy="1645920"/>
          </a:xfrm>
          <a:prstGeom prst="rect">
            <a:avLst/>
          </a:prstGeom>
          <a:noFill/>
        </p:spPr>
        <p:txBody>
          <a:bodyPr wrap="square" anchor="t" lIns="0" rIns="0" tIns="0" bIns="0">
            <a:spAutoFit/>
          </a:bodyPr>
          <a:lstStyle/>
          <a:p>
            <a:pPr algn="l">
              <a:spcAft>
                <a:spcPts val="1200"/>
              </a:spcAft>
            </a:pPr>
            <a:r>
              <a:rPr sz="2200" b="0">
                <a:solidFill>
                  <a:srgbClr val="D9E2EC"/>
                </a:solidFill>
                <a:latin typeface="Arial"/>
              </a:rPr>
              <a:t>Con la misma memoria (64 GB) y casi el mismo precio por hora, </a:t>
            </a:r>
            <a:r>
              <a:rPr sz="2200" b="1">
                <a:solidFill>
                  <a:srgbClr val="D9E2EC"/>
                </a:solidFill>
                <a:latin typeface="Arial"/>
              </a:rPr>
              <a:t>RG fue 3,1 veces más rápido que Serverless de 4 RPU.</a:t>
            </a:r>
          </a:p>
          <a:p>
            <a:pPr algn="l">
              <a:spcAft>
                <a:spcPts val="1200"/>
              </a:spcAft>
            </a:pPr>
            <a:r>
              <a:rPr sz="2200" b="0">
                <a:solidFill>
                  <a:srgbClr val="D9E2EC"/>
                </a:solidFill>
                <a:latin typeface="Arial"/>
              </a:rPr>
              <a:t>La capacidad quedó fija a propósito: la ventaja de Serverless es escalar cuando hace falta y no cobrar sin consultas.</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232E3E"/>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txBody>
          <a:bodyPr/>
          <a:p/>
        </p:txBody>
      </p:sp>
      <p:sp>
        <p:nvSpPr>
          <p:cNvPr name="TextBox 3" id="3"/>
          <p:cNvSpPr txBox="true"/>
          <p:nvPr/>
        </p:nvSpPr>
        <p:spPr>
          <a:xfrm rot="0">
            <a:off x="3444099" y="3763913"/>
            <a:ext cx="13438018" cy="2238374"/>
          </a:xfrm>
          <a:prstGeom prst="rect">
            <a:avLst/>
          </a:prstGeom>
        </p:spPr>
        <p:txBody>
          <a:bodyPr anchor="t" rtlCol="false" tIns="0" lIns="0" bIns="0" rIns="0">
            <a:spAutoFit/>
          </a:bodyPr>
          <a:lstStyle/>
          <a:p>
            <a:pPr algn="l">
              <a:lnSpc>
                <a:spcPts val="8399"/>
              </a:lnSpc>
            </a:pPr>
            <a:r>
              <a:rPr lang="en-US" b="0" sz="8800">
                <a:solidFill>
                  <a:srgbClr val="FFFFFF"/>
                </a:solidFill>
                <a:latin typeface="Arial Black"/>
                <a:ea typeface="Arial Black"/>
                <a:cs typeface="Arial Black"/>
                <a:sym typeface="Arial Black"/>
              </a:rPr>
              <a:t>DATA</a:t>
            </a:r>
          </a:p>
          <a:p>
            <a:pPr algn="l" marL="0" indent="0" lvl="0">
              <a:lnSpc>
                <a:spcPts val="8399"/>
              </a:lnSpc>
            </a:pPr>
            <a:r>
              <a:rPr lang="en-US" b="0" sz="8800">
                <a:solidFill>
                  <a:srgbClr val="FFFFFF"/>
                </a:solidFill>
                <a:latin typeface="Arial Black"/>
                <a:ea typeface="Arial Black"/>
                <a:cs typeface="Arial Black"/>
                <a:sym typeface="Arial Black"/>
              </a:rPr>
              <a:t>        LAKE</a:t>
            </a:r>
          </a:p>
        </p:txBody>
      </p:sp>
      <p:sp>
        <p:nvSpPr>
          <p:cNvPr name="Freeform 4" id="4"/>
          <p:cNvSpPr/>
          <p:nvPr/>
        </p:nvSpPr>
        <p:spPr>
          <a:xfrm flipH="false" flipV="false" rot="0">
            <a:off x="536304" y="308054"/>
            <a:ext cx="650696" cy="409939"/>
          </a:xfrm>
          <a:custGeom>
            <a:avLst/>
            <a:gdLst/>
            <a:ahLst/>
            <a:cxnLst/>
            <a:rect r="r" b="b" t="t" l="l"/>
            <a:pathLst>
              <a:path h="409939" w="650696">
                <a:moveTo>
                  <a:pt x="0" y="0"/>
                </a:moveTo>
                <a:lnTo>
                  <a:pt x="650697" y="0"/>
                </a:lnTo>
                <a:lnTo>
                  <a:pt x="650697" y="409938"/>
                </a:lnTo>
                <a:lnTo>
                  <a:pt x="0" y="40993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219785" y="9070932"/>
            <a:ext cx="4151107" cy="986035"/>
            <a:chOff x="0" y="0"/>
            <a:chExt cx="5534810" cy="1314713"/>
          </a:xfrm>
        </p:grpSpPr>
        <p:sp>
          <p:nvSpPr>
            <p:cNvPr name="Freeform 6" id="6"/>
            <p:cNvSpPr/>
            <p:nvPr/>
          </p:nvSpPr>
          <p:spPr>
            <a:xfrm flipH="false" flipV="false" rot="0">
              <a:off x="0" y="0"/>
              <a:ext cx="1314713" cy="1314713"/>
            </a:xfrm>
            <a:custGeom>
              <a:avLst/>
              <a:gdLst/>
              <a:ahLst/>
              <a:cxnLst/>
              <a:rect r="r" b="b" t="t" l="l"/>
              <a:pathLst>
                <a:path h="1314713" w="1314713">
                  <a:moveTo>
                    <a:pt x="0" y="0"/>
                  </a:moveTo>
                  <a:lnTo>
                    <a:pt x="1314713" y="0"/>
                  </a:lnTo>
                  <a:lnTo>
                    <a:pt x="1314713" y="1314713"/>
                  </a:lnTo>
                  <a:lnTo>
                    <a:pt x="0" y="131471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7" id="7"/>
            <p:cNvSpPr txBox="true"/>
            <p:nvPr/>
          </p:nvSpPr>
          <p:spPr>
            <a:xfrm rot="0">
              <a:off x="1455753" y="151974"/>
              <a:ext cx="3148240" cy="462308"/>
            </a:xfrm>
            <a:prstGeom prst="rect">
              <a:avLst/>
            </a:prstGeom>
          </p:spPr>
          <p:txBody>
            <a:bodyPr anchor="t" rtlCol="false" tIns="0" lIns="0" bIns="0" rIns="0">
              <a:spAutoFit/>
            </a:bodyPr>
            <a:lstStyle/>
            <a:p>
              <a:pPr algn="l">
                <a:lnSpc>
                  <a:spcPts val="2702"/>
                </a:lnSpc>
              </a:pPr>
              <a:r>
                <a:rPr lang="en-US" b="true" sz="2252">
                  <a:solidFill>
                    <a:srgbClr val="FFFFFF"/>
                  </a:solidFill>
                  <a:latin typeface="Raleway 1 Bold"/>
                  <a:ea typeface="Raleway 1 Bold"/>
                  <a:cs typeface="Raleway 1 Bold"/>
                  <a:sym typeface="Raleway 1 Bold"/>
                </a:rPr>
                <a:t>OCTUBRE</a:t>
              </a:r>
            </a:p>
          </p:txBody>
        </p:sp>
        <p:sp>
          <p:nvSpPr>
            <p:cNvPr name="TextBox 8" id="8"/>
            <p:cNvSpPr txBox="true"/>
            <p:nvPr/>
          </p:nvSpPr>
          <p:spPr>
            <a:xfrm rot="0">
              <a:off x="1468453" y="585710"/>
              <a:ext cx="4066356" cy="565140"/>
            </a:xfrm>
            <a:prstGeom prst="rect">
              <a:avLst/>
            </a:prstGeom>
          </p:spPr>
          <p:txBody>
            <a:bodyPr anchor="t" rtlCol="false" tIns="0" lIns="0" bIns="0" rIns="0">
              <a:spAutoFit/>
            </a:bodyPr>
            <a:lstStyle/>
            <a:p>
              <a:pPr algn="l">
                <a:lnSpc>
                  <a:spcPts val="1130"/>
                </a:lnSpc>
              </a:pPr>
              <a:r>
                <a:rPr lang="en-US" sz="1097" b="true">
                  <a:solidFill>
                    <a:srgbClr val="FFFFFF"/>
                  </a:solidFill>
                  <a:latin typeface="Raleway 1 Bold"/>
                  <a:ea typeface="Raleway 1 Bold"/>
                  <a:cs typeface="Raleway 1 Bold"/>
                  <a:sym typeface="Raleway 1 Bold"/>
                </a:rPr>
                <a:t>Mes de </a:t>
              </a:r>
            </a:p>
            <a:p>
              <a:pPr algn="l">
                <a:lnSpc>
                  <a:spcPts val="2059"/>
                </a:lnSpc>
              </a:pPr>
              <a:r>
                <a:rPr lang="en-US" b="true" sz="1999">
                  <a:solidFill>
                    <a:srgbClr val="FFFFFF"/>
                  </a:solidFill>
                  <a:latin typeface="Raleway 1 Bold"/>
                  <a:ea typeface="Raleway 1 Bold"/>
                  <a:cs typeface="Raleway 1 Bold"/>
                  <a:sym typeface="Raleway 1 Bold"/>
                </a:rPr>
                <a:t>HAN SOLO</a:t>
              </a:r>
            </a:p>
          </p:txBody>
        </p:sp>
      </p:grpSp>
      <p:sp>
        <p:nvSpPr>
          <p:cNvPr name="TextBox 9" id="9"/>
          <p:cNvSpPr txBox="true"/>
          <p:nvPr/>
        </p:nvSpPr>
        <p:spPr>
          <a:xfrm rot="0">
            <a:off x="1258571" y="221658"/>
            <a:ext cx="15091730" cy="563680"/>
          </a:xfrm>
          <a:prstGeom prst="rect">
            <a:avLst/>
          </a:prstGeom>
        </p:spPr>
        <p:txBody>
          <a:bodyPr anchor="t" rtlCol="false" tIns="0" lIns="0" bIns="0" rIns="0">
            <a:spAutoFit/>
          </a:bodyPr>
          <a:lstStyle/>
          <a:p>
            <a:pPr algn="l">
              <a:lnSpc>
                <a:spcPts val="1760"/>
              </a:lnSpc>
            </a:pPr>
            <a:r>
              <a:rPr lang="en-US" sz="2000">
                <a:solidFill>
                  <a:srgbClr val="316CE3"/>
                </a:solidFill>
                <a:latin typeface="Gotham"/>
                <a:ea typeface="Gotham"/>
                <a:cs typeface="Gotham"/>
                <a:sym typeface="Gotham"/>
              </a:rPr>
              <a:t>HOY:</a:t>
            </a:r>
          </a:p>
          <a:p>
            <a:pPr algn="l">
              <a:lnSpc>
                <a:spcPts val="2528"/>
              </a:lnSpc>
            </a:pPr>
            <a:r>
              <a:rPr lang="en-US" sz="2873" b="true">
                <a:solidFill>
                  <a:srgbClr val="316CE3"/>
                </a:solidFill>
                <a:latin typeface="Gotham Bold"/>
                <a:ea typeface="Gotham Bold"/>
                <a:cs typeface="Gotham Bold"/>
                <a:sym typeface="Gotham Bold"/>
              </a:rPr>
              <a:t>Episodio II — El Ataque de los Graviton: Infraestructura y rendimiento</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232E3E"/>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txBody>
          <a:bodyPr/>
          <a:p/>
        </p:txBody>
      </p:sp>
      <p:sp>
        <p:nvSpPr>
          <p:cNvPr name="TextBox 3" id="3"/>
          <p:cNvSpPr txBox="true"/>
          <p:nvPr/>
        </p:nvSpPr>
        <p:spPr>
          <a:xfrm rot="0">
            <a:off x="3520440" y="868680"/>
            <a:ext cx="12070080" cy="1874519"/>
          </a:xfrm>
          <a:prstGeom prst="rect">
            <a:avLst/>
          </a:prstGeom>
        </p:spPr>
        <p:txBody>
          <a:bodyPr anchor="ctr" rtlCol="false" tIns="0" lIns="0" bIns="0" rIns="0" wrap="square">
            <a:spAutoFit/>
          </a:bodyPr>
          <a:lstStyle/>
          <a:p>
            <a:pPr algn="l" marL="0" indent="0" lvl="0">
              <a:lnSpc>
                <a:spcPts val="10481"/>
              </a:lnSpc>
              <a:spcBef>
                <a:spcPct val="0"/>
              </a:spcBef>
            </a:pPr>
            <a:r>
              <a:rPr lang="en-US" b="0" sz="4700">
                <a:solidFill>
                  <a:srgbClr val="FFFFFF"/>
                </a:solidFill>
                <a:latin typeface="Arial Black"/>
                <a:ea typeface="Arial Black"/>
                <a:cs typeface="Arial Black"/>
                <a:sym typeface="Arial Black"/>
              </a:rPr>
              <a:t>El mismo dato, de tres formas</a:t>
            </a:r>
          </a:p>
        </p:txBody>
      </p:sp>
      <p:sp>
        <p:nvSpPr>
          <p:cNvPr name="Freeform 4" id="4"/>
          <p:cNvSpPr/>
          <p:nvPr/>
        </p:nvSpPr>
        <p:spPr>
          <a:xfrm flipH="false" flipV="false" rot="0">
            <a:off x="536304" y="308054"/>
            <a:ext cx="650696" cy="409939"/>
          </a:xfrm>
          <a:custGeom>
            <a:avLst/>
            <a:gdLst/>
            <a:ahLst/>
            <a:cxnLst/>
            <a:rect r="r" b="b" t="t" l="l"/>
            <a:pathLst>
              <a:path h="409939" w="650696">
                <a:moveTo>
                  <a:pt x="0" y="0"/>
                </a:moveTo>
                <a:lnTo>
                  <a:pt x="650697" y="0"/>
                </a:lnTo>
                <a:lnTo>
                  <a:pt x="650697" y="409938"/>
                </a:lnTo>
                <a:lnTo>
                  <a:pt x="0" y="40993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219785" y="9070932"/>
            <a:ext cx="4151107" cy="986035"/>
            <a:chOff x="0" y="0"/>
            <a:chExt cx="5534810" cy="1314713"/>
          </a:xfrm>
        </p:grpSpPr>
        <p:sp>
          <p:nvSpPr>
            <p:cNvPr name="Freeform 6" id="6"/>
            <p:cNvSpPr/>
            <p:nvPr/>
          </p:nvSpPr>
          <p:spPr>
            <a:xfrm flipH="false" flipV="false" rot="0">
              <a:off x="0" y="0"/>
              <a:ext cx="1314713" cy="1314713"/>
            </a:xfrm>
            <a:custGeom>
              <a:avLst/>
              <a:gdLst/>
              <a:ahLst/>
              <a:cxnLst/>
              <a:rect r="r" b="b" t="t" l="l"/>
              <a:pathLst>
                <a:path h="1314713" w="1314713">
                  <a:moveTo>
                    <a:pt x="0" y="0"/>
                  </a:moveTo>
                  <a:lnTo>
                    <a:pt x="1314713" y="0"/>
                  </a:lnTo>
                  <a:lnTo>
                    <a:pt x="1314713" y="1314713"/>
                  </a:lnTo>
                  <a:lnTo>
                    <a:pt x="0" y="131471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7" id="7"/>
            <p:cNvSpPr txBox="true"/>
            <p:nvPr/>
          </p:nvSpPr>
          <p:spPr>
            <a:xfrm rot="0">
              <a:off x="1455753" y="151974"/>
              <a:ext cx="3148240" cy="462308"/>
            </a:xfrm>
            <a:prstGeom prst="rect">
              <a:avLst/>
            </a:prstGeom>
          </p:spPr>
          <p:txBody>
            <a:bodyPr anchor="t" rtlCol="false" tIns="0" lIns="0" bIns="0" rIns="0">
              <a:spAutoFit/>
            </a:bodyPr>
            <a:lstStyle/>
            <a:p>
              <a:pPr algn="l">
                <a:lnSpc>
                  <a:spcPts val="2702"/>
                </a:lnSpc>
              </a:pPr>
              <a:r>
                <a:rPr lang="en-US" b="true" sz="2252">
                  <a:solidFill>
                    <a:srgbClr val="FFFFFF"/>
                  </a:solidFill>
                  <a:latin typeface="Raleway 1 Bold"/>
                  <a:ea typeface="Raleway 1 Bold"/>
                  <a:cs typeface="Raleway 1 Bold"/>
                  <a:sym typeface="Raleway 1 Bold"/>
                </a:rPr>
                <a:t>OCTUBRE</a:t>
              </a:r>
            </a:p>
          </p:txBody>
        </p:sp>
        <p:sp>
          <p:nvSpPr>
            <p:cNvPr name="TextBox 8" id="8"/>
            <p:cNvSpPr txBox="true"/>
            <p:nvPr/>
          </p:nvSpPr>
          <p:spPr>
            <a:xfrm rot="0">
              <a:off x="1468453" y="585710"/>
              <a:ext cx="4066356" cy="565140"/>
            </a:xfrm>
            <a:prstGeom prst="rect">
              <a:avLst/>
            </a:prstGeom>
          </p:spPr>
          <p:txBody>
            <a:bodyPr anchor="t" rtlCol="false" tIns="0" lIns="0" bIns="0" rIns="0">
              <a:spAutoFit/>
            </a:bodyPr>
            <a:lstStyle/>
            <a:p>
              <a:pPr algn="l">
                <a:lnSpc>
                  <a:spcPts val="1130"/>
                </a:lnSpc>
              </a:pPr>
              <a:r>
                <a:rPr lang="en-US" sz="1097" b="true">
                  <a:solidFill>
                    <a:srgbClr val="FFFFFF"/>
                  </a:solidFill>
                  <a:latin typeface="Raleway 1 Bold"/>
                  <a:ea typeface="Raleway 1 Bold"/>
                  <a:cs typeface="Raleway 1 Bold"/>
                  <a:sym typeface="Raleway 1 Bold"/>
                </a:rPr>
                <a:t>Mes de </a:t>
              </a:r>
            </a:p>
            <a:p>
              <a:pPr algn="l">
                <a:lnSpc>
                  <a:spcPts val="2059"/>
                </a:lnSpc>
              </a:pPr>
              <a:r>
                <a:rPr lang="en-US" b="true" sz="1999">
                  <a:solidFill>
                    <a:srgbClr val="FFFFFF"/>
                  </a:solidFill>
                  <a:latin typeface="Raleway 1 Bold"/>
                  <a:ea typeface="Raleway 1 Bold"/>
                  <a:cs typeface="Raleway 1 Bold"/>
                  <a:sym typeface="Raleway 1 Bold"/>
                </a:rPr>
                <a:t>HAN SOLO</a:t>
              </a:r>
            </a:p>
          </p:txBody>
        </p:sp>
      </p:grpSp>
      <p:sp>
        <p:nvSpPr>
          <p:cNvPr name="TextBox 9" id="9"/>
          <p:cNvSpPr txBox="true"/>
          <p:nvPr/>
        </p:nvSpPr>
        <p:spPr>
          <a:xfrm rot="0">
            <a:off x="1258571" y="221658"/>
            <a:ext cx="15091730" cy="563680"/>
          </a:xfrm>
          <a:prstGeom prst="rect">
            <a:avLst/>
          </a:prstGeom>
        </p:spPr>
        <p:txBody>
          <a:bodyPr anchor="t" rtlCol="false" tIns="0" lIns="0" bIns="0" rIns="0">
            <a:spAutoFit/>
          </a:bodyPr>
          <a:lstStyle/>
          <a:p>
            <a:pPr algn="l">
              <a:lnSpc>
                <a:spcPts val="1760"/>
              </a:lnSpc>
            </a:pPr>
            <a:r>
              <a:rPr lang="en-US" sz="2000">
                <a:solidFill>
                  <a:srgbClr val="316CE3"/>
                </a:solidFill>
                <a:latin typeface="Gotham"/>
                <a:ea typeface="Gotham"/>
                <a:cs typeface="Gotham"/>
                <a:sym typeface="Gotham"/>
              </a:rPr>
              <a:t>HOY:</a:t>
            </a:r>
          </a:p>
          <a:p>
            <a:pPr algn="l">
              <a:lnSpc>
                <a:spcPts val="2528"/>
              </a:lnSpc>
            </a:pPr>
            <a:r>
              <a:rPr lang="en-US" sz="2873" b="true">
                <a:solidFill>
                  <a:srgbClr val="316CE3"/>
                </a:solidFill>
                <a:latin typeface="Gotham Bold"/>
                <a:ea typeface="Gotham Bold"/>
                <a:cs typeface="Gotham Bold"/>
                <a:sym typeface="Gotham Bold"/>
              </a:rPr>
              <a:t>Episodio II — El Ataque de los Graviton: Infraestructura y rendimiento</a:t>
            </a:r>
          </a:p>
        </p:txBody>
      </p:sp>
      <p:sp>
        <p:nvSpPr>
          <p:cNvPr id="10" name="Rounded Rectangle 9"/>
          <p:cNvSpPr/>
          <p:nvPr/>
        </p:nvSpPr>
        <p:spPr>
          <a:xfrm>
            <a:off x="914400" y="3200400"/>
            <a:ext cx="4480560" cy="2651760"/>
          </a:xfrm>
          <a:prstGeom prst="roundRect">
            <a:avLst>
              <a:gd name="adj" fmla="val 8000"/>
            </a:avLst>
          </a:prstGeom>
          <a:solidFill>
            <a:srgbClr val="2F3D5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228600" bIns="228600"/>
          <a:lstStyle/>
          <a:p>
            <a:pPr algn="ctr">
              <a:spcAft>
                <a:spcPts val="800"/>
              </a:spcAft>
            </a:pPr>
            <a:r>
              <a:rPr sz="3600" b="1">
                <a:solidFill>
                  <a:srgbClr val="316CE3"/>
                </a:solidFill>
                <a:latin typeface="Arial"/>
              </a:rPr>
              <a:t>Local</a:t>
            </a:r>
          </a:p>
          <a:p>
            <a:pPr>
              <a:spcAft>
                <a:spcPts val="600"/>
              </a:spcAft>
            </a:pPr>
            <a:r>
              <a:rPr sz="2200" b="0">
                <a:solidFill>
                  <a:srgbClr val="D9E2EC"/>
                </a:solidFill>
                <a:latin typeface="Arial"/>
              </a:rPr>
              <a:t>Tablas dentro del warehouse</a:t>
            </a:r>
          </a:p>
        </p:txBody>
      </p:sp>
      <p:sp>
        <p:nvSpPr>
          <p:cNvPr id="11" name="Rounded Rectangle 10"/>
          <p:cNvSpPr/>
          <p:nvPr/>
        </p:nvSpPr>
        <p:spPr>
          <a:xfrm>
            <a:off x="5669280" y="3200400"/>
            <a:ext cx="4480560" cy="2651760"/>
          </a:xfrm>
          <a:prstGeom prst="roundRect">
            <a:avLst>
              <a:gd name="adj" fmla="val 8000"/>
            </a:avLst>
          </a:prstGeom>
          <a:solidFill>
            <a:srgbClr val="2F3D5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228600" bIns="228600"/>
          <a:lstStyle/>
          <a:p>
            <a:pPr algn="ctr">
              <a:spcAft>
                <a:spcPts val="800"/>
              </a:spcAft>
            </a:pPr>
            <a:r>
              <a:rPr sz="3600" b="1">
                <a:solidFill>
                  <a:srgbClr val="316CE3"/>
                </a:solidFill>
                <a:latin typeface="Arial"/>
              </a:rPr>
              <a:t>Iceberg</a:t>
            </a:r>
          </a:p>
          <a:p>
            <a:pPr>
              <a:spcAft>
                <a:spcPts val="600"/>
              </a:spcAft>
            </a:pPr>
            <a:r>
              <a:rPr sz="2200" b="0">
                <a:solidFill>
                  <a:srgbClr val="D9E2EC"/>
                </a:solidFill>
                <a:latin typeface="Arial"/>
              </a:rPr>
              <a:t>Tablas Iceberg en S3, registradas en Glue</a:t>
            </a:r>
          </a:p>
        </p:txBody>
      </p:sp>
      <p:sp>
        <p:nvSpPr>
          <p:cNvPr id="12" name="Rounded Rectangle 11"/>
          <p:cNvSpPr/>
          <p:nvPr/>
        </p:nvSpPr>
        <p:spPr>
          <a:xfrm>
            <a:off x="10424160" y="3200400"/>
            <a:ext cx="4480560" cy="2651760"/>
          </a:xfrm>
          <a:prstGeom prst="roundRect">
            <a:avLst>
              <a:gd name="adj" fmla="val 8000"/>
            </a:avLst>
          </a:prstGeom>
          <a:solidFill>
            <a:srgbClr val="2F3D5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228600" bIns="228600"/>
          <a:lstStyle/>
          <a:p>
            <a:pPr algn="ctr">
              <a:spcAft>
                <a:spcPts val="800"/>
              </a:spcAft>
            </a:pPr>
            <a:r>
              <a:rPr sz="3600" b="1">
                <a:solidFill>
                  <a:srgbClr val="316CE3"/>
                </a:solidFill>
                <a:latin typeface="Arial"/>
              </a:rPr>
              <a:t>Parquet</a:t>
            </a:r>
          </a:p>
          <a:p>
            <a:pPr>
              <a:spcAft>
                <a:spcPts val="600"/>
              </a:spcAft>
            </a:pPr>
            <a:r>
              <a:rPr sz="2200" b="0">
                <a:solidFill>
                  <a:srgbClr val="D9E2EC"/>
                </a:solidFill>
                <a:latin typeface="Arial"/>
              </a:rPr>
              <a:t>Archivos Parquet en S3, registrados en Glue</a:t>
            </a:r>
          </a:p>
        </p:txBody>
      </p:sp>
      <p:sp>
        <p:nvSpPr>
          <p:cNvPr id="13" name="TextBox 12"/>
          <p:cNvSpPr txBox="1"/>
          <p:nvPr/>
        </p:nvSpPr>
        <p:spPr>
          <a:xfrm>
            <a:off x="914400" y="6309360"/>
            <a:ext cx="13898880" cy="2194560"/>
          </a:xfrm>
          <a:prstGeom prst="rect">
            <a:avLst/>
          </a:prstGeom>
          <a:noFill/>
        </p:spPr>
        <p:txBody>
          <a:bodyPr wrap="square" anchor="t" lIns="0" rIns="0" tIns="0" bIns="0">
            <a:spAutoFit/>
          </a:bodyPr>
          <a:lstStyle/>
          <a:p>
            <a:pPr algn="l">
              <a:spcAft>
                <a:spcPts val="1400"/>
              </a:spcAft>
            </a:pPr>
            <a:r>
              <a:rPr sz="2400" b="0">
                <a:solidFill>
                  <a:srgbClr val="D9E2EC"/>
                </a:solidFill>
                <a:latin typeface="Arial"/>
              </a:rPr>
              <a:t>Las mismas 6 consultas en las tres versiones devuelven </a:t>
            </a:r>
            <a:r>
              <a:rPr sz="2400" b="1">
                <a:solidFill>
                  <a:srgbClr val="D9E2EC"/>
                </a:solidFill>
                <a:latin typeface="Arial"/>
              </a:rPr>
              <a:t>exactamente las mismas 483 filas</a:t>
            </a:r>
            <a:r>
              <a:rPr sz="2400" b="0">
                <a:solidFill>
                  <a:srgbClr val="D9E2EC"/>
                </a:solidFill>
                <a:latin typeface="Arial"/>
              </a:rPr>
              <a:t>.</a:t>
            </a:r>
          </a:p>
          <a:p>
            <a:pPr algn="l">
              <a:spcAft>
                <a:spcPts val="1400"/>
              </a:spcAft>
            </a:pPr>
            <a:r>
              <a:rPr sz="2400" b="0">
                <a:solidFill>
                  <a:srgbClr val="D9E2EC"/>
                </a:solidFill>
                <a:latin typeface="Arial"/>
              </a:rPr>
              <a:t>RA3 lee S3 a través de </a:t>
            </a:r>
            <a:r>
              <a:rPr sz="2400" b="1">
                <a:solidFill>
                  <a:srgbClr val="D9E2EC"/>
                </a:solidFill>
                <a:latin typeface="Arial"/>
              </a:rPr>
              <a:t>Spectrum</a:t>
            </a:r>
            <a:r>
              <a:rPr sz="2400" b="0">
                <a:solidFill>
                  <a:srgbClr val="D9E2EC"/>
                </a:solidFill>
                <a:latin typeface="Arial"/>
              </a:rPr>
              <a:t>, fuera de tu VPC; RG lo lee </a:t>
            </a:r>
            <a:r>
              <a:rPr sz="2400" b="1">
                <a:solidFill>
                  <a:srgbClr val="D9E2EC"/>
                </a:solidFill>
                <a:latin typeface="Arial"/>
              </a:rPr>
              <a:t>con sus propios nodos</a:t>
            </a:r>
            <a:r>
              <a:rPr sz="2400" b="0">
                <a:solidFill>
                  <a:srgbClr val="D9E2EC"/>
                </a:solidFill>
                <a:latin typeface="Arial"/>
              </a:rPr>
              <a:t>, dentro de tu VPC.</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232E3E"/>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txBody>
          <a:bodyPr/>
          <a:p/>
        </p:txBody>
      </p:sp>
      <p:sp>
        <p:nvSpPr>
          <p:cNvPr name="TextBox 3" id="3"/>
          <p:cNvSpPr txBox="true"/>
          <p:nvPr/>
        </p:nvSpPr>
        <p:spPr>
          <a:xfrm rot="0">
            <a:off x="3520440" y="868680"/>
            <a:ext cx="12070080" cy="1874519"/>
          </a:xfrm>
          <a:prstGeom prst="rect">
            <a:avLst/>
          </a:prstGeom>
        </p:spPr>
        <p:txBody>
          <a:bodyPr anchor="ctr" rtlCol="false" tIns="0" lIns="0" bIns="0" rIns="0" wrap="square">
            <a:spAutoFit/>
          </a:bodyPr>
          <a:lstStyle/>
          <a:p>
            <a:pPr algn="l" marL="0" indent="0" lvl="0">
              <a:lnSpc>
                <a:spcPts val="10481"/>
              </a:lnSpc>
              <a:spcBef>
                <a:spcPct val="0"/>
              </a:spcBef>
            </a:pPr>
            <a:r>
              <a:rPr lang="en-US" b="0" sz="4800">
                <a:solidFill>
                  <a:srgbClr val="FFFFFF"/>
                </a:solidFill>
                <a:latin typeface="Arial Black"/>
                <a:ea typeface="Arial Black"/>
                <a:cs typeface="Arial Black"/>
                <a:sym typeface="Arial Black"/>
              </a:rPr>
              <a:t>Iceberg: 1,87x, ya con caché</a:t>
            </a:r>
          </a:p>
        </p:txBody>
      </p:sp>
      <p:sp>
        <p:nvSpPr>
          <p:cNvPr name="Freeform 4" id="4"/>
          <p:cNvSpPr/>
          <p:nvPr/>
        </p:nvSpPr>
        <p:spPr>
          <a:xfrm flipH="false" flipV="false" rot="0">
            <a:off x="536304" y="308054"/>
            <a:ext cx="650696" cy="409939"/>
          </a:xfrm>
          <a:custGeom>
            <a:avLst/>
            <a:gdLst/>
            <a:ahLst/>
            <a:cxnLst/>
            <a:rect r="r" b="b" t="t" l="l"/>
            <a:pathLst>
              <a:path h="409939" w="650696">
                <a:moveTo>
                  <a:pt x="0" y="0"/>
                </a:moveTo>
                <a:lnTo>
                  <a:pt x="650697" y="0"/>
                </a:lnTo>
                <a:lnTo>
                  <a:pt x="650697" y="409938"/>
                </a:lnTo>
                <a:lnTo>
                  <a:pt x="0" y="40993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219785" y="9070932"/>
            <a:ext cx="4151107" cy="986035"/>
            <a:chOff x="0" y="0"/>
            <a:chExt cx="5534810" cy="1314713"/>
          </a:xfrm>
        </p:grpSpPr>
        <p:sp>
          <p:nvSpPr>
            <p:cNvPr name="Freeform 6" id="6"/>
            <p:cNvSpPr/>
            <p:nvPr/>
          </p:nvSpPr>
          <p:spPr>
            <a:xfrm flipH="false" flipV="false" rot="0">
              <a:off x="0" y="0"/>
              <a:ext cx="1314713" cy="1314713"/>
            </a:xfrm>
            <a:custGeom>
              <a:avLst/>
              <a:gdLst/>
              <a:ahLst/>
              <a:cxnLst/>
              <a:rect r="r" b="b" t="t" l="l"/>
              <a:pathLst>
                <a:path h="1314713" w="1314713">
                  <a:moveTo>
                    <a:pt x="0" y="0"/>
                  </a:moveTo>
                  <a:lnTo>
                    <a:pt x="1314713" y="0"/>
                  </a:lnTo>
                  <a:lnTo>
                    <a:pt x="1314713" y="1314713"/>
                  </a:lnTo>
                  <a:lnTo>
                    <a:pt x="0" y="131471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7" id="7"/>
            <p:cNvSpPr txBox="true"/>
            <p:nvPr/>
          </p:nvSpPr>
          <p:spPr>
            <a:xfrm rot="0">
              <a:off x="1455753" y="151974"/>
              <a:ext cx="3148240" cy="462308"/>
            </a:xfrm>
            <a:prstGeom prst="rect">
              <a:avLst/>
            </a:prstGeom>
          </p:spPr>
          <p:txBody>
            <a:bodyPr anchor="t" rtlCol="false" tIns="0" lIns="0" bIns="0" rIns="0">
              <a:spAutoFit/>
            </a:bodyPr>
            <a:lstStyle/>
            <a:p>
              <a:pPr algn="l">
                <a:lnSpc>
                  <a:spcPts val="2702"/>
                </a:lnSpc>
              </a:pPr>
              <a:r>
                <a:rPr lang="en-US" b="true" sz="2252">
                  <a:solidFill>
                    <a:srgbClr val="FFFFFF"/>
                  </a:solidFill>
                  <a:latin typeface="Raleway 1 Bold"/>
                  <a:ea typeface="Raleway 1 Bold"/>
                  <a:cs typeface="Raleway 1 Bold"/>
                  <a:sym typeface="Raleway 1 Bold"/>
                </a:rPr>
                <a:t>OCTUBRE</a:t>
              </a:r>
            </a:p>
          </p:txBody>
        </p:sp>
        <p:sp>
          <p:nvSpPr>
            <p:cNvPr name="TextBox 8" id="8"/>
            <p:cNvSpPr txBox="true"/>
            <p:nvPr/>
          </p:nvSpPr>
          <p:spPr>
            <a:xfrm rot="0">
              <a:off x="1468453" y="585710"/>
              <a:ext cx="4066356" cy="565140"/>
            </a:xfrm>
            <a:prstGeom prst="rect">
              <a:avLst/>
            </a:prstGeom>
          </p:spPr>
          <p:txBody>
            <a:bodyPr anchor="t" rtlCol="false" tIns="0" lIns="0" bIns="0" rIns="0">
              <a:spAutoFit/>
            </a:bodyPr>
            <a:lstStyle/>
            <a:p>
              <a:pPr algn="l">
                <a:lnSpc>
                  <a:spcPts val="1130"/>
                </a:lnSpc>
              </a:pPr>
              <a:r>
                <a:rPr lang="en-US" sz="1097" b="true">
                  <a:solidFill>
                    <a:srgbClr val="FFFFFF"/>
                  </a:solidFill>
                  <a:latin typeface="Raleway 1 Bold"/>
                  <a:ea typeface="Raleway 1 Bold"/>
                  <a:cs typeface="Raleway 1 Bold"/>
                  <a:sym typeface="Raleway 1 Bold"/>
                </a:rPr>
                <a:t>Mes de </a:t>
              </a:r>
            </a:p>
            <a:p>
              <a:pPr algn="l">
                <a:lnSpc>
                  <a:spcPts val="2059"/>
                </a:lnSpc>
              </a:pPr>
              <a:r>
                <a:rPr lang="en-US" b="true" sz="1999">
                  <a:solidFill>
                    <a:srgbClr val="FFFFFF"/>
                  </a:solidFill>
                  <a:latin typeface="Raleway 1 Bold"/>
                  <a:ea typeface="Raleway 1 Bold"/>
                  <a:cs typeface="Raleway 1 Bold"/>
                  <a:sym typeface="Raleway 1 Bold"/>
                </a:rPr>
                <a:t>HAN SOLO</a:t>
              </a:r>
            </a:p>
          </p:txBody>
        </p:sp>
      </p:grpSp>
      <p:sp>
        <p:nvSpPr>
          <p:cNvPr name="TextBox 9" id="9"/>
          <p:cNvSpPr txBox="true"/>
          <p:nvPr/>
        </p:nvSpPr>
        <p:spPr>
          <a:xfrm rot="0">
            <a:off x="1258571" y="221658"/>
            <a:ext cx="15091730" cy="563680"/>
          </a:xfrm>
          <a:prstGeom prst="rect">
            <a:avLst/>
          </a:prstGeom>
        </p:spPr>
        <p:txBody>
          <a:bodyPr anchor="t" rtlCol="false" tIns="0" lIns="0" bIns="0" rIns="0">
            <a:spAutoFit/>
          </a:bodyPr>
          <a:lstStyle/>
          <a:p>
            <a:pPr algn="l">
              <a:lnSpc>
                <a:spcPts val="1760"/>
              </a:lnSpc>
            </a:pPr>
            <a:r>
              <a:rPr lang="en-US" sz="2000">
                <a:solidFill>
                  <a:srgbClr val="316CE3"/>
                </a:solidFill>
                <a:latin typeface="Gotham"/>
                <a:ea typeface="Gotham"/>
                <a:cs typeface="Gotham"/>
                <a:sym typeface="Gotham"/>
              </a:rPr>
              <a:t>HOY:</a:t>
            </a:r>
          </a:p>
          <a:p>
            <a:pPr algn="l">
              <a:lnSpc>
                <a:spcPts val="2528"/>
              </a:lnSpc>
            </a:pPr>
            <a:r>
              <a:rPr lang="en-US" sz="2873" b="true">
                <a:solidFill>
                  <a:srgbClr val="316CE3"/>
                </a:solidFill>
                <a:latin typeface="Gotham Bold"/>
                <a:ea typeface="Gotham Bold"/>
                <a:cs typeface="Gotham Bold"/>
                <a:sym typeface="Gotham Bold"/>
              </a:rPr>
              <a:t>Episodio II — El Ataque de los Graviton: Infraestructura y rendimiento</a:t>
            </a:r>
          </a:p>
        </p:txBody>
      </p:sp>
      <p:graphicFrame>
        <p:nvGraphicFramePr>
          <p:cNvPr id="10" name="Chart 9"/>
          <p:cNvGraphicFramePr>
            <a:graphicFrameLocks noGrp="1"/>
          </p:cNvGraphicFramePr>
          <p:nvPr/>
        </p:nvGraphicFramePr>
        <p:xfrm>
          <a:off x="822960" y="3017520"/>
          <a:ext cx="8778240" cy="5577840"/>
        </p:xfrm>
        <a:graphic>
          <a:graphicData uri="http://schemas.openxmlformats.org/drawingml/2006/chart">
            <c:chart xmlns:c="http://schemas.openxmlformats.org/drawingml/2006/chart" r:id="rId7"/>
          </a:graphicData>
        </a:graphic>
      </p:graphicFrame>
      <p:sp>
        <p:nvSpPr>
          <p:cNvPr id="11" name="TextBox 10"/>
          <p:cNvSpPr txBox="1"/>
          <p:nvPr/>
        </p:nvSpPr>
        <p:spPr>
          <a:xfrm>
            <a:off x="10058400" y="3291840"/>
            <a:ext cx="5303520" cy="457200"/>
          </a:xfrm>
          <a:prstGeom prst="rect">
            <a:avLst/>
          </a:prstGeom>
          <a:noFill/>
        </p:spPr>
        <p:txBody>
          <a:bodyPr wrap="square" anchor="t" lIns="0" rIns="0" tIns="0" bIns="0">
            <a:spAutoFit/>
          </a:bodyPr>
          <a:lstStyle/>
          <a:p>
            <a:pPr algn="l">
              <a:spcAft>
                <a:spcPts val="1000"/>
              </a:spcAft>
            </a:pPr>
            <a:r>
              <a:rPr sz="2000" b="0">
                <a:solidFill>
                  <a:srgbClr val="D9E2EC"/>
                </a:solidFill>
                <a:latin typeface="Arial"/>
              </a:rPr>
              <a:t>Tiempo total de las 6 consultas</a:t>
            </a:r>
          </a:p>
        </p:txBody>
      </p:sp>
      <p:sp>
        <p:nvSpPr>
          <p:cNvPr id="12" name="TextBox 11"/>
          <p:cNvSpPr txBox="1"/>
          <p:nvPr/>
        </p:nvSpPr>
        <p:spPr>
          <a:xfrm>
            <a:off x="10058400" y="3794760"/>
            <a:ext cx="2651760" cy="914400"/>
          </a:xfrm>
          <a:prstGeom prst="rect">
            <a:avLst/>
          </a:prstGeom>
          <a:noFill/>
        </p:spPr>
        <p:txBody>
          <a:bodyPr wrap="square" anchor="t" lIns="0" rIns="0" tIns="0" bIns="0">
            <a:spAutoFit/>
          </a:bodyPr>
          <a:lstStyle/>
          <a:p>
            <a:pPr algn="l">
              <a:spcAft>
                <a:spcPts val="1000"/>
              </a:spcAft>
            </a:pPr>
            <a:r>
              <a:rPr sz="4000" b="1">
                <a:solidFill>
                  <a:srgbClr val="8FA3B8"/>
                </a:solidFill>
                <a:latin typeface="Arial"/>
              </a:rPr>
              <a:t>29,4 s</a:t>
            </a:r>
          </a:p>
        </p:txBody>
      </p:sp>
      <p:sp>
        <p:nvSpPr>
          <p:cNvPr id="13" name="TextBox 12"/>
          <p:cNvSpPr txBox="1"/>
          <p:nvPr/>
        </p:nvSpPr>
        <p:spPr>
          <a:xfrm>
            <a:off x="12710160" y="3794760"/>
            <a:ext cx="2651760" cy="914400"/>
          </a:xfrm>
          <a:prstGeom prst="rect">
            <a:avLst/>
          </a:prstGeom>
          <a:noFill/>
        </p:spPr>
        <p:txBody>
          <a:bodyPr wrap="square" anchor="t" lIns="0" rIns="0" tIns="0" bIns="0">
            <a:spAutoFit/>
          </a:bodyPr>
          <a:lstStyle/>
          <a:p>
            <a:pPr algn="l">
              <a:spcAft>
                <a:spcPts val="1000"/>
              </a:spcAft>
            </a:pPr>
            <a:r>
              <a:rPr sz="4000" b="1">
                <a:solidFill>
                  <a:srgbClr val="316CE3"/>
                </a:solidFill>
                <a:latin typeface="Arial"/>
              </a:rPr>
              <a:t>14,6 s</a:t>
            </a:r>
          </a:p>
        </p:txBody>
      </p:sp>
      <p:sp>
        <p:nvSpPr>
          <p:cNvPr id="14" name="TextBox 13"/>
          <p:cNvSpPr txBox="1"/>
          <p:nvPr/>
        </p:nvSpPr>
        <p:spPr>
          <a:xfrm>
            <a:off x="10058400" y="4572000"/>
            <a:ext cx="2651760" cy="457200"/>
          </a:xfrm>
          <a:prstGeom prst="rect">
            <a:avLst/>
          </a:prstGeom>
          <a:noFill/>
        </p:spPr>
        <p:txBody>
          <a:bodyPr wrap="square" anchor="t" lIns="0" rIns="0" tIns="0" bIns="0">
            <a:spAutoFit/>
          </a:bodyPr>
          <a:lstStyle/>
          <a:p>
            <a:pPr algn="l">
              <a:spcAft>
                <a:spcPts val="1000"/>
              </a:spcAft>
            </a:pPr>
            <a:r>
              <a:rPr sz="1800" b="0">
                <a:solidFill>
                  <a:srgbClr val="8FA3B8"/>
                </a:solidFill>
                <a:latin typeface="Arial"/>
              </a:rPr>
              <a:t>RA3</a:t>
            </a:r>
          </a:p>
        </p:txBody>
      </p:sp>
      <p:sp>
        <p:nvSpPr>
          <p:cNvPr id="15" name="TextBox 14"/>
          <p:cNvSpPr txBox="1"/>
          <p:nvPr/>
        </p:nvSpPr>
        <p:spPr>
          <a:xfrm>
            <a:off x="12710160" y="4572000"/>
            <a:ext cx="2651760" cy="457200"/>
          </a:xfrm>
          <a:prstGeom prst="rect">
            <a:avLst/>
          </a:prstGeom>
          <a:noFill/>
        </p:spPr>
        <p:txBody>
          <a:bodyPr wrap="square" anchor="t" lIns="0" rIns="0" tIns="0" bIns="0">
            <a:spAutoFit/>
          </a:bodyPr>
          <a:lstStyle/>
          <a:p>
            <a:pPr algn="l">
              <a:spcAft>
                <a:spcPts val="1000"/>
              </a:spcAft>
            </a:pPr>
            <a:r>
              <a:rPr sz="1800" b="0">
                <a:solidFill>
                  <a:srgbClr val="316CE3"/>
                </a:solidFill>
                <a:latin typeface="Arial"/>
              </a:rPr>
              <a:t>RG</a:t>
            </a:r>
          </a:p>
        </p:txBody>
      </p:sp>
      <p:sp>
        <p:nvSpPr>
          <p:cNvPr id="16" name="TextBox 15"/>
          <p:cNvSpPr txBox="1"/>
          <p:nvPr/>
        </p:nvSpPr>
        <p:spPr>
          <a:xfrm>
            <a:off x="10058400" y="4983480"/>
            <a:ext cx="5303520" cy="457200"/>
          </a:xfrm>
          <a:prstGeom prst="rect">
            <a:avLst/>
          </a:prstGeom>
          <a:noFill/>
        </p:spPr>
        <p:txBody>
          <a:bodyPr wrap="square" anchor="t" lIns="0" rIns="0" tIns="0" bIns="0">
            <a:spAutoFit/>
          </a:bodyPr>
          <a:lstStyle/>
          <a:p>
            <a:pPr algn="l">
              <a:spcAft>
                <a:spcPts val="1000"/>
              </a:spcAft>
            </a:pPr>
            <a:r>
              <a:rPr sz="1600" b="0">
                <a:solidFill>
                  <a:srgbClr val="9FB3C8"/>
                </a:solidFill>
                <a:latin typeface="Arial"/>
              </a:rPr>
              <a:t>menos tiempo es mejor</a:t>
            </a:r>
          </a:p>
        </p:txBody>
      </p:sp>
      <p:sp>
        <p:nvSpPr>
          <p:cNvPr id="17" name="TextBox 16"/>
          <p:cNvSpPr txBox="1"/>
          <p:nvPr/>
        </p:nvSpPr>
        <p:spPr>
          <a:xfrm>
            <a:off x="10058400" y="5852160"/>
            <a:ext cx="5303520" cy="2560320"/>
          </a:xfrm>
          <a:prstGeom prst="rect">
            <a:avLst/>
          </a:prstGeom>
          <a:noFill/>
        </p:spPr>
        <p:txBody>
          <a:bodyPr wrap="square" anchor="t" lIns="0" rIns="0" tIns="0" bIns="0">
            <a:spAutoFit/>
          </a:bodyPr>
          <a:lstStyle/>
          <a:p>
            <a:pPr algn="l">
              <a:spcAft>
                <a:spcPts val="1000"/>
              </a:spcAft>
            </a:pPr>
            <a:r>
              <a:rPr sz="2100" b="1">
                <a:solidFill>
                  <a:srgbClr val="F2A65A"/>
                </a:solidFill>
                <a:latin typeface="Arial"/>
              </a:rPr>
              <a:t>Ojo:</a:t>
            </a:r>
            <a:r>
              <a:rPr sz="2100" b="0">
                <a:solidFill>
                  <a:srgbClr val="F2A65A"/>
                </a:solidFill>
                <a:latin typeface="Arial"/>
              </a:rPr>
              <a:t> la primera vez que RG lee los datos tarda hasta 27 s. Desde la segunda, unos 2 s, porque los guarda en caché.</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232E3E"/>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txBody>
          <a:bodyPr/>
          <a:p/>
        </p:txBody>
      </p:sp>
      <p:sp>
        <p:nvSpPr>
          <p:cNvPr name="TextBox 3" id="3"/>
          <p:cNvSpPr txBox="true"/>
          <p:nvPr/>
        </p:nvSpPr>
        <p:spPr>
          <a:xfrm rot="0">
            <a:off x="3520440" y="868680"/>
            <a:ext cx="12070080" cy="1874519"/>
          </a:xfrm>
          <a:prstGeom prst="rect">
            <a:avLst/>
          </a:prstGeom>
        </p:spPr>
        <p:txBody>
          <a:bodyPr anchor="ctr" rtlCol="false" tIns="0" lIns="0" bIns="0" rIns="0" wrap="square">
            <a:spAutoFit/>
          </a:bodyPr>
          <a:lstStyle/>
          <a:p>
            <a:pPr algn="l" marL="0" indent="0" lvl="0">
              <a:lnSpc>
                <a:spcPts val="10481"/>
              </a:lnSpc>
              <a:spcBef>
                <a:spcPct val="0"/>
              </a:spcBef>
            </a:pPr>
            <a:r>
              <a:rPr lang="en-US" b="0" sz="4500">
                <a:solidFill>
                  <a:srgbClr val="FFFFFF"/>
                </a:solidFill>
                <a:latin typeface="Arial Black"/>
                <a:ea typeface="Arial Black"/>
                <a:cs typeface="Arial Black"/>
                <a:sym typeface="Arial Black"/>
              </a:rPr>
              <a:t>Parquet: los archivos importan</a:t>
            </a:r>
          </a:p>
        </p:txBody>
      </p:sp>
      <p:sp>
        <p:nvSpPr>
          <p:cNvPr name="Freeform 4" id="4"/>
          <p:cNvSpPr/>
          <p:nvPr/>
        </p:nvSpPr>
        <p:spPr>
          <a:xfrm flipH="false" flipV="false" rot="0">
            <a:off x="536304" y="308054"/>
            <a:ext cx="650696" cy="409939"/>
          </a:xfrm>
          <a:custGeom>
            <a:avLst/>
            <a:gdLst/>
            <a:ahLst/>
            <a:cxnLst/>
            <a:rect r="r" b="b" t="t" l="l"/>
            <a:pathLst>
              <a:path h="409939" w="650696">
                <a:moveTo>
                  <a:pt x="0" y="0"/>
                </a:moveTo>
                <a:lnTo>
                  <a:pt x="650697" y="0"/>
                </a:lnTo>
                <a:lnTo>
                  <a:pt x="650697" y="409938"/>
                </a:lnTo>
                <a:lnTo>
                  <a:pt x="0" y="40993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219785" y="9070932"/>
            <a:ext cx="4151107" cy="986035"/>
            <a:chOff x="0" y="0"/>
            <a:chExt cx="5534810" cy="1314713"/>
          </a:xfrm>
        </p:grpSpPr>
        <p:sp>
          <p:nvSpPr>
            <p:cNvPr name="Freeform 6" id="6"/>
            <p:cNvSpPr/>
            <p:nvPr/>
          </p:nvSpPr>
          <p:spPr>
            <a:xfrm flipH="false" flipV="false" rot="0">
              <a:off x="0" y="0"/>
              <a:ext cx="1314713" cy="1314713"/>
            </a:xfrm>
            <a:custGeom>
              <a:avLst/>
              <a:gdLst/>
              <a:ahLst/>
              <a:cxnLst/>
              <a:rect r="r" b="b" t="t" l="l"/>
              <a:pathLst>
                <a:path h="1314713" w="1314713">
                  <a:moveTo>
                    <a:pt x="0" y="0"/>
                  </a:moveTo>
                  <a:lnTo>
                    <a:pt x="1314713" y="0"/>
                  </a:lnTo>
                  <a:lnTo>
                    <a:pt x="1314713" y="1314713"/>
                  </a:lnTo>
                  <a:lnTo>
                    <a:pt x="0" y="131471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7" id="7"/>
            <p:cNvSpPr txBox="true"/>
            <p:nvPr/>
          </p:nvSpPr>
          <p:spPr>
            <a:xfrm rot="0">
              <a:off x="1455753" y="151974"/>
              <a:ext cx="3148240" cy="462308"/>
            </a:xfrm>
            <a:prstGeom prst="rect">
              <a:avLst/>
            </a:prstGeom>
          </p:spPr>
          <p:txBody>
            <a:bodyPr anchor="t" rtlCol="false" tIns="0" lIns="0" bIns="0" rIns="0">
              <a:spAutoFit/>
            </a:bodyPr>
            <a:lstStyle/>
            <a:p>
              <a:pPr algn="l">
                <a:lnSpc>
                  <a:spcPts val="2702"/>
                </a:lnSpc>
              </a:pPr>
              <a:r>
                <a:rPr lang="en-US" b="true" sz="2252">
                  <a:solidFill>
                    <a:srgbClr val="FFFFFF"/>
                  </a:solidFill>
                  <a:latin typeface="Raleway 1 Bold"/>
                  <a:ea typeface="Raleway 1 Bold"/>
                  <a:cs typeface="Raleway 1 Bold"/>
                  <a:sym typeface="Raleway 1 Bold"/>
                </a:rPr>
                <a:t>OCTUBRE</a:t>
              </a:r>
            </a:p>
          </p:txBody>
        </p:sp>
        <p:sp>
          <p:nvSpPr>
            <p:cNvPr name="TextBox 8" id="8"/>
            <p:cNvSpPr txBox="true"/>
            <p:nvPr/>
          </p:nvSpPr>
          <p:spPr>
            <a:xfrm rot="0">
              <a:off x="1468453" y="585710"/>
              <a:ext cx="4066356" cy="565140"/>
            </a:xfrm>
            <a:prstGeom prst="rect">
              <a:avLst/>
            </a:prstGeom>
          </p:spPr>
          <p:txBody>
            <a:bodyPr anchor="t" rtlCol="false" tIns="0" lIns="0" bIns="0" rIns="0">
              <a:spAutoFit/>
            </a:bodyPr>
            <a:lstStyle/>
            <a:p>
              <a:pPr algn="l">
                <a:lnSpc>
                  <a:spcPts val="1130"/>
                </a:lnSpc>
              </a:pPr>
              <a:r>
                <a:rPr lang="en-US" sz="1097" b="true">
                  <a:solidFill>
                    <a:srgbClr val="FFFFFF"/>
                  </a:solidFill>
                  <a:latin typeface="Raleway 1 Bold"/>
                  <a:ea typeface="Raleway 1 Bold"/>
                  <a:cs typeface="Raleway 1 Bold"/>
                  <a:sym typeface="Raleway 1 Bold"/>
                </a:rPr>
                <a:t>Mes de </a:t>
              </a:r>
            </a:p>
            <a:p>
              <a:pPr algn="l">
                <a:lnSpc>
                  <a:spcPts val="2059"/>
                </a:lnSpc>
              </a:pPr>
              <a:r>
                <a:rPr lang="en-US" b="true" sz="1999">
                  <a:solidFill>
                    <a:srgbClr val="FFFFFF"/>
                  </a:solidFill>
                  <a:latin typeface="Raleway 1 Bold"/>
                  <a:ea typeface="Raleway 1 Bold"/>
                  <a:cs typeface="Raleway 1 Bold"/>
                  <a:sym typeface="Raleway 1 Bold"/>
                </a:rPr>
                <a:t>HAN SOLO</a:t>
              </a:r>
            </a:p>
          </p:txBody>
        </p:sp>
      </p:grpSp>
      <p:sp>
        <p:nvSpPr>
          <p:cNvPr name="TextBox 9" id="9"/>
          <p:cNvSpPr txBox="true"/>
          <p:nvPr/>
        </p:nvSpPr>
        <p:spPr>
          <a:xfrm rot="0">
            <a:off x="1258571" y="221658"/>
            <a:ext cx="15091730" cy="563680"/>
          </a:xfrm>
          <a:prstGeom prst="rect">
            <a:avLst/>
          </a:prstGeom>
        </p:spPr>
        <p:txBody>
          <a:bodyPr anchor="t" rtlCol="false" tIns="0" lIns="0" bIns="0" rIns="0">
            <a:spAutoFit/>
          </a:bodyPr>
          <a:lstStyle/>
          <a:p>
            <a:pPr algn="l">
              <a:lnSpc>
                <a:spcPts val="1760"/>
              </a:lnSpc>
            </a:pPr>
            <a:r>
              <a:rPr lang="en-US" sz="2000">
                <a:solidFill>
                  <a:srgbClr val="316CE3"/>
                </a:solidFill>
                <a:latin typeface="Gotham"/>
                <a:ea typeface="Gotham"/>
                <a:cs typeface="Gotham"/>
                <a:sym typeface="Gotham"/>
              </a:rPr>
              <a:t>HOY:</a:t>
            </a:r>
          </a:p>
          <a:p>
            <a:pPr algn="l">
              <a:lnSpc>
                <a:spcPts val="2528"/>
              </a:lnSpc>
            </a:pPr>
            <a:r>
              <a:rPr lang="en-US" sz="2873" b="true">
                <a:solidFill>
                  <a:srgbClr val="316CE3"/>
                </a:solidFill>
                <a:latin typeface="Gotham Bold"/>
                <a:ea typeface="Gotham Bold"/>
                <a:cs typeface="Gotham Bold"/>
                <a:sym typeface="Gotham Bold"/>
              </a:rPr>
              <a:t>Episodio II — El Ataque de los Graviton: Infraestructura y rendimiento</a:t>
            </a:r>
          </a:p>
        </p:txBody>
      </p:sp>
      <p:graphicFrame>
        <p:nvGraphicFramePr>
          <p:cNvPr id="10" name="Table 9"/>
          <p:cNvGraphicFramePr>
            <a:graphicFrameLocks noGrp="1"/>
          </p:cNvGraphicFramePr>
          <p:nvPr/>
        </p:nvGraphicFramePr>
        <p:xfrm>
          <a:off x="914400" y="3200400"/>
          <a:ext cx="13898880" cy="2606040"/>
        </p:xfrm>
        <a:graphic>
          <a:graphicData uri="http://schemas.openxmlformats.org/drawingml/2006/table">
            <a:tbl>
              <a:tblPr firstRow="1" bandRow="1">
                <a:tableStyleId>{5C22544A-7EE6-4342-B048-85BDC9FD1C3A}</a:tableStyleId>
              </a:tblPr>
              <a:tblGrid>
                <a:gridCol w="4389120"/>
                <a:gridCol w="2377440"/>
                <a:gridCol w="2377440"/>
                <a:gridCol w="4754880"/>
              </a:tblGrid>
              <a:tr h="868680">
                <a:tc>
                  <a:txBody>
                    <a:bodyPr/>
                    <a:lstStyle/>
                    <a:p>
                      <a:r>
                        <a:rPr sz="2400" b="1">
                          <a:solidFill>
                            <a:srgbClr val="FFFFFF"/>
                          </a:solidFill>
                          <a:latin typeface="Arial"/>
                        </a:rPr>
                        <a:t>Parquet store_sales</a:t>
                      </a:r>
                    </a:p>
                  </a:txBody>
                  <a:tcPr anchor="ctr" marL="109728" marR="109728">
                    <a:solidFill>
                      <a:srgbClr val="316CE3"/>
                    </a:solidFill>
                  </a:tcPr>
                </a:tc>
                <a:tc>
                  <a:txBody>
                    <a:bodyPr/>
                    <a:lstStyle/>
                    <a:p>
                      <a:r>
                        <a:rPr sz="2400" b="1">
                          <a:solidFill>
                            <a:srgbClr val="FFFFFF"/>
                          </a:solidFill>
                          <a:latin typeface="Arial"/>
                        </a:rPr>
                        <a:t>RA3 (total)</a:t>
                      </a:r>
                    </a:p>
                  </a:txBody>
                  <a:tcPr anchor="ctr" marL="109728" marR="109728">
                    <a:solidFill>
                      <a:srgbClr val="316CE3"/>
                    </a:solidFill>
                  </a:tcPr>
                </a:tc>
                <a:tc>
                  <a:txBody>
                    <a:bodyPr/>
                    <a:lstStyle/>
                    <a:p>
                      <a:r>
                        <a:rPr sz="2400" b="1">
                          <a:solidFill>
                            <a:srgbClr val="FFFFFF"/>
                          </a:solidFill>
                          <a:latin typeface="Arial"/>
                        </a:rPr>
                        <a:t>RG (total)</a:t>
                      </a:r>
                    </a:p>
                  </a:txBody>
                  <a:tcPr anchor="ctr" marL="109728" marR="109728">
                    <a:solidFill>
                      <a:srgbClr val="316CE3"/>
                    </a:solidFill>
                  </a:tcPr>
                </a:tc>
                <a:tc>
                  <a:txBody>
                    <a:bodyPr/>
                    <a:lstStyle/>
                    <a:p>
                      <a:r>
                        <a:rPr sz="2400" b="1">
                          <a:solidFill>
                            <a:srgbClr val="FFFFFF"/>
                          </a:solidFill>
                          <a:latin typeface="Arial"/>
                        </a:rPr>
                        <a:t>RG frente a RA3 (media geom.)</a:t>
                      </a:r>
                    </a:p>
                  </a:txBody>
                  <a:tcPr anchor="ctr" marL="109728" marR="109728">
                    <a:solidFill>
                      <a:srgbClr val="316CE3"/>
                    </a:solidFill>
                  </a:tcPr>
                </a:tc>
              </a:tr>
              <a:tr h="868680">
                <a:tc>
                  <a:txBody>
                    <a:bodyPr/>
                    <a:lstStyle/>
                    <a:p>
                      <a:r>
                        <a:rPr sz="2400" b="0">
                          <a:solidFill>
                            <a:srgbClr val="FFFFFF"/>
                          </a:solidFill>
                          <a:latin typeface="Arial"/>
                        </a:rPr>
                        <a:t>4 archivos de ≈3,8 GB</a:t>
                      </a:r>
                    </a:p>
                  </a:txBody>
                  <a:tcPr anchor="ctr" marL="109728" marR="109728">
                    <a:solidFill>
                      <a:srgbClr val="2F3D52"/>
                    </a:solidFill>
                  </a:tcPr>
                </a:tc>
                <a:tc>
                  <a:txBody>
                    <a:bodyPr/>
                    <a:lstStyle/>
                    <a:p>
                      <a:r>
                        <a:rPr sz="2400" b="0">
                          <a:solidFill>
                            <a:srgbClr val="FFFFFF"/>
                          </a:solidFill>
                          <a:latin typeface="Arial"/>
                        </a:rPr>
                        <a:t>31,7 s</a:t>
                      </a:r>
                    </a:p>
                  </a:txBody>
                  <a:tcPr anchor="ctr" marL="109728" marR="109728">
                    <a:solidFill>
                      <a:srgbClr val="2F3D52"/>
                    </a:solidFill>
                  </a:tcPr>
                </a:tc>
                <a:tc>
                  <a:txBody>
                    <a:bodyPr/>
                    <a:lstStyle/>
                    <a:p>
                      <a:r>
                        <a:rPr sz="2400" b="0">
                          <a:solidFill>
                            <a:srgbClr val="FFFFFF"/>
                          </a:solidFill>
                          <a:latin typeface="Arial"/>
                        </a:rPr>
                        <a:t>50,6 s</a:t>
                      </a:r>
                    </a:p>
                  </a:txBody>
                  <a:tcPr anchor="ctr" marL="109728" marR="109728">
                    <a:solidFill>
                      <a:srgbClr val="2F3D52"/>
                    </a:solidFill>
                  </a:tcPr>
                </a:tc>
                <a:tc>
                  <a:txBody>
                    <a:bodyPr/>
                    <a:lstStyle/>
                    <a:p>
                      <a:r>
                        <a:rPr sz="2400" b="1">
                          <a:solidFill>
                            <a:srgbClr val="FFFFFF"/>
                          </a:solidFill>
                          <a:latin typeface="Arial"/>
                        </a:rPr>
                        <a:t>0,82x</a:t>
                      </a:r>
                    </a:p>
                  </a:txBody>
                  <a:tcPr anchor="ctr" marL="109728" marR="109728">
                    <a:solidFill>
                      <a:srgbClr val="2F3D52"/>
                    </a:solidFill>
                  </a:tcPr>
                </a:tc>
              </a:tr>
              <a:tr h="868680">
                <a:tc>
                  <a:txBody>
                    <a:bodyPr/>
                    <a:lstStyle/>
                    <a:p>
                      <a:r>
                        <a:rPr sz="2400" b="0">
                          <a:solidFill>
                            <a:srgbClr val="FFFFFF"/>
                          </a:solidFill>
                          <a:latin typeface="Arial"/>
                        </a:rPr>
                        <a:t>31 archivos de ≈0,5 GB</a:t>
                      </a:r>
                    </a:p>
                  </a:txBody>
                  <a:tcPr anchor="ctr" marL="109728" marR="109728">
                    <a:solidFill>
                      <a:srgbClr val="2F3D52"/>
                    </a:solidFill>
                  </a:tcPr>
                </a:tc>
                <a:tc>
                  <a:txBody>
                    <a:bodyPr/>
                    <a:lstStyle/>
                    <a:p>
                      <a:r>
                        <a:rPr sz="2400" b="0">
                          <a:solidFill>
                            <a:srgbClr val="FFFFFF"/>
                          </a:solidFill>
                          <a:latin typeface="Arial"/>
                        </a:rPr>
                        <a:t>46,5 s</a:t>
                      </a:r>
                    </a:p>
                  </a:txBody>
                  <a:tcPr anchor="ctr" marL="109728" marR="109728">
                    <a:solidFill>
                      <a:srgbClr val="2F3D52"/>
                    </a:solidFill>
                  </a:tcPr>
                </a:tc>
                <a:tc>
                  <a:txBody>
                    <a:bodyPr/>
                    <a:lstStyle/>
                    <a:p>
                      <a:r>
                        <a:rPr sz="2400" b="0">
                          <a:solidFill>
                            <a:srgbClr val="FFFFFF"/>
                          </a:solidFill>
                          <a:latin typeface="Arial"/>
                        </a:rPr>
                        <a:t>36,3 s</a:t>
                      </a:r>
                    </a:p>
                  </a:txBody>
                  <a:tcPr anchor="ctr" marL="109728" marR="109728">
                    <a:solidFill>
                      <a:srgbClr val="2F3D52"/>
                    </a:solidFill>
                  </a:tcPr>
                </a:tc>
                <a:tc>
                  <a:txBody>
                    <a:bodyPr/>
                    <a:lstStyle/>
                    <a:p>
                      <a:r>
                        <a:rPr sz="2400" b="1">
                          <a:solidFill>
                            <a:srgbClr val="FFFFFF"/>
                          </a:solidFill>
                          <a:latin typeface="Arial"/>
                        </a:rPr>
                        <a:t>1,76x</a:t>
                      </a:r>
                    </a:p>
                  </a:txBody>
                  <a:tcPr anchor="ctr" marL="109728" marR="109728">
                    <a:solidFill>
                      <a:srgbClr val="2F3D52"/>
                    </a:solidFill>
                  </a:tcPr>
                </a:tc>
              </a:tr>
            </a:tbl>
          </a:graphicData>
        </a:graphic>
      </p:graphicFrame>
      <p:sp>
        <p:nvSpPr>
          <p:cNvPr id="11" name="TextBox 10"/>
          <p:cNvSpPr txBox="1"/>
          <p:nvPr/>
        </p:nvSpPr>
        <p:spPr>
          <a:xfrm>
            <a:off x="914400" y="6217920"/>
            <a:ext cx="13898880" cy="2377440"/>
          </a:xfrm>
          <a:prstGeom prst="rect">
            <a:avLst/>
          </a:prstGeom>
          <a:noFill/>
        </p:spPr>
        <p:txBody>
          <a:bodyPr wrap="square" anchor="t" lIns="0" rIns="0" tIns="0" bIns="0">
            <a:spAutoFit/>
          </a:bodyPr>
          <a:lstStyle/>
          <a:p>
            <a:pPr algn="l">
              <a:spcAft>
                <a:spcPts val="1400"/>
              </a:spcAft>
            </a:pPr>
            <a:r>
              <a:rPr sz="2400" b="0">
                <a:solidFill>
                  <a:srgbClr val="D9E2EC"/>
                </a:solidFill>
                <a:latin typeface="Arial"/>
              </a:rPr>
              <a:t>Los dos clústeres usan </a:t>
            </a:r>
            <a:r>
              <a:rPr sz="2400" b="1">
                <a:solidFill>
                  <a:srgbClr val="D9E2EC"/>
                </a:solidFill>
                <a:latin typeface="Arial"/>
              </a:rPr>
              <a:t>exactamente el mismo plan de ejecución</a:t>
            </a:r>
            <a:r>
              <a:rPr sz="2400" b="0">
                <a:solidFill>
                  <a:srgbClr val="D9E2EC"/>
                </a:solidFill>
                <a:latin typeface="Arial"/>
              </a:rPr>
              <a:t>.</a:t>
            </a:r>
          </a:p>
          <a:p>
            <a:pPr algn="l">
              <a:spcAft>
                <a:spcPts val="1400"/>
              </a:spcAft>
            </a:pPr>
            <a:r>
              <a:rPr sz="2400" b="0">
                <a:solidFill>
                  <a:srgbClr val="D9E2EC"/>
                </a:solidFill>
                <a:latin typeface="Arial"/>
              </a:rPr>
              <a:t>Partir los archivos en pedazos más chicos </a:t>
            </a:r>
            <a:r>
              <a:rPr sz="2400" b="1">
                <a:solidFill>
                  <a:srgbClr val="D9E2EC"/>
                </a:solidFill>
                <a:latin typeface="Arial"/>
              </a:rPr>
              <a:t>ayuda a RG y perjudica a RA3</a:t>
            </a:r>
            <a:r>
              <a:rPr sz="2400" b="0">
                <a:solidFill>
                  <a:srgbClr val="D9E2EC"/>
                </a:solidFill>
                <a:latin typeface="Arial"/>
              </a:rPr>
              <a:t>.</a:t>
            </a:r>
          </a:p>
          <a:p>
            <a:pPr algn="l">
              <a:spcAft>
                <a:spcPts val="1400"/>
              </a:spcAft>
            </a:pPr>
            <a:r>
              <a:rPr sz="2400" b="0">
                <a:solidFill>
                  <a:srgbClr val="D9E2EC"/>
                </a:solidFill>
                <a:latin typeface="Arial"/>
              </a:rPr>
              <a:t>Lo repetimos una sola vez: la tendencia es clara; el número exacto, no tanto.</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232E3E"/>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txBody>
          <a:bodyPr/>
          <a:p/>
        </p:txBody>
      </p:sp>
      <p:sp>
        <p:nvSpPr>
          <p:cNvPr name="TextBox 3" id="3"/>
          <p:cNvSpPr txBox="true"/>
          <p:nvPr/>
        </p:nvSpPr>
        <p:spPr>
          <a:xfrm rot="0">
            <a:off x="3520440" y="868680"/>
            <a:ext cx="12070080" cy="1874519"/>
          </a:xfrm>
          <a:prstGeom prst="rect">
            <a:avLst/>
          </a:prstGeom>
        </p:spPr>
        <p:txBody>
          <a:bodyPr anchor="ctr" rtlCol="false" tIns="0" lIns="0" bIns="0" rIns="0" wrap="square">
            <a:spAutoFit/>
          </a:bodyPr>
          <a:lstStyle/>
          <a:p>
            <a:pPr algn="l" marL="0" indent="0" lvl="0">
              <a:lnSpc>
                <a:spcPts val="10481"/>
              </a:lnSpc>
              <a:spcBef>
                <a:spcPct val="0"/>
              </a:spcBef>
            </a:pPr>
            <a:r>
              <a:rPr lang="en-US" b="0" sz="5400">
                <a:solidFill>
                  <a:srgbClr val="FFFFFF"/>
                </a:solidFill>
                <a:latin typeface="Arial Black"/>
                <a:ea typeface="Arial Black"/>
                <a:cs typeface="Arial Black"/>
                <a:sym typeface="Arial Black"/>
              </a:rPr>
              <a:t>Spectrum cobra aparte</a:t>
            </a:r>
          </a:p>
        </p:txBody>
      </p:sp>
      <p:sp>
        <p:nvSpPr>
          <p:cNvPr name="Freeform 4" id="4"/>
          <p:cNvSpPr/>
          <p:nvPr/>
        </p:nvSpPr>
        <p:spPr>
          <a:xfrm flipH="false" flipV="false" rot="0">
            <a:off x="536304" y="308054"/>
            <a:ext cx="650696" cy="409939"/>
          </a:xfrm>
          <a:custGeom>
            <a:avLst/>
            <a:gdLst/>
            <a:ahLst/>
            <a:cxnLst/>
            <a:rect r="r" b="b" t="t" l="l"/>
            <a:pathLst>
              <a:path h="409939" w="650696">
                <a:moveTo>
                  <a:pt x="0" y="0"/>
                </a:moveTo>
                <a:lnTo>
                  <a:pt x="650697" y="0"/>
                </a:lnTo>
                <a:lnTo>
                  <a:pt x="650697" y="409938"/>
                </a:lnTo>
                <a:lnTo>
                  <a:pt x="0" y="40993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219785" y="9070932"/>
            <a:ext cx="4151107" cy="986035"/>
            <a:chOff x="0" y="0"/>
            <a:chExt cx="5534810" cy="1314713"/>
          </a:xfrm>
        </p:grpSpPr>
        <p:sp>
          <p:nvSpPr>
            <p:cNvPr name="Freeform 6" id="6"/>
            <p:cNvSpPr/>
            <p:nvPr/>
          </p:nvSpPr>
          <p:spPr>
            <a:xfrm flipH="false" flipV="false" rot="0">
              <a:off x="0" y="0"/>
              <a:ext cx="1314713" cy="1314713"/>
            </a:xfrm>
            <a:custGeom>
              <a:avLst/>
              <a:gdLst/>
              <a:ahLst/>
              <a:cxnLst/>
              <a:rect r="r" b="b" t="t" l="l"/>
              <a:pathLst>
                <a:path h="1314713" w="1314713">
                  <a:moveTo>
                    <a:pt x="0" y="0"/>
                  </a:moveTo>
                  <a:lnTo>
                    <a:pt x="1314713" y="0"/>
                  </a:lnTo>
                  <a:lnTo>
                    <a:pt x="1314713" y="1314713"/>
                  </a:lnTo>
                  <a:lnTo>
                    <a:pt x="0" y="131471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7" id="7"/>
            <p:cNvSpPr txBox="true"/>
            <p:nvPr/>
          </p:nvSpPr>
          <p:spPr>
            <a:xfrm rot="0">
              <a:off x="1455753" y="151974"/>
              <a:ext cx="3148240" cy="462308"/>
            </a:xfrm>
            <a:prstGeom prst="rect">
              <a:avLst/>
            </a:prstGeom>
          </p:spPr>
          <p:txBody>
            <a:bodyPr anchor="t" rtlCol="false" tIns="0" lIns="0" bIns="0" rIns="0">
              <a:spAutoFit/>
            </a:bodyPr>
            <a:lstStyle/>
            <a:p>
              <a:pPr algn="l">
                <a:lnSpc>
                  <a:spcPts val="2702"/>
                </a:lnSpc>
              </a:pPr>
              <a:r>
                <a:rPr lang="en-US" b="true" sz="2252">
                  <a:solidFill>
                    <a:srgbClr val="FFFFFF"/>
                  </a:solidFill>
                  <a:latin typeface="Raleway 1 Bold"/>
                  <a:ea typeface="Raleway 1 Bold"/>
                  <a:cs typeface="Raleway 1 Bold"/>
                  <a:sym typeface="Raleway 1 Bold"/>
                </a:rPr>
                <a:t>OCTUBRE</a:t>
              </a:r>
            </a:p>
          </p:txBody>
        </p:sp>
        <p:sp>
          <p:nvSpPr>
            <p:cNvPr name="TextBox 8" id="8"/>
            <p:cNvSpPr txBox="true"/>
            <p:nvPr/>
          </p:nvSpPr>
          <p:spPr>
            <a:xfrm rot="0">
              <a:off x="1468453" y="585710"/>
              <a:ext cx="4066356" cy="565140"/>
            </a:xfrm>
            <a:prstGeom prst="rect">
              <a:avLst/>
            </a:prstGeom>
          </p:spPr>
          <p:txBody>
            <a:bodyPr anchor="t" rtlCol="false" tIns="0" lIns="0" bIns="0" rIns="0">
              <a:spAutoFit/>
            </a:bodyPr>
            <a:lstStyle/>
            <a:p>
              <a:pPr algn="l">
                <a:lnSpc>
                  <a:spcPts val="1130"/>
                </a:lnSpc>
              </a:pPr>
              <a:r>
                <a:rPr lang="en-US" sz="1097" b="true">
                  <a:solidFill>
                    <a:srgbClr val="FFFFFF"/>
                  </a:solidFill>
                  <a:latin typeface="Raleway 1 Bold"/>
                  <a:ea typeface="Raleway 1 Bold"/>
                  <a:cs typeface="Raleway 1 Bold"/>
                  <a:sym typeface="Raleway 1 Bold"/>
                </a:rPr>
                <a:t>Mes de </a:t>
              </a:r>
            </a:p>
            <a:p>
              <a:pPr algn="l">
                <a:lnSpc>
                  <a:spcPts val="2059"/>
                </a:lnSpc>
              </a:pPr>
              <a:r>
                <a:rPr lang="en-US" b="true" sz="1999">
                  <a:solidFill>
                    <a:srgbClr val="FFFFFF"/>
                  </a:solidFill>
                  <a:latin typeface="Raleway 1 Bold"/>
                  <a:ea typeface="Raleway 1 Bold"/>
                  <a:cs typeface="Raleway 1 Bold"/>
                  <a:sym typeface="Raleway 1 Bold"/>
                </a:rPr>
                <a:t>HAN SOLO</a:t>
              </a:r>
            </a:p>
          </p:txBody>
        </p:sp>
      </p:grpSp>
      <p:sp>
        <p:nvSpPr>
          <p:cNvPr name="TextBox 9" id="9"/>
          <p:cNvSpPr txBox="true"/>
          <p:nvPr/>
        </p:nvSpPr>
        <p:spPr>
          <a:xfrm rot="0">
            <a:off x="1258571" y="221658"/>
            <a:ext cx="15091730" cy="563680"/>
          </a:xfrm>
          <a:prstGeom prst="rect">
            <a:avLst/>
          </a:prstGeom>
        </p:spPr>
        <p:txBody>
          <a:bodyPr anchor="t" rtlCol="false" tIns="0" lIns="0" bIns="0" rIns="0">
            <a:spAutoFit/>
          </a:bodyPr>
          <a:lstStyle/>
          <a:p>
            <a:pPr algn="l">
              <a:lnSpc>
                <a:spcPts val="1760"/>
              </a:lnSpc>
            </a:pPr>
            <a:r>
              <a:rPr lang="en-US" sz="2000">
                <a:solidFill>
                  <a:srgbClr val="316CE3"/>
                </a:solidFill>
                <a:latin typeface="Gotham"/>
                <a:ea typeface="Gotham"/>
                <a:cs typeface="Gotham"/>
                <a:sym typeface="Gotham"/>
              </a:rPr>
              <a:t>HOY:</a:t>
            </a:r>
          </a:p>
          <a:p>
            <a:pPr algn="l">
              <a:lnSpc>
                <a:spcPts val="2528"/>
              </a:lnSpc>
            </a:pPr>
            <a:r>
              <a:rPr lang="en-US" sz="2873" b="true">
                <a:solidFill>
                  <a:srgbClr val="316CE3"/>
                </a:solidFill>
                <a:latin typeface="Gotham Bold"/>
                <a:ea typeface="Gotham Bold"/>
                <a:cs typeface="Gotham Bold"/>
                <a:sym typeface="Gotham Bold"/>
              </a:rPr>
              <a:t>Episodio II — El Ataque de los Graviton: Infraestructura y rendimiento</a:t>
            </a:r>
          </a:p>
        </p:txBody>
      </p:sp>
      <p:sp>
        <p:nvSpPr>
          <p:cNvPr id="10" name="TextBox 9"/>
          <p:cNvSpPr txBox="1"/>
          <p:nvPr/>
        </p:nvSpPr>
        <p:spPr>
          <a:xfrm>
            <a:off x="914400" y="3291840"/>
            <a:ext cx="4572000" cy="1280160"/>
          </a:xfrm>
          <a:prstGeom prst="rect">
            <a:avLst/>
          </a:prstGeom>
          <a:noFill/>
        </p:spPr>
        <p:txBody>
          <a:bodyPr wrap="square" anchor="b" lIns="0" rIns="0" tIns="0" bIns="0">
            <a:spAutoFit/>
          </a:bodyPr>
          <a:lstStyle/>
          <a:p>
            <a:pPr algn="l">
              <a:spcAft>
                <a:spcPts val="1000"/>
              </a:spcAft>
            </a:pPr>
            <a:r>
              <a:rPr sz="6000" b="1">
                <a:solidFill>
                  <a:srgbClr val="F2A65A"/>
                </a:solidFill>
                <a:latin typeface="Arial"/>
              </a:rPr>
              <a:t>USD 0,083</a:t>
            </a:r>
          </a:p>
        </p:txBody>
      </p:sp>
      <p:sp>
        <p:nvSpPr>
          <p:cNvPr id="11" name="TextBox 10"/>
          <p:cNvSpPr txBox="1"/>
          <p:nvPr/>
        </p:nvSpPr>
        <p:spPr>
          <a:xfrm>
            <a:off x="914400" y="4663440"/>
            <a:ext cx="4572000" cy="1097280"/>
          </a:xfrm>
          <a:prstGeom prst="rect">
            <a:avLst/>
          </a:prstGeom>
          <a:noFill/>
        </p:spPr>
        <p:txBody>
          <a:bodyPr wrap="square" anchor="t" lIns="0" rIns="0" tIns="0" bIns="0">
            <a:spAutoFit/>
          </a:bodyPr>
          <a:lstStyle/>
          <a:p>
            <a:pPr algn="l">
              <a:spcAft>
                <a:spcPts val="1000"/>
              </a:spcAft>
            </a:pPr>
            <a:r>
              <a:rPr sz="2200" b="0">
                <a:solidFill>
                  <a:srgbClr val="D9E2EC"/>
                </a:solidFill>
                <a:latin typeface="Arial"/>
              </a:rPr>
              <a:t>18,2 GB leídos de Iceberg (2 repeticiones)</a:t>
            </a:r>
          </a:p>
        </p:txBody>
      </p:sp>
      <p:sp>
        <p:nvSpPr>
          <p:cNvPr id="12" name="TextBox 11"/>
          <p:cNvSpPr txBox="1"/>
          <p:nvPr/>
        </p:nvSpPr>
        <p:spPr>
          <a:xfrm>
            <a:off x="5669280" y="3291840"/>
            <a:ext cx="4572000" cy="1280160"/>
          </a:xfrm>
          <a:prstGeom prst="rect">
            <a:avLst/>
          </a:prstGeom>
          <a:noFill/>
        </p:spPr>
        <p:txBody>
          <a:bodyPr wrap="square" anchor="b" lIns="0" rIns="0" tIns="0" bIns="0">
            <a:spAutoFit/>
          </a:bodyPr>
          <a:lstStyle/>
          <a:p>
            <a:pPr algn="l">
              <a:spcAft>
                <a:spcPts val="1000"/>
              </a:spcAft>
            </a:pPr>
            <a:r>
              <a:rPr sz="6000" b="1">
                <a:solidFill>
                  <a:srgbClr val="F2A65A"/>
                </a:solidFill>
                <a:latin typeface="Arial"/>
              </a:rPr>
              <a:t>USD 0,092</a:t>
            </a:r>
          </a:p>
        </p:txBody>
      </p:sp>
      <p:sp>
        <p:nvSpPr>
          <p:cNvPr id="13" name="TextBox 12"/>
          <p:cNvSpPr txBox="1"/>
          <p:nvPr/>
        </p:nvSpPr>
        <p:spPr>
          <a:xfrm>
            <a:off x="5669280" y="4663440"/>
            <a:ext cx="4572000" cy="1097280"/>
          </a:xfrm>
          <a:prstGeom prst="rect">
            <a:avLst/>
          </a:prstGeom>
          <a:noFill/>
        </p:spPr>
        <p:txBody>
          <a:bodyPr wrap="square" anchor="t" lIns="0" rIns="0" tIns="0" bIns="0">
            <a:spAutoFit/>
          </a:bodyPr>
          <a:lstStyle/>
          <a:p>
            <a:pPr algn="l">
              <a:spcAft>
                <a:spcPts val="1000"/>
              </a:spcAft>
            </a:pPr>
            <a:r>
              <a:rPr sz="2200" b="0">
                <a:solidFill>
                  <a:srgbClr val="D9E2EC"/>
                </a:solidFill>
                <a:latin typeface="Arial"/>
              </a:rPr>
              <a:t>20,2 GB leídos de Parquet (2 repeticiones)</a:t>
            </a:r>
          </a:p>
        </p:txBody>
      </p:sp>
      <p:sp>
        <p:nvSpPr>
          <p:cNvPr id="14" name="TextBox 13"/>
          <p:cNvSpPr txBox="1"/>
          <p:nvPr/>
        </p:nvSpPr>
        <p:spPr>
          <a:xfrm>
            <a:off x="10424160" y="3291840"/>
            <a:ext cx="4389120" cy="1280160"/>
          </a:xfrm>
          <a:prstGeom prst="rect">
            <a:avLst/>
          </a:prstGeom>
          <a:noFill/>
        </p:spPr>
        <p:txBody>
          <a:bodyPr wrap="square" anchor="b" lIns="0" rIns="0" tIns="0" bIns="0">
            <a:spAutoFit/>
          </a:bodyPr>
          <a:lstStyle/>
          <a:p>
            <a:pPr algn="l">
              <a:spcAft>
                <a:spcPts val="1000"/>
              </a:spcAft>
            </a:pPr>
            <a:r>
              <a:rPr sz="6000" b="1">
                <a:solidFill>
                  <a:srgbClr val="316CE3"/>
                </a:solidFill>
                <a:latin typeface="Arial"/>
              </a:rPr>
              <a:t>USD 0</a:t>
            </a:r>
          </a:p>
        </p:txBody>
      </p:sp>
      <p:sp>
        <p:nvSpPr>
          <p:cNvPr id="15" name="TextBox 14"/>
          <p:cNvSpPr txBox="1"/>
          <p:nvPr/>
        </p:nvSpPr>
        <p:spPr>
          <a:xfrm>
            <a:off x="10424160" y="4663440"/>
            <a:ext cx="4389120" cy="1097280"/>
          </a:xfrm>
          <a:prstGeom prst="rect">
            <a:avLst/>
          </a:prstGeom>
          <a:noFill/>
        </p:spPr>
        <p:txBody>
          <a:bodyPr wrap="square" anchor="t" lIns="0" rIns="0" tIns="0" bIns="0">
            <a:spAutoFit/>
          </a:bodyPr>
          <a:lstStyle/>
          <a:p>
            <a:pPr algn="l">
              <a:spcAft>
                <a:spcPts val="1000"/>
              </a:spcAft>
            </a:pPr>
            <a:r>
              <a:rPr sz="2200" b="0">
                <a:solidFill>
                  <a:srgbClr val="D9E2EC"/>
                </a:solidFill>
                <a:latin typeface="Arial"/>
              </a:rPr>
              <a:t>por lectura en RG</a:t>
            </a:r>
          </a:p>
        </p:txBody>
      </p:sp>
      <p:sp>
        <p:nvSpPr>
          <p:cNvPr id="16" name="TextBox 15"/>
          <p:cNvSpPr txBox="1"/>
          <p:nvPr/>
        </p:nvSpPr>
        <p:spPr>
          <a:xfrm>
            <a:off x="914400" y="6766560"/>
            <a:ext cx="13898880" cy="1371600"/>
          </a:xfrm>
          <a:prstGeom prst="rect">
            <a:avLst/>
          </a:prstGeom>
          <a:noFill/>
        </p:spPr>
        <p:txBody>
          <a:bodyPr wrap="square" anchor="t" lIns="0" rIns="0" tIns="0" bIns="0">
            <a:spAutoFit/>
          </a:bodyPr>
          <a:lstStyle/>
          <a:p>
            <a:pPr algn="l">
              <a:spcAft>
                <a:spcPts val="1000"/>
              </a:spcAft>
            </a:pPr>
            <a:r>
              <a:rPr sz="2500" b="0">
                <a:solidFill>
                  <a:srgbClr val="FFFFFF"/>
                </a:solidFill>
                <a:latin typeface="Arial"/>
              </a:rPr>
              <a:t>En RA3 se pagan USD 5 por cada TB leído. </a:t>
            </a:r>
            <a:r>
              <a:rPr sz="2500" b="1">
                <a:solidFill>
                  <a:srgbClr val="FFFFFF"/>
                </a:solidFill>
                <a:latin typeface="Arial"/>
              </a:rPr>
              <a:t>Multiplícalo por todo lo que consultas del data lake en un mes.</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232E3E"/>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txBody>
          <a:bodyPr/>
          <a:p/>
        </p:txBody>
      </p:sp>
      <p:sp>
        <p:nvSpPr>
          <p:cNvPr name="TextBox 3" id="3"/>
          <p:cNvSpPr txBox="true"/>
          <p:nvPr/>
        </p:nvSpPr>
        <p:spPr>
          <a:xfrm rot="0">
            <a:off x="3520440" y="868680"/>
            <a:ext cx="12070080" cy="1874519"/>
          </a:xfrm>
          <a:prstGeom prst="rect">
            <a:avLst/>
          </a:prstGeom>
        </p:spPr>
        <p:txBody>
          <a:bodyPr anchor="ctr" rtlCol="false" tIns="0" lIns="0" bIns="0" rIns="0" wrap="square">
            <a:spAutoFit/>
          </a:bodyPr>
          <a:lstStyle/>
          <a:p>
            <a:pPr algn="l" marL="0" indent="0" lvl="0">
              <a:lnSpc>
                <a:spcPts val="10481"/>
              </a:lnSpc>
              <a:spcBef>
                <a:spcPct val="0"/>
              </a:spcBef>
            </a:pPr>
            <a:r>
              <a:rPr lang="en-US" b="0" sz="4400">
                <a:solidFill>
                  <a:srgbClr val="FFFFFF"/>
                </a:solidFill>
                <a:latin typeface="Arial Black"/>
                <a:ea typeface="Arial Black"/>
                <a:cs typeface="Arial Black"/>
                <a:sym typeface="Arial Black"/>
              </a:rPr>
              <a:t>Lo que aprendimos del data lake</a:t>
            </a:r>
          </a:p>
        </p:txBody>
      </p:sp>
      <p:sp>
        <p:nvSpPr>
          <p:cNvPr name="Freeform 4" id="4"/>
          <p:cNvSpPr/>
          <p:nvPr/>
        </p:nvSpPr>
        <p:spPr>
          <a:xfrm flipH="false" flipV="false" rot="0">
            <a:off x="536304" y="308054"/>
            <a:ext cx="650696" cy="409939"/>
          </a:xfrm>
          <a:custGeom>
            <a:avLst/>
            <a:gdLst/>
            <a:ahLst/>
            <a:cxnLst/>
            <a:rect r="r" b="b" t="t" l="l"/>
            <a:pathLst>
              <a:path h="409939" w="650696">
                <a:moveTo>
                  <a:pt x="0" y="0"/>
                </a:moveTo>
                <a:lnTo>
                  <a:pt x="650697" y="0"/>
                </a:lnTo>
                <a:lnTo>
                  <a:pt x="650697" y="409938"/>
                </a:lnTo>
                <a:lnTo>
                  <a:pt x="0" y="40993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219785" y="9070932"/>
            <a:ext cx="4151107" cy="986035"/>
            <a:chOff x="0" y="0"/>
            <a:chExt cx="5534810" cy="1314713"/>
          </a:xfrm>
        </p:grpSpPr>
        <p:sp>
          <p:nvSpPr>
            <p:cNvPr name="Freeform 6" id="6"/>
            <p:cNvSpPr/>
            <p:nvPr/>
          </p:nvSpPr>
          <p:spPr>
            <a:xfrm flipH="false" flipV="false" rot="0">
              <a:off x="0" y="0"/>
              <a:ext cx="1314713" cy="1314713"/>
            </a:xfrm>
            <a:custGeom>
              <a:avLst/>
              <a:gdLst/>
              <a:ahLst/>
              <a:cxnLst/>
              <a:rect r="r" b="b" t="t" l="l"/>
              <a:pathLst>
                <a:path h="1314713" w="1314713">
                  <a:moveTo>
                    <a:pt x="0" y="0"/>
                  </a:moveTo>
                  <a:lnTo>
                    <a:pt x="1314713" y="0"/>
                  </a:lnTo>
                  <a:lnTo>
                    <a:pt x="1314713" y="1314713"/>
                  </a:lnTo>
                  <a:lnTo>
                    <a:pt x="0" y="131471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7" id="7"/>
            <p:cNvSpPr txBox="true"/>
            <p:nvPr/>
          </p:nvSpPr>
          <p:spPr>
            <a:xfrm rot="0">
              <a:off x="1455753" y="151974"/>
              <a:ext cx="3148240" cy="462308"/>
            </a:xfrm>
            <a:prstGeom prst="rect">
              <a:avLst/>
            </a:prstGeom>
          </p:spPr>
          <p:txBody>
            <a:bodyPr anchor="t" rtlCol="false" tIns="0" lIns="0" bIns="0" rIns="0">
              <a:spAutoFit/>
            </a:bodyPr>
            <a:lstStyle/>
            <a:p>
              <a:pPr algn="l">
                <a:lnSpc>
                  <a:spcPts val="2702"/>
                </a:lnSpc>
              </a:pPr>
              <a:r>
                <a:rPr lang="en-US" b="true" sz="2252">
                  <a:solidFill>
                    <a:srgbClr val="FFFFFF"/>
                  </a:solidFill>
                  <a:latin typeface="Raleway 1 Bold"/>
                  <a:ea typeface="Raleway 1 Bold"/>
                  <a:cs typeface="Raleway 1 Bold"/>
                  <a:sym typeface="Raleway 1 Bold"/>
                </a:rPr>
                <a:t>OCTUBRE</a:t>
              </a:r>
            </a:p>
          </p:txBody>
        </p:sp>
        <p:sp>
          <p:nvSpPr>
            <p:cNvPr name="TextBox 8" id="8"/>
            <p:cNvSpPr txBox="true"/>
            <p:nvPr/>
          </p:nvSpPr>
          <p:spPr>
            <a:xfrm rot="0">
              <a:off x="1468453" y="585710"/>
              <a:ext cx="4066356" cy="565140"/>
            </a:xfrm>
            <a:prstGeom prst="rect">
              <a:avLst/>
            </a:prstGeom>
          </p:spPr>
          <p:txBody>
            <a:bodyPr anchor="t" rtlCol="false" tIns="0" lIns="0" bIns="0" rIns="0">
              <a:spAutoFit/>
            </a:bodyPr>
            <a:lstStyle/>
            <a:p>
              <a:pPr algn="l">
                <a:lnSpc>
                  <a:spcPts val="1130"/>
                </a:lnSpc>
              </a:pPr>
              <a:r>
                <a:rPr lang="en-US" sz="1097" b="true">
                  <a:solidFill>
                    <a:srgbClr val="FFFFFF"/>
                  </a:solidFill>
                  <a:latin typeface="Raleway 1 Bold"/>
                  <a:ea typeface="Raleway 1 Bold"/>
                  <a:cs typeface="Raleway 1 Bold"/>
                  <a:sym typeface="Raleway 1 Bold"/>
                </a:rPr>
                <a:t>Mes de </a:t>
              </a:r>
            </a:p>
            <a:p>
              <a:pPr algn="l">
                <a:lnSpc>
                  <a:spcPts val="2059"/>
                </a:lnSpc>
              </a:pPr>
              <a:r>
                <a:rPr lang="en-US" b="true" sz="1999">
                  <a:solidFill>
                    <a:srgbClr val="FFFFFF"/>
                  </a:solidFill>
                  <a:latin typeface="Raleway 1 Bold"/>
                  <a:ea typeface="Raleway 1 Bold"/>
                  <a:cs typeface="Raleway 1 Bold"/>
                  <a:sym typeface="Raleway 1 Bold"/>
                </a:rPr>
                <a:t>HAN SOLO</a:t>
              </a:r>
            </a:p>
          </p:txBody>
        </p:sp>
      </p:grpSp>
      <p:sp>
        <p:nvSpPr>
          <p:cNvPr name="TextBox 9" id="9"/>
          <p:cNvSpPr txBox="true"/>
          <p:nvPr/>
        </p:nvSpPr>
        <p:spPr>
          <a:xfrm rot="0">
            <a:off x="1258571" y="221658"/>
            <a:ext cx="15091730" cy="563680"/>
          </a:xfrm>
          <a:prstGeom prst="rect">
            <a:avLst/>
          </a:prstGeom>
        </p:spPr>
        <p:txBody>
          <a:bodyPr anchor="t" rtlCol="false" tIns="0" lIns="0" bIns="0" rIns="0">
            <a:spAutoFit/>
          </a:bodyPr>
          <a:lstStyle/>
          <a:p>
            <a:pPr algn="l">
              <a:lnSpc>
                <a:spcPts val="1760"/>
              </a:lnSpc>
            </a:pPr>
            <a:r>
              <a:rPr lang="en-US" sz="2000">
                <a:solidFill>
                  <a:srgbClr val="316CE3"/>
                </a:solidFill>
                <a:latin typeface="Gotham"/>
                <a:ea typeface="Gotham"/>
                <a:cs typeface="Gotham"/>
                <a:sym typeface="Gotham"/>
              </a:rPr>
              <a:t>HOY:</a:t>
            </a:r>
          </a:p>
          <a:p>
            <a:pPr algn="l">
              <a:lnSpc>
                <a:spcPts val="2528"/>
              </a:lnSpc>
            </a:pPr>
            <a:r>
              <a:rPr lang="en-US" sz="2873" b="true">
                <a:solidFill>
                  <a:srgbClr val="316CE3"/>
                </a:solidFill>
                <a:latin typeface="Gotham Bold"/>
                <a:ea typeface="Gotham Bold"/>
                <a:cs typeface="Gotham Bold"/>
                <a:sym typeface="Gotham Bold"/>
              </a:rPr>
              <a:t>Episodio II — El Ataque de los Graviton: Infraestructura y rendimiento</a:t>
            </a:r>
          </a:p>
        </p:txBody>
      </p:sp>
      <p:sp>
        <p:nvSpPr>
          <p:cNvPr id="10" name="Rounded Rectangle 9"/>
          <p:cNvSpPr/>
          <p:nvPr/>
        </p:nvSpPr>
        <p:spPr>
          <a:xfrm>
            <a:off x="914400" y="3200400"/>
            <a:ext cx="4480560" cy="3108960"/>
          </a:xfrm>
          <a:prstGeom prst="roundRect">
            <a:avLst>
              <a:gd name="adj" fmla="val 8000"/>
            </a:avLst>
          </a:prstGeom>
          <a:solidFill>
            <a:srgbClr val="2F3D5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228600" bIns="228600"/>
          <a:lstStyle/>
          <a:p>
            <a:pPr algn="ctr">
              <a:spcAft>
                <a:spcPts val="800"/>
              </a:spcAft>
            </a:pPr>
            <a:r>
              <a:rPr sz="2600" b="1">
                <a:solidFill>
                  <a:srgbClr val="F2A65A"/>
                </a:solidFill>
                <a:latin typeface="Arial"/>
              </a:rPr>
              <a:t>S3 Tables pide IAM</a:t>
            </a:r>
          </a:p>
          <a:p>
            <a:r>
              <a:rPr sz="1700">
                <a:solidFill>
                  <a:srgbClr val="D9E2EC"/>
                </a:solidFill>
                <a:latin typeface="Courier New"/>
              </a:rPr>
              <a:t>cross-database reference to database "…@s3tablescatalog" is not supported</a:t>
            </a:r>
          </a:p>
        </p:txBody>
      </p:sp>
      <p:sp>
        <p:nvSpPr>
          <p:cNvPr id="11" name="Rounded Rectangle 10"/>
          <p:cNvSpPr/>
          <p:nvPr/>
        </p:nvSpPr>
        <p:spPr>
          <a:xfrm>
            <a:off x="5669280" y="3200400"/>
            <a:ext cx="4480560" cy="3108960"/>
          </a:xfrm>
          <a:prstGeom prst="roundRect">
            <a:avLst>
              <a:gd name="adj" fmla="val 8000"/>
            </a:avLst>
          </a:prstGeom>
          <a:solidFill>
            <a:srgbClr val="2F3D5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228600" bIns="228600"/>
          <a:lstStyle/>
          <a:p>
            <a:pPr algn="ctr">
              <a:spcAft>
                <a:spcPts val="800"/>
              </a:spcAft>
            </a:pPr>
            <a:r>
              <a:rPr sz="2600" b="1">
                <a:solidFill>
                  <a:srgbClr val="F2A65A"/>
                </a:solidFill>
                <a:latin typeface="Arial"/>
              </a:rPr>
              <a:t>Iceberg no acepta CHAR</a:t>
            </a:r>
          </a:p>
          <a:p>
            <a:r>
              <a:rPr sz="1700">
                <a:solidFill>
                  <a:srgbClr val="D9E2EC"/>
                </a:solidFill>
                <a:latin typeface="Courier New"/>
              </a:rPr>
              <a:t>CHAR type is not supported for column "d_date_id" in Iceberg table creation</a:t>
            </a:r>
          </a:p>
        </p:txBody>
      </p:sp>
      <p:sp>
        <p:nvSpPr>
          <p:cNvPr id="12" name="Rounded Rectangle 11"/>
          <p:cNvSpPr/>
          <p:nvPr/>
        </p:nvSpPr>
        <p:spPr>
          <a:xfrm>
            <a:off x="10424160" y="3200400"/>
            <a:ext cx="4480560" cy="3108960"/>
          </a:xfrm>
          <a:prstGeom prst="roundRect">
            <a:avLst>
              <a:gd name="adj" fmla="val 8000"/>
            </a:avLst>
          </a:prstGeom>
          <a:solidFill>
            <a:srgbClr val="2F3D5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228600" bIns="228600"/>
          <a:lstStyle/>
          <a:p>
            <a:pPr algn="ctr">
              <a:spcAft>
                <a:spcPts val="800"/>
              </a:spcAft>
            </a:pPr>
            <a:r>
              <a:rPr sz="2600" b="1">
                <a:solidFill>
                  <a:srgbClr val="F2A65A"/>
                </a:solidFill>
                <a:latin typeface="Arial"/>
              </a:rPr>
              <a:t>Lake Formation manda</a:t>
            </a:r>
          </a:p>
          <a:p>
            <a:r>
              <a:rPr sz="1700">
                <a:solidFill>
                  <a:srgbClr val="D9E2EC"/>
                </a:solidFill>
                <a:latin typeface="Courier New"/>
              </a:rPr>
              <a:t>Insufficient Lake Formation permission(s): Required Create Table on rr_iceberg</a:t>
            </a:r>
          </a:p>
        </p:txBody>
      </p:sp>
      <p:sp>
        <p:nvSpPr>
          <p:cNvPr id="13" name="TextBox 12"/>
          <p:cNvSpPr txBox="1"/>
          <p:nvPr/>
        </p:nvSpPr>
        <p:spPr>
          <a:xfrm>
            <a:off x="914400" y="6766560"/>
            <a:ext cx="13898880" cy="914400"/>
          </a:xfrm>
          <a:prstGeom prst="rect">
            <a:avLst/>
          </a:prstGeom>
          <a:noFill/>
        </p:spPr>
        <p:txBody>
          <a:bodyPr wrap="square" anchor="t" lIns="0" rIns="0" tIns="0" bIns="0">
            <a:spAutoFit/>
          </a:bodyPr>
          <a:lstStyle/>
          <a:p>
            <a:pPr algn="l">
              <a:spcAft>
                <a:spcPts val="1000"/>
              </a:spcAft>
            </a:pPr>
            <a:r>
              <a:rPr sz="2400" b="0">
                <a:solidFill>
                  <a:srgbClr val="FFFFFF"/>
                </a:solidFill>
                <a:latin typeface="Arial"/>
              </a:rPr>
              <a:t>Si vas a usar S3 Tables desde Redshift, </a:t>
            </a:r>
            <a:r>
              <a:rPr sz="2400" b="1">
                <a:solidFill>
                  <a:srgbClr val="FFFFFF"/>
                </a:solidFill>
                <a:latin typeface="Arial"/>
              </a:rPr>
              <a:t>decide primero cómo se van a autenticar tus usuarios.</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232E3E"/>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txBody>
          <a:bodyPr/>
          <a:p/>
        </p:txBody>
      </p:sp>
      <p:sp>
        <p:nvSpPr>
          <p:cNvPr name="TextBox 3" id="3"/>
          <p:cNvSpPr txBox="true"/>
          <p:nvPr/>
        </p:nvSpPr>
        <p:spPr>
          <a:xfrm rot="0">
            <a:off x="3444099" y="3763913"/>
            <a:ext cx="13438018" cy="2238374"/>
          </a:xfrm>
          <a:prstGeom prst="rect">
            <a:avLst/>
          </a:prstGeom>
        </p:spPr>
        <p:txBody>
          <a:bodyPr anchor="t" rtlCol="false" tIns="0" lIns="0" bIns="0" rIns="0">
            <a:spAutoFit/>
          </a:bodyPr>
          <a:lstStyle/>
          <a:p>
            <a:pPr algn="l">
              <a:lnSpc>
                <a:spcPts val="8399"/>
              </a:lnSpc>
            </a:pPr>
            <a:r>
              <a:rPr lang="en-US" b="0" sz="8800">
                <a:solidFill>
                  <a:srgbClr val="FFFFFF"/>
                </a:solidFill>
                <a:latin typeface="Arial Black"/>
                <a:ea typeface="Arial Black"/>
                <a:cs typeface="Arial Black"/>
                <a:sym typeface="Arial Black"/>
              </a:rPr>
              <a:t>LA</a:t>
            </a:r>
          </a:p>
          <a:p>
            <a:pPr algn="l" marL="0" indent="0" lvl="0">
              <a:lnSpc>
                <a:spcPts val="8399"/>
              </a:lnSpc>
            </a:pPr>
            <a:r>
              <a:rPr lang="en-US" b="0" sz="8800">
                <a:solidFill>
                  <a:srgbClr val="FFFFFF"/>
                </a:solidFill>
                <a:latin typeface="Arial Black"/>
                <a:ea typeface="Arial Black"/>
                <a:cs typeface="Arial Black"/>
                <a:sym typeface="Arial Black"/>
              </a:rPr>
              <a:t>        MIGRACIÓN</a:t>
            </a:r>
          </a:p>
        </p:txBody>
      </p:sp>
      <p:sp>
        <p:nvSpPr>
          <p:cNvPr name="Freeform 4" id="4"/>
          <p:cNvSpPr/>
          <p:nvPr/>
        </p:nvSpPr>
        <p:spPr>
          <a:xfrm flipH="false" flipV="false" rot="0">
            <a:off x="536304" y="308054"/>
            <a:ext cx="650696" cy="409939"/>
          </a:xfrm>
          <a:custGeom>
            <a:avLst/>
            <a:gdLst/>
            <a:ahLst/>
            <a:cxnLst/>
            <a:rect r="r" b="b" t="t" l="l"/>
            <a:pathLst>
              <a:path h="409939" w="650696">
                <a:moveTo>
                  <a:pt x="0" y="0"/>
                </a:moveTo>
                <a:lnTo>
                  <a:pt x="650697" y="0"/>
                </a:lnTo>
                <a:lnTo>
                  <a:pt x="650697" y="409938"/>
                </a:lnTo>
                <a:lnTo>
                  <a:pt x="0" y="40993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219785" y="9070932"/>
            <a:ext cx="4151107" cy="986035"/>
            <a:chOff x="0" y="0"/>
            <a:chExt cx="5534810" cy="1314713"/>
          </a:xfrm>
        </p:grpSpPr>
        <p:sp>
          <p:nvSpPr>
            <p:cNvPr name="Freeform 6" id="6"/>
            <p:cNvSpPr/>
            <p:nvPr/>
          </p:nvSpPr>
          <p:spPr>
            <a:xfrm flipH="false" flipV="false" rot="0">
              <a:off x="0" y="0"/>
              <a:ext cx="1314713" cy="1314713"/>
            </a:xfrm>
            <a:custGeom>
              <a:avLst/>
              <a:gdLst/>
              <a:ahLst/>
              <a:cxnLst/>
              <a:rect r="r" b="b" t="t" l="l"/>
              <a:pathLst>
                <a:path h="1314713" w="1314713">
                  <a:moveTo>
                    <a:pt x="0" y="0"/>
                  </a:moveTo>
                  <a:lnTo>
                    <a:pt x="1314713" y="0"/>
                  </a:lnTo>
                  <a:lnTo>
                    <a:pt x="1314713" y="1314713"/>
                  </a:lnTo>
                  <a:lnTo>
                    <a:pt x="0" y="131471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7" id="7"/>
            <p:cNvSpPr txBox="true"/>
            <p:nvPr/>
          </p:nvSpPr>
          <p:spPr>
            <a:xfrm rot="0">
              <a:off x="1455753" y="151974"/>
              <a:ext cx="3148240" cy="462308"/>
            </a:xfrm>
            <a:prstGeom prst="rect">
              <a:avLst/>
            </a:prstGeom>
          </p:spPr>
          <p:txBody>
            <a:bodyPr anchor="t" rtlCol="false" tIns="0" lIns="0" bIns="0" rIns="0">
              <a:spAutoFit/>
            </a:bodyPr>
            <a:lstStyle/>
            <a:p>
              <a:pPr algn="l">
                <a:lnSpc>
                  <a:spcPts val="2702"/>
                </a:lnSpc>
              </a:pPr>
              <a:r>
                <a:rPr lang="en-US" b="true" sz="2252">
                  <a:solidFill>
                    <a:srgbClr val="FFFFFF"/>
                  </a:solidFill>
                  <a:latin typeface="Raleway 1 Bold"/>
                  <a:ea typeface="Raleway 1 Bold"/>
                  <a:cs typeface="Raleway 1 Bold"/>
                  <a:sym typeface="Raleway 1 Bold"/>
                </a:rPr>
                <a:t>OCTUBRE</a:t>
              </a:r>
            </a:p>
          </p:txBody>
        </p:sp>
        <p:sp>
          <p:nvSpPr>
            <p:cNvPr name="TextBox 8" id="8"/>
            <p:cNvSpPr txBox="true"/>
            <p:nvPr/>
          </p:nvSpPr>
          <p:spPr>
            <a:xfrm rot="0">
              <a:off x="1468453" y="585710"/>
              <a:ext cx="4066356" cy="565140"/>
            </a:xfrm>
            <a:prstGeom prst="rect">
              <a:avLst/>
            </a:prstGeom>
          </p:spPr>
          <p:txBody>
            <a:bodyPr anchor="t" rtlCol="false" tIns="0" lIns="0" bIns="0" rIns="0">
              <a:spAutoFit/>
            </a:bodyPr>
            <a:lstStyle/>
            <a:p>
              <a:pPr algn="l">
                <a:lnSpc>
                  <a:spcPts val="1130"/>
                </a:lnSpc>
              </a:pPr>
              <a:r>
                <a:rPr lang="en-US" sz="1097" b="true">
                  <a:solidFill>
                    <a:srgbClr val="FFFFFF"/>
                  </a:solidFill>
                  <a:latin typeface="Raleway 1 Bold"/>
                  <a:ea typeface="Raleway 1 Bold"/>
                  <a:cs typeface="Raleway 1 Bold"/>
                  <a:sym typeface="Raleway 1 Bold"/>
                </a:rPr>
                <a:t>Mes de </a:t>
              </a:r>
            </a:p>
            <a:p>
              <a:pPr algn="l">
                <a:lnSpc>
                  <a:spcPts val="2059"/>
                </a:lnSpc>
              </a:pPr>
              <a:r>
                <a:rPr lang="en-US" b="true" sz="1999">
                  <a:solidFill>
                    <a:srgbClr val="FFFFFF"/>
                  </a:solidFill>
                  <a:latin typeface="Raleway 1 Bold"/>
                  <a:ea typeface="Raleway 1 Bold"/>
                  <a:cs typeface="Raleway 1 Bold"/>
                  <a:sym typeface="Raleway 1 Bold"/>
                </a:rPr>
                <a:t>HAN SOLO</a:t>
              </a:r>
            </a:p>
          </p:txBody>
        </p:sp>
      </p:grpSp>
      <p:sp>
        <p:nvSpPr>
          <p:cNvPr name="TextBox 9" id="9"/>
          <p:cNvSpPr txBox="true"/>
          <p:nvPr/>
        </p:nvSpPr>
        <p:spPr>
          <a:xfrm rot="0">
            <a:off x="1258571" y="221658"/>
            <a:ext cx="15091730" cy="563680"/>
          </a:xfrm>
          <a:prstGeom prst="rect">
            <a:avLst/>
          </a:prstGeom>
        </p:spPr>
        <p:txBody>
          <a:bodyPr anchor="t" rtlCol="false" tIns="0" lIns="0" bIns="0" rIns="0">
            <a:spAutoFit/>
          </a:bodyPr>
          <a:lstStyle/>
          <a:p>
            <a:pPr algn="l">
              <a:lnSpc>
                <a:spcPts val="1760"/>
              </a:lnSpc>
            </a:pPr>
            <a:r>
              <a:rPr lang="en-US" sz="2000">
                <a:solidFill>
                  <a:srgbClr val="316CE3"/>
                </a:solidFill>
                <a:latin typeface="Gotham"/>
                <a:ea typeface="Gotham"/>
                <a:cs typeface="Gotham"/>
                <a:sym typeface="Gotham"/>
              </a:rPr>
              <a:t>HOY:</a:t>
            </a:r>
          </a:p>
          <a:p>
            <a:pPr algn="l">
              <a:lnSpc>
                <a:spcPts val="2528"/>
              </a:lnSpc>
            </a:pPr>
            <a:r>
              <a:rPr lang="en-US" sz="2873" b="true">
                <a:solidFill>
                  <a:srgbClr val="316CE3"/>
                </a:solidFill>
                <a:latin typeface="Gotham Bold"/>
                <a:ea typeface="Gotham Bold"/>
                <a:cs typeface="Gotham Bold"/>
                <a:sym typeface="Gotham Bold"/>
              </a:rPr>
              <a:t>Episodio II — El Ataque de los Graviton: Infraestructura y rendimiento</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232E3E"/>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txBody>
          <a:bodyPr/>
          <a:p/>
        </p:txBody>
      </p:sp>
      <p:sp>
        <p:nvSpPr>
          <p:cNvPr name="TextBox 3" id="3"/>
          <p:cNvSpPr txBox="true"/>
          <p:nvPr/>
        </p:nvSpPr>
        <p:spPr>
          <a:xfrm rot="0">
            <a:off x="3520440" y="868680"/>
            <a:ext cx="12070080" cy="1874519"/>
          </a:xfrm>
          <a:prstGeom prst="rect">
            <a:avLst/>
          </a:prstGeom>
        </p:spPr>
        <p:txBody>
          <a:bodyPr anchor="ctr" rtlCol="false" tIns="0" lIns="0" bIns="0" rIns="0" wrap="square">
            <a:spAutoFit/>
          </a:bodyPr>
          <a:lstStyle/>
          <a:p>
            <a:pPr algn="l" marL="0" indent="0" lvl="0">
              <a:lnSpc>
                <a:spcPts val="10481"/>
              </a:lnSpc>
              <a:spcBef>
                <a:spcPct val="0"/>
              </a:spcBef>
            </a:pPr>
            <a:r>
              <a:rPr lang="en-US" b="0" sz="4900">
                <a:solidFill>
                  <a:srgbClr val="FFFFFF"/>
                </a:solidFill>
                <a:latin typeface="Arial Black"/>
                <a:ea typeface="Arial Black"/>
                <a:cs typeface="Arial Black"/>
                <a:sym typeface="Arial Black"/>
              </a:rPr>
              <a:t>La migración tomó 2 min 48 s</a:t>
            </a:r>
          </a:p>
        </p:txBody>
      </p:sp>
      <p:sp>
        <p:nvSpPr>
          <p:cNvPr name="Freeform 4" id="4"/>
          <p:cNvSpPr/>
          <p:nvPr/>
        </p:nvSpPr>
        <p:spPr>
          <a:xfrm flipH="false" flipV="false" rot="0">
            <a:off x="536304" y="308054"/>
            <a:ext cx="650696" cy="409939"/>
          </a:xfrm>
          <a:custGeom>
            <a:avLst/>
            <a:gdLst/>
            <a:ahLst/>
            <a:cxnLst/>
            <a:rect r="r" b="b" t="t" l="l"/>
            <a:pathLst>
              <a:path h="409939" w="650696">
                <a:moveTo>
                  <a:pt x="0" y="0"/>
                </a:moveTo>
                <a:lnTo>
                  <a:pt x="650697" y="0"/>
                </a:lnTo>
                <a:lnTo>
                  <a:pt x="650697" y="409938"/>
                </a:lnTo>
                <a:lnTo>
                  <a:pt x="0" y="40993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219785" y="9070932"/>
            <a:ext cx="4151107" cy="986035"/>
            <a:chOff x="0" y="0"/>
            <a:chExt cx="5534810" cy="1314713"/>
          </a:xfrm>
        </p:grpSpPr>
        <p:sp>
          <p:nvSpPr>
            <p:cNvPr name="Freeform 6" id="6"/>
            <p:cNvSpPr/>
            <p:nvPr/>
          </p:nvSpPr>
          <p:spPr>
            <a:xfrm flipH="false" flipV="false" rot="0">
              <a:off x="0" y="0"/>
              <a:ext cx="1314713" cy="1314713"/>
            </a:xfrm>
            <a:custGeom>
              <a:avLst/>
              <a:gdLst/>
              <a:ahLst/>
              <a:cxnLst/>
              <a:rect r="r" b="b" t="t" l="l"/>
              <a:pathLst>
                <a:path h="1314713" w="1314713">
                  <a:moveTo>
                    <a:pt x="0" y="0"/>
                  </a:moveTo>
                  <a:lnTo>
                    <a:pt x="1314713" y="0"/>
                  </a:lnTo>
                  <a:lnTo>
                    <a:pt x="1314713" y="1314713"/>
                  </a:lnTo>
                  <a:lnTo>
                    <a:pt x="0" y="131471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7" id="7"/>
            <p:cNvSpPr txBox="true"/>
            <p:nvPr/>
          </p:nvSpPr>
          <p:spPr>
            <a:xfrm rot="0">
              <a:off x="1455753" y="151974"/>
              <a:ext cx="3148240" cy="462308"/>
            </a:xfrm>
            <a:prstGeom prst="rect">
              <a:avLst/>
            </a:prstGeom>
          </p:spPr>
          <p:txBody>
            <a:bodyPr anchor="t" rtlCol="false" tIns="0" lIns="0" bIns="0" rIns="0">
              <a:spAutoFit/>
            </a:bodyPr>
            <a:lstStyle/>
            <a:p>
              <a:pPr algn="l">
                <a:lnSpc>
                  <a:spcPts val="2702"/>
                </a:lnSpc>
              </a:pPr>
              <a:r>
                <a:rPr lang="en-US" b="true" sz="2252">
                  <a:solidFill>
                    <a:srgbClr val="FFFFFF"/>
                  </a:solidFill>
                  <a:latin typeface="Raleway 1 Bold"/>
                  <a:ea typeface="Raleway 1 Bold"/>
                  <a:cs typeface="Raleway 1 Bold"/>
                  <a:sym typeface="Raleway 1 Bold"/>
                </a:rPr>
                <a:t>OCTUBRE</a:t>
              </a:r>
            </a:p>
          </p:txBody>
        </p:sp>
        <p:sp>
          <p:nvSpPr>
            <p:cNvPr name="TextBox 8" id="8"/>
            <p:cNvSpPr txBox="true"/>
            <p:nvPr/>
          </p:nvSpPr>
          <p:spPr>
            <a:xfrm rot="0">
              <a:off x="1468453" y="585710"/>
              <a:ext cx="4066356" cy="565140"/>
            </a:xfrm>
            <a:prstGeom prst="rect">
              <a:avLst/>
            </a:prstGeom>
          </p:spPr>
          <p:txBody>
            <a:bodyPr anchor="t" rtlCol="false" tIns="0" lIns="0" bIns="0" rIns="0">
              <a:spAutoFit/>
            </a:bodyPr>
            <a:lstStyle/>
            <a:p>
              <a:pPr algn="l">
                <a:lnSpc>
                  <a:spcPts val="1130"/>
                </a:lnSpc>
              </a:pPr>
              <a:r>
                <a:rPr lang="en-US" sz="1097" b="true">
                  <a:solidFill>
                    <a:srgbClr val="FFFFFF"/>
                  </a:solidFill>
                  <a:latin typeface="Raleway 1 Bold"/>
                  <a:ea typeface="Raleway 1 Bold"/>
                  <a:cs typeface="Raleway 1 Bold"/>
                  <a:sym typeface="Raleway 1 Bold"/>
                </a:rPr>
                <a:t>Mes de </a:t>
              </a:r>
            </a:p>
            <a:p>
              <a:pPr algn="l">
                <a:lnSpc>
                  <a:spcPts val="2059"/>
                </a:lnSpc>
              </a:pPr>
              <a:r>
                <a:rPr lang="en-US" b="true" sz="1999">
                  <a:solidFill>
                    <a:srgbClr val="FFFFFF"/>
                  </a:solidFill>
                  <a:latin typeface="Raleway 1 Bold"/>
                  <a:ea typeface="Raleway 1 Bold"/>
                  <a:cs typeface="Raleway 1 Bold"/>
                  <a:sym typeface="Raleway 1 Bold"/>
                </a:rPr>
                <a:t>HAN SOLO</a:t>
              </a:r>
            </a:p>
          </p:txBody>
        </p:sp>
      </p:grpSp>
      <p:sp>
        <p:nvSpPr>
          <p:cNvPr name="TextBox 9" id="9"/>
          <p:cNvSpPr txBox="true"/>
          <p:nvPr/>
        </p:nvSpPr>
        <p:spPr>
          <a:xfrm rot="0">
            <a:off x="1258571" y="221658"/>
            <a:ext cx="15091730" cy="563680"/>
          </a:xfrm>
          <a:prstGeom prst="rect">
            <a:avLst/>
          </a:prstGeom>
        </p:spPr>
        <p:txBody>
          <a:bodyPr anchor="t" rtlCol="false" tIns="0" lIns="0" bIns="0" rIns="0">
            <a:spAutoFit/>
          </a:bodyPr>
          <a:lstStyle/>
          <a:p>
            <a:pPr algn="l">
              <a:lnSpc>
                <a:spcPts val="1760"/>
              </a:lnSpc>
            </a:pPr>
            <a:r>
              <a:rPr lang="en-US" sz="2000">
                <a:solidFill>
                  <a:srgbClr val="316CE3"/>
                </a:solidFill>
                <a:latin typeface="Gotham"/>
                <a:ea typeface="Gotham"/>
                <a:cs typeface="Gotham"/>
                <a:sym typeface="Gotham"/>
              </a:rPr>
              <a:t>HOY:</a:t>
            </a:r>
          </a:p>
          <a:p>
            <a:pPr algn="l">
              <a:lnSpc>
                <a:spcPts val="2528"/>
              </a:lnSpc>
            </a:pPr>
            <a:r>
              <a:rPr lang="en-US" sz="2873" b="true">
                <a:solidFill>
                  <a:srgbClr val="316CE3"/>
                </a:solidFill>
                <a:latin typeface="Gotham Bold"/>
                <a:ea typeface="Gotham Bold"/>
                <a:cs typeface="Gotham Bold"/>
                <a:sym typeface="Gotham Bold"/>
              </a:rPr>
              <a:t>Episodio II — El Ataque de los Graviton: Infraestructura y rendimiento</a:t>
            </a:r>
          </a:p>
        </p:txBody>
      </p:sp>
      <p:cxnSp>
        <p:nvCxnSpPr>
          <p:cNvPr id="10" name="Connector 9"/>
          <p:cNvCxnSpPr/>
          <p:nvPr/>
        </p:nvCxnSpPr>
        <p:spPr>
          <a:xfrm>
            <a:off x="1188720" y="4937760"/>
            <a:ext cx="13441680" cy="0"/>
          </a:xfrm>
          <a:prstGeom prst="line">
            <a:avLst/>
          </a:prstGeom>
          <a:ln w="38100">
            <a:solidFill>
              <a:srgbClr val="9FB3C8"/>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932688" y="4681728"/>
            <a:ext cx="512064" cy="51206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82879" y="3749040"/>
            <a:ext cx="2011680" cy="548640"/>
          </a:xfrm>
          <a:prstGeom prst="rect">
            <a:avLst/>
          </a:prstGeom>
          <a:noFill/>
        </p:spPr>
        <p:txBody>
          <a:bodyPr wrap="square" anchor="t" lIns="0" rIns="0" tIns="0" bIns="0">
            <a:spAutoFit/>
          </a:bodyPr>
          <a:lstStyle/>
          <a:p>
            <a:pPr algn="ctr">
              <a:spcAft>
                <a:spcPts val="1000"/>
              </a:spcAft>
            </a:pPr>
            <a:r>
              <a:rPr sz="1800" b="0">
                <a:solidFill>
                  <a:srgbClr val="D9E2EC"/>
                </a:solidFill>
                <a:latin typeface="Arial"/>
              </a:rPr>
              <a:t>19:05:47</a:t>
            </a:r>
          </a:p>
        </p:txBody>
      </p:sp>
      <p:sp>
        <p:nvSpPr>
          <p:cNvPr id="13" name="TextBox 12"/>
          <p:cNvSpPr txBox="1"/>
          <p:nvPr/>
        </p:nvSpPr>
        <p:spPr>
          <a:xfrm>
            <a:off x="91440" y="5349240"/>
            <a:ext cx="2194560" cy="822960"/>
          </a:xfrm>
          <a:prstGeom prst="rect">
            <a:avLst/>
          </a:prstGeom>
          <a:noFill/>
        </p:spPr>
        <p:txBody>
          <a:bodyPr wrap="square" anchor="t" lIns="0" rIns="0" tIns="0" bIns="0">
            <a:spAutoFit/>
          </a:bodyPr>
          <a:lstStyle/>
          <a:p>
            <a:pPr algn="ctr">
              <a:spcAft>
                <a:spcPts val="1000"/>
              </a:spcAft>
            </a:pPr>
            <a:r>
              <a:rPr sz="1700" b="1">
                <a:solidFill>
                  <a:srgbClr val="FFFFFF"/>
                </a:solidFill>
                <a:latin typeface="Arial"/>
              </a:rPr>
              <a:t>inicio</a:t>
            </a:r>
          </a:p>
        </p:txBody>
      </p:sp>
      <p:sp>
        <p:nvSpPr>
          <p:cNvPr id="14" name="Oval 13"/>
          <p:cNvSpPr/>
          <p:nvPr/>
        </p:nvSpPr>
        <p:spPr>
          <a:xfrm>
            <a:off x="3172968" y="4681728"/>
            <a:ext cx="512064" cy="512064"/>
          </a:xfrm>
          <a:prstGeom prst="ellipse">
            <a:avLst/>
          </a:prstGeom>
          <a:solidFill>
            <a:srgbClr val="316C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423160" y="3749040"/>
            <a:ext cx="2011680" cy="548640"/>
          </a:xfrm>
          <a:prstGeom prst="rect">
            <a:avLst/>
          </a:prstGeom>
          <a:noFill/>
        </p:spPr>
        <p:txBody>
          <a:bodyPr wrap="square" anchor="t" lIns="0" rIns="0" tIns="0" bIns="0">
            <a:spAutoFit/>
          </a:bodyPr>
          <a:lstStyle/>
          <a:p>
            <a:pPr algn="ctr">
              <a:spcAft>
                <a:spcPts val="1000"/>
              </a:spcAft>
            </a:pPr>
            <a:r>
              <a:rPr sz="1800" b="0">
                <a:solidFill>
                  <a:srgbClr val="D9E2EC"/>
                </a:solidFill>
                <a:latin typeface="Arial"/>
              </a:rPr>
              <a:t>19:05:53</a:t>
            </a:r>
          </a:p>
        </p:txBody>
      </p:sp>
      <p:sp>
        <p:nvSpPr>
          <p:cNvPr id="16" name="TextBox 15"/>
          <p:cNvSpPr txBox="1"/>
          <p:nvPr/>
        </p:nvSpPr>
        <p:spPr>
          <a:xfrm>
            <a:off x="2331720" y="5349240"/>
            <a:ext cx="2194560" cy="822960"/>
          </a:xfrm>
          <a:prstGeom prst="rect">
            <a:avLst/>
          </a:prstGeom>
          <a:noFill/>
        </p:spPr>
        <p:txBody>
          <a:bodyPr wrap="square" anchor="t" lIns="0" rIns="0" tIns="0" bIns="0">
            <a:spAutoFit/>
          </a:bodyPr>
          <a:lstStyle/>
          <a:p>
            <a:pPr algn="ctr">
              <a:spcAft>
                <a:spcPts val="1000"/>
              </a:spcAft>
            </a:pPr>
            <a:r>
              <a:rPr sz="1700" b="1">
                <a:solidFill>
                  <a:srgbClr val="8FB4FF"/>
                </a:solidFill>
                <a:latin typeface="Arial"/>
              </a:rPr>
              <a:t>se puede escribir</a:t>
            </a:r>
          </a:p>
        </p:txBody>
      </p:sp>
      <p:sp>
        <p:nvSpPr>
          <p:cNvPr id="17" name="Oval 16"/>
          <p:cNvSpPr/>
          <p:nvPr/>
        </p:nvSpPr>
        <p:spPr>
          <a:xfrm>
            <a:off x="5413247" y="4681728"/>
            <a:ext cx="512064" cy="512064"/>
          </a:xfrm>
          <a:prstGeom prst="ellipse">
            <a:avLst/>
          </a:prstGeom>
          <a:solidFill>
            <a:srgbClr val="F2A6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63440" y="3749040"/>
            <a:ext cx="2011680" cy="548640"/>
          </a:xfrm>
          <a:prstGeom prst="rect">
            <a:avLst/>
          </a:prstGeom>
          <a:noFill/>
        </p:spPr>
        <p:txBody>
          <a:bodyPr wrap="square" anchor="t" lIns="0" rIns="0" tIns="0" bIns="0">
            <a:spAutoFit/>
          </a:bodyPr>
          <a:lstStyle/>
          <a:p>
            <a:pPr algn="ctr">
              <a:spcAft>
                <a:spcPts val="1000"/>
              </a:spcAft>
            </a:pPr>
            <a:r>
              <a:rPr sz="1800" b="0">
                <a:solidFill>
                  <a:srgbClr val="D9E2EC"/>
                </a:solidFill>
                <a:latin typeface="Arial"/>
              </a:rPr>
              <a:t>19:06:25</a:t>
            </a:r>
          </a:p>
        </p:txBody>
      </p:sp>
      <p:sp>
        <p:nvSpPr>
          <p:cNvPr id="19" name="TextBox 18"/>
          <p:cNvSpPr txBox="1"/>
          <p:nvPr/>
        </p:nvSpPr>
        <p:spPr>
          <a:xfrm>
            <a:off x="4571999" y="5349240"/>
            <a:ext cx="2194560" cy="822960"/>
          </a:xfrm>
          <a:prstGeom prst="rect">
            <a:avLst/>
          </a:prstGeom>
          <a:noFill/>
        </p:spPr>
        <p:txBody>
          <a:bodyPr wrap="square" anchor="t" lIns="0" rIns="0" tIns="0" bIns="0">
            <a:spAutoFit/>
          </a:bodyPr>
          <a:lstStyle/>
          <a:p>
            <a:pPr algn="ctr">
              <a:spcAft>
                <a:spcPts val="1000"/>
              </a:spcAft>
            </a:pPr>
            <a:r>
              <a:rPr sz="1700" b="1">
                <a:solidFill>
                  <a:srgbClr val="F2A65A"/>
                </a:solidFill>
                <a:latin typeface="Arial"/>
              </a:rPr>
              <a:t>solo lectura</a:t>
            </a:r>
          </a:p>
        </p:txBody>
      </p:sp>
      <p:sp>
        <p:nvSpPr>
          <p:cNvPr id="20" name="Oval 19"/>
          <p:cNvSpPr/>
          <p:nvPr/>
        </p:nvSpPr>
        <p:spPr>
          <a:xfrm>
            <a:off x="7653527" y="4681728"/>
            <a:ext cx="512064" cy="512064"/>
          </a:xfrm>
          <a:prstGeom prst="ellipse">
            <a:avLst/>
          </a:prstGeom>
          <a:solidFill>
            <a:srgbClr val="F2A6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903719" y="3749040"/>
            <a:ext cx="2011680" cy="548640"/>
          </a:xfrm>
          <a:prstGeom prst="rect">
            <a:avLst/>
          </a:prstGeom>
          <a:noFill/>
        </p:spPr>
        <p:txBody>
          <a:bodyPr wrap="square" anchor="t" lIns="0" rIns="0" tIns="0" bIns="0">
            <a:spAutoFit/>
          </a:bodyPr>
          <a:lstStyle/>
          <a:p>
            <a:pPr algn="ctr">
              <a:spcAft>
                <a:spcPts val="1000"/>
              </a:spcAft>
            </a:pPr>
            <a:r>
              <a:rPr sz="1800" b="0">
                <a:solidFill>
                  <a:srgbClr val="D9E2EC"/>
                </a:solidFill>
                <a:latin typeface="Arial"/>
              </a:rPr>
              <a:t>19:06:57</a:t>
            </a:r>
          </a:p>
        </p:txBody>
      </p:sp>
      <p:sp>
        <p:nvSpPr>
          <p:cNvPr id="22" name="TextBox 21"/>
          <p:cNvSpPr txBox="1"/>
          <p:nvPr/>
        </p:nvSpPr>
        <p:spPr>
          <a:xfrm>
            <a:off x="6812279" y="5349240"/>
            <a:ext cx="2194560" cy="822960"/>
          </a:xfrm>
          <a:prstGeom prst="rect">
            <a:avLst/>
          </a:prstGeom>
          <a:noFill/>
        </p:spPr>
        <p:txBody>
          <a:bodyPr wrap="square" anchor="t" lIns="0" rIns="0" tIns="0" bIns="0">
            <a:spAutoFit/>
          </a:bodyPr>
          <a:lstStyle/>
          <a:p>
            <a:pPr algn="ctr">
              <a:spcAft>
                <a:spcPts val="1000"/>
              </a:spcAft>
            </a:pPr>
            <a:r>
              <a:rPr sz="1700" b="1">
                <a:solidFill>
                  <a:srgbClr val="F2A65A"/>
                </a:solidFill>
                <a:latin typeface="Arial"/>
              </a:rPr>
              <a:t>solo lectura</a:t>
            </a:r>
          </a:p>
        </p:txBody>
      </p:sp>
      <p:sp>
        <p:nvSpPr>
          <p:cNvPr id="23" name="Oval 22"/>
          <p:cNvSpPr/>
          <p:nvPr/>
        </p:nvSpPr>
        <p:spPr>
          <a:xfrm>
            <a:off x="9893808" y="4681728"/>
            <a:ext cx="512064" cy="512064"/>
          </a:xfrm>
          <a:prstGeom prst="ellipse">
            <a:avLst/>
          </a:prstGeom>
          <a:solidFill>
            <a:srgbClr val="F2A6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0" y="3749040"/>
            <a:ext cx="2011680" cy="548640"/>
          </a:xfrm>
          <a:prstGeom prst="rect">
            <a:avLst/>
          </a:prstGeom>
          <a:noFill/>
        </p:spPr>
        <p:txBody>
          <a:bodyPr wrap="square" anchor="t" lIns="0" rIns="0" tIns="0" bIns="0">
            <a:spAutoFit/>
          </a:bodyPr>
          <a:lstStyle/>
          <a:p>
            <a:pPr algn="ctr">
              <a:spcAft>
                <a:spcPts val="1000"/>
              </a:spcAft>
            </a:pPr>
            <a:r>
              <a:rPr sz="1800" b="0">
                <a:solidFill>
                  <a:srgbClr val="D9E2EC"/>
                </a:solidFill>
                <a:latin typeface="Arial"/>
              </a:rPr>
              <a:t>19:07:29</a:t>
            </a:r>
          </a:p>
        </p:txBody>
      </p:sp>
      <p:sp>
        <p:nvSpPr>
          <p:cNvPr id="25" name="TextBox 24"/>
          <p:cNvSpPr txBox="1"/>
          <p:nvPr/>
        </p:nvSpPr>
        <p:spPr>
          <a:xfrm>
            <a:off x="9052560" y="5349240"/>
            <a:ext cx="2194560" cy="822960"/>
          </a:xfrm>
          <a:prstGeom prst="rect">
            <a:avLst/>
          </a:prstGeom>
          <a:noFill/>
        </p:spPr>
        <p:txBody>
          <a:bodyPr wrap="square" anchor="t" lIns="0" rIns="0" tIns="0" bIns="0">
            <a:spAutoFit/>
          </a:bodyPr>
          <a:lstStyle/>
          <a:p>
            <a:pPr algn="ctr">
              <a:spcAft>
                <a:spcPts val="1000"/>
              </a:spcAft>
            </a:pPr>
            <a:r>
              <a:rPr sz="1700" b="1">
                <a:solidFill>
                  <a:srgbClr val="F2A65A"/>
                </a:solidFill>
                <a:latin typeface="Arial"/>
              </a:rPr>
              <a:t>solo lectura</a:t>
            </a:r>
          </a:p>
        </p:txBody>
      </p:sp>
      <p:sp>
        <p:nvSpPr>
          <p:cNvPr id="26" name="Oval 25"/>
          <p:cNvSpPr/>
          <p:nvPr/>
        </p:nvSpPr>
        <p:spPr>
          <a:xfrm>
            <a:off x="12134088" y="4681728"/>
            <a:ext cx="512064" cy="512064"/>
          </a:xfrm>
          <a:prstGeom prst="ellipse">
            <a:avLst/>
          </a:prstGeom>
          <a:solidFill>
            <a:srgbClr val="F2A6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1384280" y="3749040"/>
            <a:ext cx="2011680" cy="548640"/>
          </a:xfrm>
          <a:prstGeom prst="rect">
            <a:avLst/>
          </a:prstGeom>
          <a:noFill/>
        </p:spPr>
        <p:txBody>
          <a:bodyPr wrap="square" anchor="t" lIns="0" rIns="0" tIns="0" bIns="0">
            <a:spAutoFit/>
          </a:bodyPr>
          <a:lstStyle/>
          <a:p>
            <a:pPr algn="ctr">
              <a:spcAft>
                <a:spcPts val="1000"/>
              </a:spcAft>
            </a:pPr>
            <a:r>
              <a:rPr sz="1800" b="0">
                <a:solidFill>
                  <a:srgbClr val="D9E2EC"/>
                </a:solidFill>
                <a:latin typeface="Arial"/>
              </a:rPr>
              <a:t>19:08:00</a:t>
            </a:r>
          </a:p>
        </p:txBody>
      </p:sp>
      <p:sp>
        <p:nvSpPr>
          <p:cNvPr id="28" name="TextBox 27"/>
          <p:cNvSpPr txBox="1"/>
          <p:nvPr/>
        </p:nvSpPr>
        <p:spPr>
          <a:xfrm>
            <a:off x="11292840" y="5349240"/>
            <a:ext cx="2194560" cy="822960"/>
          </a:xfrm>
          <a:prstGeom prst="rect">
            <a:avLst/>
          </a:prstGeom>
          <a:noFill/>
        </p:spPr>
        <p:txBody>
          <a:bodyPr wrap="square" anchor="t" lIns="0" rIns="0" tIns="0" bIns="0">
            <a:spAutoFit/>
          </a:bodyPr>
          <a:lstStyle/>
          <a:p>
            <a:pPr algn="ctr">
              <a:spcAft>
                <a:spcPts val="1000"/>
              </a:spcAft>
            </a:pPr>
            <a:r>
              <a:rPr sz="1700" b="1">
                <a:solidFill>
                  <a:srgbClr val="F2A65A"/>
                </a:solidFill>
                <a:latin typeface="Arial"/>
              </a:rPr>
              <a:t>solo lectura</a:t>
            </a:r>
          </a:p>
        </p:txBody>
      </p:sp>
      <p:sp>
        <p:nvSpPr>
          <p:cNvPr id="29" name="Oval 28"/>
          <p:cNvSpPr/>
          <p:nvPr/>
        </p:nvSpPr>
        <p:spPr>
          <a:xfrm>
            <a:off x="14374367" y="4681728"/>
            <a:ext cx="512064" cy="512064"/>
          </a:xfrm>
          <a:prstGeom prst="ellipse">
            <a:avLst/>
          </a:prstGeom>
          <a:solidFill>
            <a:srgbClr val="316C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3624559" y="3749040"/>
            <a:ext cx="2011680" cy="548640"/>
          </a:xfrm>
          <a:prstGeom prst="rect">
            <a:avLst/>
          </a:prstGeom>
          <a:noFill/>
        </p:spPr>
        <p:txBody>
          <a:bodyPr wrap="square" anchor="t" lIns="0" rIns="0" tIns="0" bIns="0">
            <a:spAutoFit/>
          </a:bodyPr>
          <a:lstStyle/>
          <a:p>
            <a:pPr algn="ctr">
              <a:spcAft>
                <a:spcPts val="1000"/>
              </a:spcAft>
            </a:pPr>
            <a:r>
              <a:rPr sz="1800" b="0">
                <a:solidFill>
                  <a:srgbClr val="D9E2EC"/>
                </a:solidFill>
                <a:latin typeface="Arial"/>
              </a:rPr>
              <a:t>19:08:35</a:t>
            </a:r>
          </a:p>
        </p:txBody>
      </p:sp>
      <p:sp>
        <p:nvSpPr>
          <p:cNvPr id="31" name="TextBox 30"/>
          <p:cNvSpPr txBox="1"/>
          <p:nvPr/>
        </p:nvSpPr>
        <p:spPr>
          <a:xfrm>
            <a:off x="13533119" y="5349240"/>
            <a:ext cx="2194560" cy="822960"/>
          </a:xfrm>
          <a:prstGeom prst="rect">
            <a:avLst/>
          </a:prstGeom>
          <a:noFill/>
        </p:spPr>
        <p:txBody>
          <a:bodyPr wrap="square" anchor="t" lIns="0" rIns="0" tIns="0" bIns="0">
            <a:spAutoFit/>
          </a:bodyPr>
          <a:lstStyle/>
          <a:p>
            <a:pPr algn="ctr">
              <a:spcAft>
                <a:spcPts val="1000"/>
              </a:spcAft>
            </a:pPr>
            <a:r>
              <a:rPr sz="1700" b="1">
                <a:solidFill>
                  <a:srgbClr val="8FB4FF"/>
                </a:solidFill>
                <a:latin typeface="Arial"/>
              </a:rPr>
              <a:t>se puede escribir</a:t>
            </a:r>
          </a:p>
        </p:txBody>
      </p:sp>
      <p:sp>
        <p:nvSpPr>
          <p:cNvPr id="32" name="TextBox 31"/>
          <p:cNvSpPr txBox="1"/>
          <p:nvPr/>
        </p:nvSpPr>
        <p:spPr>
          <a:xfrm>
            <a:off x="914400" y="5943600"/>
            <a:ext cx="6949440" cy="1280160"/>
          </a:xfrm>
          <a:prstGeom prst="rect">
            <a:avLst/>
          </a:prstGeom>
          <a:noFill/>
        </p:spPr>
        <p:txBody>
          <a:bodyPr wrap="square" anchor="b" lIns="0" rIns="0" tIns="0" bIns="0">
            <a:spAutoFit/>
          </a:bodyPr>
          <a:lstStyle/>
          <a:p>
            <a:pPr algn="l">
              <a:spcAft>
                <a:spcPts val="1000"/>
              </a:spcAft>
            </a:pPr>
            <a:r>
              <a:rPr sz="6000" b="1">
                <a:solidFill>
                  <a:srgbClr val="F2A65A"/>
                </a:solidFill>
                <a:latin typeface="Arial"/>
              </a:rPr>
              <a:t>1:35 a 2:42</a:t>
            </a:r>
          </a:p>
        </p:txBody>
      </p:sp>
      <p:sp>
        <p:nvSpPr>
          <p:cNvPr id="33" name="TextBox 32"/>
          <p:cNvSpPr txBox="1"/>
          <p:nvPr/>
        </p:nvSpPr>
        <p:spPr>
          <a:xfrm>
            <a:off x="914400" y="7315200"/>
            <a:ext cx="6949440" cy="1097280"/>
          </a:xfrm>
          <a:prstGeom prst="rect">
            <a:avLst/>
          </a:prstGeom>
          <a:noFill/>
        </p:spPr>
        <p:txBody>
          <a:bodyPr wrap="square" anchor="t" lIns="0" rIns="0" tIns="0" bIns="0">
            <a:spAutoFit/>
          </a:bodyPr>
          <a:lstStyle/>
          <a:p>
            <a:pPr algn="l">
              <a:spcAft>
                <a:spcPts val="1000"/>
              </a:spcAft>
            </a:pPr>
            <a:r>
              <a:rPr sz="2200" b="0">
                <a:solidFill>
                  <a:srgbClr val="D9E2EC"/>
                </a:solidFill>
                <a:latin typeface="Arial"/>
              </a:rPr>
              <a:t>minutos sin poder escribir (lo revisamos cada 30 s)</a:t>
            </a:r>
          </a:p>
        </p:txBody>
      </p:sp>
      <p:sp>
        <p:nvSpPr>
          <p:cNvPr id="34" name="TextBox 33"/>
          <p:cNvSpPr txBox="1"/>
          <p:nvPr/>
        </p:nvSpPr>
        <p:spPr>
          <a:xfrm>
            <a:off x="8321040" y="5943600"/>
            <a:ext cx="6766560" cy="1280160"/>
          </a:xfrm>
          <a:prstGeom prst="rect">
            <a:avLst/>
          </a:prstGeom>
          <a:noFill/>
        </p:spPr>
        <p:txBody>
          <a:bodyPr wrap="square" anchor="b" lIns="0" rIns="0" tIns="0" bIns="0">
            <a:spAutoFit/>
          </a:bodyPr>
          <a:lstStyle/>
          <a:p>
            <a:pPr algn="l">
              <a:spcAft>
                <a:spcPts val="1000"/>
              </a:spcAft>
            </a:pPr>
            <a:r>
              <a:rPr sz="6000" b="1">
                <a:solidFill>
                  <a:srgbClr val="316CE3"/>
                </a:solidFill>
                <a:latin typeface="Arial"/>
              </a:rPr>
              <a:t>Sin cambios</a:t>
            </a:r>
          </a:p>
        </p:txBody>
      </p:sp>
      <p:sp>
        <p:nvSpPr>
          <p:cNvPr id="35" name="TextBox 34"/>
          <p:cNvSpPr txBox="1"/>
          <p:nvPr/>
        </p:nvSpPr>
        <p:spPr>
          <a:xfrm>
            <a:off x="8321040" y="7315200"/>
            <a:ext cx="6766560" cy="1097280"/>
          </a:xfrm>
          <a:prstGeom prst="rect">
            <a:avLst/>
          </a:prstGeom>
          <a:noFill/>
        </p:spPr>
        <p:txBody>
          <a:bodyPr wrap="square" anchor="t" lIns="0" rIns="0" tIns="0" bIns="0">
            <a:spAutoFit/>
          </a:bodyPr>
          <a:lstStyle/>
          <a:p>
            <a:pPr algn="l">
              <a:spcAft>
                <a:spcPts val="1000"/>
              </a:spcAft>
            </a:pPr>
            <a:r>
              <a:rPr sz="2200" b="0">
                <a:solidFill>
                  <a:srgbClr val="D9E2EC"/>
                </a:solidFill>
                <a:latin typeface="Arial"/>
              </a:rPr>
              <a:t>en cómo se reparten los datos entre nodos</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232E3E"/>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txBody>
          <a:bodyPr/>
          <a:p/>
        </p:txBody>
      </p:sp>
      <p:sp>
        <p:nvSpPr>
          <p:cNvPr name="TextBox 3" id="3"/>
          <p:cNvSpPr txBox="true"/>
          <p:nvPr/>
        </p:nvSpPr>
        <p:spPr>
          <a:xfrm rot="0">
            <a:off x="3520440" y="868680"/>
            <a:ext cx="12070080" cy="1874519"/>
          </a:xfrm>
          <a:prstGeom prst="rect">
            <a:avLst/>
          </a:prstGeom>
        </p:spPr>
        <p:txBody>
          <a:bodyPr anchor="ctr" rtlCol="false" tIns="0" lIns="0" bIns="0" rIns="0" wrap="square">
            <a:spAutoFit/>
          </a:bodyPr>
          <a:lstStyle/>
          <a:p>
            <a:pPr algn="l" marL="0" indent="0" lvl="0">
              <a:lnSpc>
                <a:spcPts val="10481"/>
              </a:lnSpc>
              <a:spcBef>
                <a:spcPct val="0"/>
              </a:spcBef>
            </a:pPr>
            <a:r>
              <a:rPr lang="en-US" b="0" sz="5400">
                <a:solidFill>
                  <a:srgbClr val="FFFFFF"/>
                </a:solidFill>
                <a:latin typeface="Arial Black"/>
                <a:ea typeface="Arial Black"/>
                <a:cs typeface="Arial Black"/>
                <a:sym typeface="Arial Black"/>
              </a:rPr>
              <a:t>Lo que nadie te cuenta</a:t>
            </a:r>
          </a:p>
        </p:txBody>
      </p:sp>
      <p:sp>
        <p:nvSpPr>
          <p:cNvPr name="Freeform 4" id="4"/>
          <p:cNvSpPr/>
          <p:nvPr/>
        </p:nvSpPr>
        <p:spPr>
          <a:xfrm flipH="false" flipV="false" rot="0">
            <a:off x="536304" y="308054"/>
            <a:ext cx="650696" cy="409939"/>
          </a:xfrm>
          <a:custGeom>
            <a:avLst/>
            <a:gdLst/>
            <a:ahLst/>
            <a:cxnLst/>
            <a:rect r="r" b="b" t="t" l="l"/>
            <a:pathLst>
              <a:path h="409939" w="650696">
                <a:moveTo>
                  <a:pt x="0" y="0"/>
                </a:moveTo>
                <a:lnTo>
                  <a:pt x="650697" y="0"/>
                </a:lnTo>
                <a:lnTo>
                  <a:pt x="650697" y="409938"/>
                </a:lnTo>
                <a:lnTo>
                  <a:pt x="0" y="40993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219785" y="9070932"/>
            <a:ext cx="4151107" cy="986035"/>
            <a:chOff x="0" y="0"/>
            <a:chExt cx="5534810" cy="1314713"/>
          </a:xfrm>
        </p:grpSpPr>
        <p:sp>
          <p:nvSpPr>
            <p:cNvPr name="Freeform 6" id="6"/>
            <p:cNvSpPr/>
            <p:nvPr/>
          </p:nvSpPr>
          <p:spPr>
            <a:xfrm flipH="false" flipV="false" rot="0">
              <a:off x="0" y="0"/>
              <a:ext cx="1314713" cy="1314713"/>
            </a:xfrm>
            <a:custGeom>
              <a:avLst/>
              <a:gdLst/>
              <a:ahLst/>
              <a:cxnLst/>
              <a:rect r="r" b="b" t="t" l="l"/>
              <a:pathLst>
                <a:path h="1314713" w="1314713">
                  <a:moveTo>
                    <a:pt x="0" y="0"/>
                  </a:moveTo>
                  <a:lnTo>
                    <a:pt x="1314713" y="0"/>
                  </a:lnTo>
                  <a:lnTo>
                    <a:pt x="1314713" y="1314713"/>
                  </a:lnTo>
                  <a:lnTo>
                    <a:pt x="0" y="131471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7" id="7"/>
            <p:cNvSpPr txBox="true"/>
            <p:nvPr/>
          </p:nvSpPr>
          <p:spPr>
            <a:xfrm rot="0">
              <a:off x="1455753" y="151974"/>
              <a:ext cx="3148240" cy="462308"/>
            </a:xfrm>
            <a:prstGeom prst="rect">
              <a:avLst/>
            </a:prstGeom>
          </p:spPr>
          <p:txBody>
            <a:bodyPr anchor="t" rtlCol="false" tIns="0" lIns="0" bIns="0" rIns="0">
              <a:spAutoFit/>
            </a:bodyPr>
            <a:lstStyle/>
            <a:p>
              <a:pPr algn="l">
                <a:lnSpc>
                  <a:spcPts val="2702"/>
                </a:lnSpc>
              </a:pPr>
              <a:r>
                <a:rPr lang="en-US" b="true" sz="2252">
                  <a:solidFill>
                    <a:srgbClr val="FFFFFF"/>
                  </a:solidFill>
                  <a:latin typeface="Raleway 1 Bold"/>
                  <a:ea typeface="Raleway 1 Bold"/>
                  <a:cs typeface="Raleway 1 Bold"/>
                  <a:sym typeface="Raleway 1 Bold"/>
                </a:rPr>
                <a:t>OCTUBRE</a:t>
              </a:r>
            </a:p>
          </p:txBody>
        </p:sp>
        <p:sp>
          <p:nvSpPr>
            <p:cNvPr name="TextBox 8" id="8"/>
            <p:cNvSpPr txBox="true"/>
            <p:nvPr/>
          </p:nvSpPr>
          <p:spPr>
            <a:xfrm rot="0">
              <a:off x="1468453" y="585710"/>
              <a:ext cx="4066356" cy="565140"/>
            </a:xfrm>
            <a:prstGeom prst="rect">
              <a:avLst/>
            </a:prstGeom>
          </p:spPr>
          <p:txBody>
            <a:bodyPr anchor="t" rtlCol="false" tIns="0" lIns="0" bIns="0" rIns="0">
              <a:spAutoFit/>
            </a:bodyPr>
            <a:lstStyle/>
            <a:p>
              <a:pPr algn="l">
                <a:lnSpc>
                  <a:spcPts val="1130"/>
                </a:lnSpc>
              </a:pPr>
              <a:r>
                <a:rPr lang="en-US" sz="1097" b="true">
                  <a:solidFill>
                    <a:srgbClr val="FFFFFF"/>
                  </a:solidFill>
                  <a:latin typeface="Raleway 1 Bold"/>
                  <a:ea typeface="Raleway 1 Bold"/>
                  <a:cs typeface="Raleway 1 Bold"/>
                  <a:sym typeface="Raleway 1 Bold"/>
                </a:rPr>
                <a:t>Mes de </a:t>
              </a:r>
            </a:p>
            <a:p>
              <a:pPr algn="l">
                <a:lnSpc>
                  <a:spcPts val="2059"/>
                </a:lnSpc>
              </a:pPr>
              <a:r>
                <a:rPr lang="en-US" b="true" sz="1999">
                  <a:solidFill>
                    <a:srgbClr val="FFFFFF"/>
                  </a:solidFill>
                  <a:latin typeface="Raleway 1 Bold"/>
                  <a:ea typeface="Raleway 1 Bold"/>
                  <a:cs typeface="Raleway 1 Bold"/>
                  <a:sym typeface="Raleway 1 Bold"/>
                </a:rPr>
                <a:t>HAN SOLO</a:t>
              </a:r>
            </a:p>
          </p:txBody>
        </p:sp>
      </p:grpSp>
      <p:sp>
        <p:nvSpPr>
          <p:cNvPr name="TextBox 9" id="9"/>
          <p:cNvSpPr txBox="true"/>
          <p:nvPr/>
        </p:nvSpPr>
        <p:spPr>
          <a:xfrm rot="0">
            <a:off x="1258571" y="221658"/>
            <a:ext cx="15091730" cy="563680"/>
          </a:xfrm>
          <a:prstGeom prst="rect">
            <a:avLst/>
          </a:prstGeom>
        </p:spPr>
        <p:txBody>
          <a:bodyPr anchor="t" rtlCol="false" tIns="0" lIns="0" bIns="0" rIns="0">
            <a:spAutoFit/>
          </a:bodyPr>
          <a:lstStyle/>
          <a:p>
            <a:pPr algn="l">
              <a:lnSpc>
                <a:spcPts val="1760"/>
              </a:lnSpc>
            </a:pPr>
            <a:r>
              <a:rPr lang="en-US" sz="2000">
                <a:solidFill>
                  <a:srgbClr val="316CE3"/>
                </a:solidFill>
                <a:latin typeface="Gotham"/>
                <a:ea typeface="Gotham"/>
                <a:cs typeface="Gotham"/>
                <a:sym typeface="Gotham"/>
              </a:rPr>
              <a:t>HOY:</a:t>
            </a:r>
          </a:p>
          <a:p>
            <a:pPr algn="l">
              <a:lnSpc>
                <a:spcPts val="2528"/>
              </a:lnSpc>
            </a:pPr>
            <a:r>
              <a:rPr lang="en-US" sz="2873" b="true">
                <a:solidFill>
                  <a:srgbClr val="316CE3"/>
                </a:solidFill>
                <a:latin typeface="Gotham Bold"/>
                <a:ea typeface="Gotham Bold"/>
                <a:cs typeface="Gotham Bold"/>
                <a:sym typeface="Gotham Bold"/>
              </a:rPr>
              <a:t>Episodio II — El Ataque de los Graviton: Infraestructura y rendimiento</a:t>
            </a:r>
          </a:p>
        </p:txBody>
      </p:sp>
      <p:sp>
        <p:nvSpPr>
          <p:cNvPr id="10" name="TextBox 9"/>
          <p:cNvSpPr txBox="1"/>
          <p:nvPr/>
        </p:nvSpPr>
        <p:spPr>
          <a:xfrm>
            <a:off x="914400" y="3200400"/>
            <a:ext cx="13898880" cy="5394960"/>
          </a:xfrm>
          <a:prstGeom prst="rect">
            <a:avLst/>
          </a:prstGeom>
          <a:noFill/>
        </p:spPr>
        <p:txBody>
          <a:bodyPr wrap="square" anchor="t" lIns="0" rIns="0" tIns="0" bIns="0">
            <a:spAutoFit/>
          </a:bodyPr>
          <a:lstStyle/>
          <a:p>
            <a:pPr algn="l" marL="347472" indent="-347472">
              <a:spcAft>
                <a:spcPts val="1600"/>
              </a:spcAft>
              <a:buChar char="•"/>
            </a:pPr>
            <a:r>
              <a:rPr sz="2300" b="1">
                <a:solidFill>
                  <a:srgbClr val="D9E2EC"/>
                </a:solidFill>
                <a:latin typeface="Arial"/>
              </a:rPr>
              <a:t>La contraseña administrada:</a:t>
            </a:r>
            <a:r>
              <a:rPr sz="2300" b="0">
                <a:solidFill>
                  <a:srgbClr val="D9E2EC"/>
                </a:solidFill>
                <a:latin typeface="Arial"/>
              </a:rPr>
              <a:t> para restaurar el snapshot hay que volver a pedirla con ‑‑manage‑master‑password</a:t>
            </a:r>
          </a:p>
          <a:p>
            <a:pPr algn="l" marL="347472" indent="-347472">
              <a:spcAft>
                <a:spcPts val="1600"/>
              </a:spcAft>
              <a:buChar char="•"/>
            </a:pPr>
            <a:r>
              <a:rPr sz="2300" b="1">
                <a:solidFill>
                  <a:srgbClr val="D9E2EC"/>
                </a:solidFill>
                <a:latin typeface="Arial"/>
              </a:rPr>
              <a:t>Primero, un snapshot:</a:t>
            </a:r>
            <a:r>
              <a:rPr sz="2300" b="0">
                <a:solidFill>
                  <a:srgbClr val="D9E2EC"/>
                </a:solidFill>
                <a:latin typeface="Arial"/>
              </a:rPr>
              <a:t> un clúster recién restaurado no acepta el resize hasta tener un snapshot propio</a:t>
            </a:r>
          </a:p>
          <a:p>
            <a:pPr algn="l" marL="347472" indent="-347472">
              <a:spcAft>
                <a:spcPts val="1600"/>
              </a:spcAft>
              <a:buChar char="•"/>
            </a:pPr>
            <a:r>
              <a:rPr sz="2300" b="1">
                <a:solidFill>
                  <a:srgbClr val="D9E2EC"/>
                </a:solidFill>
                <a:latin typeface="Arial"/>
              </a:rPr>
              <a:t>«Disponible» no es lo mismo que listo:</a:t>
            </a:r>
            <a:r>
              <a:rPr sz="2300" b="0">
                <a:solidFill>
                  <a:srgbClr val="D9E2EC"/>
                </a:solidFill>
                <a:latin typeface="Arial"/>
              </a:rPr>
              <a:t> el estado dice available, pero otro campo sigue en Modifying y el resize falla</a:t>
            </a:r>
          </a:p>
          <a:p>
            <a:pPr algn="l" marL="347472" indent="-347472">
              <a:spcAft>
                <a:spcPts val="1600"/>
              </a:spcAft>
              <a:buChar char="•"/>
            </a:pPr>
            <a:r>
              <a:rPr sz="2300" b="1">
                <a:solidFill>
                  <a:srgbClr val="D9E2EC"/>
                </a:solidFill>
                <a:latin typeface="Arial"/>
              </a:rPr>
              <a:t>De 4 a 3 nodos:</a:t>
            </a:r>
            <a:r>
              <a:rPr sz="2300" b="0">
                <a:solidFill>
                  <a:srgbClr val="D9E2EC"/>
                </a:solidFill>
                <a:latin typeface="Arial"/>
              </a:rPr>
              <a:t> cambiar la cantidad de nodos puede desbalancear los datos</a:t>
            </a:r>
          </a:p>
          <a:p>
            <a:pPr algn="l" marL="347472" indent="-347472">
              <a:spcAft>
                <a:spcPts val="1600"/>
              </a:spcAft>
              <a:buChar char="•"/>
            </a:pPr>
            <a:r>
              <a:rPr sz="2300" b="1">
                <a:solidFill>
                  <a:srgbClr val="D9E2EC"/>
                </a:solidFill>
                <a:latin typeface="Arial"/>
              </a:rPr>
              <a:t>Restaurar cambia el endpoint:</a:t>
            </a:r>
            <a:r>
              <a:rPr sz="2300" b="0">
                <a:solidFill>
                  <a:srgbClr val="D9E2EC"/>
                </a:solidFill>
                <a:latin typeface="Arial"/>
              </a:rPr>
              <a:t> si migras desde un snapshot, hay que reconfigurar zero-ETL, DMS y datashares</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232E3E"/>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txBody>
          <a:bodyPr/>
          <a:p/>
        </p:txBody>
      </p:sp>
      <p:sp>
        <p:nvSpPr>
          <p:cNvPr name="TextBox 3" id="3"/>
          <p:cNvSpPr txBox="true"/>
          <p:nvPr/>
        </p:nvSpPr>
        <p:spPr>
          <a:xfrm rot="0">
            <a:off x="3444099" y="3763913"/>
            <a:ext cx="13438018" cy="2238374"/>
          </a:xfrm>
          <a:prstGeom prst="rect">
            <a:avLst/>
          </a:prstGeom>
        </p:spPr>
        <p:txBody>
          <a:bodyPr anchor="t" rtlCol="false" tIns="0" lIns="0" bIns="0" rIns="0">
            <a:spAutoFit/>
          </a:bodyPr>
          <a:lstStyle/>
          <a:p>
            <a:pPr algn="l">
              <a:lnSpc>
                <a:spcPts val="8399"/>
              </a:lnSpc>
            </a:pPr>
            <a:r>
              <a:rPr lang="en-US" b="0" sz="8800">
                <a:solidFill>
                  <a:srgbClr val="FFFFFF"/>
                </a:solidFill>
                <a:latin typeface="Arial Black"/>
                <a:ea typeface="Arial Black"/>
                <a:cs typeface="Arial Black"/>
                <a:sym typeface="Arial Black"/>
              </a:rPr>
              <a:t>DEMO</a:t>
            </a:r>
          </a:p>
          <a:p>
            <a:pPr algn="l" marL="0" indent="0" lvl="0">
              <a:lnSpc>
                <a:spcPts val="8399"/>
              </a:lnSpc>
            </a:pPr>
            <a:r>
              <a:rPr lang="en-US" b="0" sz="8800">
                <a:solidFill>
                  <a:srgbClr val="FFFFFF"/>
                </a:solidFill>
                <a:latin typeface="Arial Black"/>
                <a:ea typeface="Arial Black"/>
                <a:cs typeface="Arial Black"/>
                <a:sym typeface="Arial Black"/>
              </a:rPr>
              <a:t/>
            </a:r>
          </a:p>
        </p:txBody>
      </p:sp>
      <p:sp>
        <p:nvSpPr>
          <p:cNvPr name="Freeform 4" id="4"/>
          <p:cNvSpPr/>
          <p:nvPr/>
        </p:nvSpPr>
        <p:spPr>
          <a:xfrm flipH="false" flipV="false" rot="0">
            <a:off x="536304" y="308054"/>
            <a:ext cx="650696" cy="409939"/>
          </a:xfrm>
          <a:custGeom>
            <a:avLst/>
            <a:gdLst/>
            <a:ahLst/>
            <a:cxnLst/>
            <a:rect r="r" b="b" t="t" l="l"/>
            <a:pathLst>
              <a:path h="409939" w="650696">
                <a:moveTo>
                  <a:pt x="0" y="0"/>
                </a:moveTo>
                <a:lnTo>
                  <a:pt x="650697" y="0"/>
                </a:lnTo>
                <a:lnTo>
                  <a:pt x="650697" y="409938"/>
                </a:lnTo>
                <a:lnTo>
                  <a:pt x="0" y="40993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219785" y="9070932"/>
            <a:ext cx="4151107" cy="986035"/>
            <a:chOff x="0" y="0"/>
            <a:chExt cx="5534810" cy="1314713"/>
          </a:xfrm>
        </p:grpSpPr>
        <p:sp>
          <p:nvSpPr>
            <p:cNvPr name="Freeform 6" id="6"/>
            <p:cNvSpPr/>
            <p:nvPr/>
          </p:nvSpPr>
          <p:spPr>
            <a:xfrm flipH="false" flipV="false" rot="0">
              <a:off x="0" y="0"/>
              <a:ext cx="1314713" cy="1314713"/>
            </a:xfrm>
            <a:custGeom>
              <a:avLst/>
              <a:gdLst/>
              <a:ahLst/>
              <a:cxnLst/>
              <a:rect r="r" b="b" t="t" l="l"/>
              <a:pathLst>
                <a:path h="1314713" w="1314713">
                  <a:moveTo>
                    <a:pt x="0" y="0"/>
                  </a:moveTo>
                  <a:lnTo>
                    <a:pt x="1314713" y="0"/>
                  </a:lnTo>
                  <a:lnTo>
                    <a:pt x="1314713" y="1314713"/>
                  </a:lnTo>
                  <a:lnTo>
                    <a:pt x="0" y="131471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7" id="7"/>
            <p:cNvSpPr txBox="true"/>
            <p:nvPr/>
          </p:nvSpPr>
          <p:spPr>
            <a:xfrm rot="0">
              <a:off x="1455753" y="151974"/>
              <a:ext cx="3148240" cy="462308"/>
            </a:xfrm>
            <a:prstGeom prst="rect">
              <a:avLst/>
            </a:prstGeom>
          </p:spPr>
          <p:txBody>
            <a:bodyPr anchor="t" rtlCol="false" tIns="0" lIns="0" bIns="0" rIns="0">
              <a:spAutoFit/>
            </a:bodyPr>
            <a:lstStyle/>
            <a:p>
              <a:pPr algn="l">
                <a:lnSpc>
                  <a:spcPts val="2702"/>
                </a:lnSpc>
              </a:pPr>
              <a:r>
                <a:rPr lang="en-US" b="true" sz="2252">
                  <a:solidFill>
                    <a:srgbClr val="FFFFFF"/>
                  </a:solidFill>
                  <a:latin typeface="Raleway 1 Bold"/>
                  <a:ea typeface="Raleway 1 Bold"/>
                  <a:cs typeface="Raleway 1 Bold"/>
                  <a:sym typeface="Raleway 1 Bold"/>
                </a:rPr>
                <a:t>OCTUBRE</a:t>
              </a:r>
            </a:p>
          </p:txBody>
        </p:sp>
        <p:sp>
          <p:nvSpPr>
            <p:cNvPr name="TextBox 8" id="8"/>
            <p:cNvSpPr txBox="true"/>
            <p:nvPr/>
          </p:nvSpPr>
          <p:spPr>
            <a:xfrm rot="0">
              <a:off x="1468453" y="585710"/>
              <a:ext cx="4066356" cy="565140"/>
            </a:xfrm>
            <a:prstGeom prst="rect">
              <a:avLst/>
            </a:prstGeom>
          </p:spPr>
          <p:txBody>
            <a:bodyPr anchor="t" rtlCol="false" tIns="0" lIns="0" bIns="0" rIns="0">
              <a:spAutoFit/>
            </a:bodyPr>
            <a:lstStyle/>
            <a:p>
              <a:pPr algn="l">
                <a:lnSpc>
                  <a:spcPts val="1130"/>
                </a:lnSpc>
              </a:pPr>
              <a:r>
                <a:rPr lang="en-US" sz="1097" b="true">
                  <a:solidFill>
                    <a:srgbClr val="FFFFFF"/>
                  </a:solidFill>
                  <a:latin typeface="Raleway 1 Bold"/>
                  <a:ea typeface="Raleway 1 Bold"/>
                  <a:cs typeface="Raleway 1 Bold"/>
                  <a:sym typeface="Raleway 1 Bold"/>
                </a:rPr>
                <a:t>Mes de </a:t>
              </a:r>
            </a:p>
            <a:p>
              <a:pPr algn="l">
                <a:lnSpc>
                  <a:spcPts val="2059"/>
                </a:lnSpc>
              </a:pPr>
              <a:r>
                <a:rPr lang="en-US" b="true" sz="1999">
                  <a:solidFill>
                    <a:srgbClr val="FFFFFF"/>
                  </a:solidFill>
                  <a:latin typeface="Raleway 1 Bold"/>
                  <a:ea typeface="Raleway 1 Bold"/>
                  <a:cs typeface="Raleway 1 Bold"/>
                  <a:sym typeface="Raleway 1 Bold"/>
                </a:rPr>
                <a:t>HAN SOLO</a:t>
              </a:r>
            </a:p>
          </p:txBody>
        </p:sp>
      </p:grpSp>
      <p:sp>
        <p:nvSpPr>
          <p:cNvPr name="TextBox 9" id="9"/>
          <p:cNvSpPr txBox="true"/>
          <p:nvPr/>
        </p:nvSpPr>
        <p:spPr>
          <a:xfrm rot="0">
            <a:off x="1258571" y="221658"/>
            <a:ext cx="15091730" cy="563680"/>
          </a:xfrm>
          <a:prstGeom prst="rect">
            <a:avLst/>
          </a:prstGeom>
        </p:spPr>
        <p:txBody>
          <a:bodyPr anchor="t" rtlCol="false" tIns="0" lIns="0" bIns="0" rIns="0">
            <a:spAutoFit/>
          </a:bodyPr>
          <a:lstStyle/>
          <a:p>
            <a:pPr algn="l">
              <a:lnSpc>
                <a:spcPts val="1760"/>
              </a:lnSpc>
            </a:pPr>
            <a:r>
              <a:rPr lang="en-US" sz="2000">
                <a:solidFill>
                  <a:srgbClr val="316CE3"/>
                </a:solidFill>
                <a:latin typeface="Gotham"/>
                <a:ea typeface="Gotham"/>
                <a:cs typeface="Gotham"/>
                <a:sym typeface="Gotham"/>
              </a:rPr>
              <a:t>HOY:</a:t>
            </a:r>
          </a:p>
          <a:p>
            <a:pPr algn="l">
              <a:lnSpc>
                <a:spcPts val="2528"/>
              </a:lnSpc>
            </a:pPr>
            <a:r>
              <a:rPr lang="en-US" sz="2873" b="true">
                <a:solidFill>
                  <a:srgbClr val="316CE3"/>
                </a:solidFill>
                <a:latin typeface="Gotham Bold"/>
                <a:ea typeface="Gotham Bold"/>
                <a:cs typeface="Gotham Bold"/>
                <a:sym typeface="Gotham Bold"/>
              </a:rPr>
              <a:t>Episodio II — El Ataque de los Graviton: Infraestructura y rendimiento</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solidFill>
          <a:srgbClr val="232E3E"/>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txBody>
          <a:bodyPr/>
          <a:p/>
        </p:txBody>
      </p:sp>
      <p:sp>
        <p:nvSpPr>
          <p:cNvPr name="TextBox 3" id="3"/>
          <p:cNvSpPr txBox="true"/>
          <p:nvPr/>
        </p:nvSpPr>
        <p:spPr>
          <a:xfrm rot="0">
            <a:off x="3520440" y="868680"/>
            <a:ext cx="12070080" cy="1874519"/>
          </a:xfrm>
          <a:prstGeom prst="rect">
            <a:avLst/>
          </a:prstGeom>
        </p:spPr>
        <p:txBody>
          <a:bodyPr anchor="ctr" rtlCol="false" tIns="0" lIns="0" bIns="0" rIns="0" wrap="square">
            <a:spAutoFit/>
          </a:bodyPr>
          <a:lstStyle/>
          <a:p>
            <a:pPr algn="l" marL="0" indent="0" lvl="0">
              <a:lnSpc>
                <a:spcPts val="10481"/>
              </a:lnSpc>
              <a:spcBef>
                <a:spcPct val="0"/>
              </a:spcBef>
            </a:pPr>
            <a:r>
              <a:rPr lang="en-US" b="0" sz="4100">
                <a:solidFill>
                  <a:srgbClr val="FFFFFF"/>
                </a:solidFill>
                <a:latin typeface="Arial Black"/>
                <a:ea typeface="Arial Black"/>
                <a:cs typeface="Arial Black"/>
                <a:sym typeface="Arial Black"/>
              </a:rPr>
              <a:t>Demo: una consulta, dos clústeres</a:t>
            </a:r>
          </a:p>
        </p:txBody>
      </p:sp>
      <p:sp>
        <p:nvSpPr>
          <p:cNvPr name="Freeform 4" id="4"/>
          <p:cNvSpPr/>
          <p:nvPr/>
        </p:nvSpPr>
        <p:spPr>
          <a:xfrm flipH="false" flipV="false" rot="0">
            <a:off x="536304" y="308054"/>
            <a:ext cx="650696" cy="409939"/>
          </a:xfrm>
          <a:custGeom>
            <a:avLst/>
            <a:gdLst/>
            <a:ahLst/>
            <a:cxnLst/>
            <a:rect r="r" b="b" t="t" l="l"/>
            <a:pathLst>
              <a:path h="409939" w="650696">
                <a:moveTo>
                  <a:pt x="0" y="0"/>
                </a:moveTo>
                <a:lnTo>
                  <a:pt x="650697" y="0"/>
                </a:lnTo>
                <a:lnTo>
                  <a:pt x="650697" y="409938"/>
                </a:lnTo>
                <a:lnTo>
                  <a:pt x="0" y="40993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219785" y="9070932"/>
            <a:ext cx="4151107" cy="986035"/>
            <a:chOff x="0" y="0"/>
            <a:chExt cx="5534810" cy="1314713"/>
          </a:xfrm>
        </p:grpSpPr>
        <p:sp>
          <p:nvSpPr>
            <p:cNvPr name="Freeform 6" id="6"/>
            <p:cNvSpPr/>
            <p:nvPr/>
          </p:nvSpPr>
          <p:spPr>
            <a:xfrm flipH="false" flipV="false" rot="0">
              <a:off x="0" y="0"/>
              <a:ext cx="1314713" cy="1314713"/>
            </a:xfrm>
            <a:custGeom>
              <a:avLst/>
              <a:gdLst/>
              <a:ahLst/>
              <a:cxnLst/>
              <a:rect r="r" b="b" t="t" l="l"/>
              <a:pathLst>
                <a:path h="1314713" w="1314713">
                  <a:moveTo>
                    <a:pt x="0" y="0"/>
                  </a:moveTo>
                  <a:lnTo>
                    <a:pt x="1314713" y="0"/>
                  </a:lnTo>
                  <a:lnTo>
                    <a:pt x="1314713" y="1314713"/>
                  </a:lnTo>
                  <a:lnTo>
                    <a:pt x="0" y="131471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7" id="7"/>
            <p:cNvSpPr txBox="true"/>
            <p:nvPr/>
          </p:nvSpPr>
          <p:spPr>
            <a:xfrm rot="0">
              <a:off x="1455753" y="151974"/>
              <a:ext cx="3148240" cy="462308"/>
            </a:xfrm>
            <a:prstGeom prst="rect">
              <a:avLst/>
            </a:prstGeom>
          </p:spPr>
          <p:txBody>
            <a:bodyPr anchor="t" rtlCol="false" tIns="0" lIns="0" bIns="0" rIns="0">
              <a:spAutoFit/>
            </a:bodyPr>
            <a:lstStyle/>
            <a:p>
              <a:pPr algn="l">
                <a:lnSpc>
                  <a:spcPts val="2702"/>
                </a:lnSpc>
              </a:pPr>
              <a:r>
                <a:rPr lang="en-US" b="true" sz="2252">
                  <a:solidFill>
                    <a:srgbClr val="FFFFFF"/>
                  </a:solidFill>
                  <a:latin typeface="Raleway 1 Bold"/>
                  <a:ea typeface="Raleway 1 Bold"/>
                  <a:cs typeface="Raleway 1 Bold"/>
                  <a:sym typeface="Raleway 1 Bold"/>
                </a:rPr>
                <a:t>OCTUBRE</a:t>
              </a:r>
            </a:p>
          </p:txBody>
        </p:sp>
        <p:sp>
          <p:nvSpPr>
            <p:cNvPr name="TextBox 8" id="8"/>
            <p:cNvSpPr txBox="true"/>
            <p:nvPr/>
          </p:nvSpPr>
          <p:spPr>
            <a:xfrm rot="0">
              <a:off x="1468453" y="585710"/>
              <a:ext cx="4066356" cy="565140"/>
            </a:xfrm>
            <a:prstGeom prst="rect">
              <a:avLst/>
            </a:prstGeom>
          </p:spPr>
          <p:txBody>
            <a:bodyPr anchor="t" rtlCol="false" tIns="0" lIns="0" bIns="0" rIns="0">
              <a:spAutoFit/>
            </a:bodyPr>
            <a:lstStyle/>
            <a:p>
              <a:pPr algn="l">
                <a:lnSpc>
                  <a:spcPts val="1130"/>
                </a:lnSpc>
              </a:pPr>
              <a:r>
                <a:rPr lang="en-US" sz="1097" b="true">
                  <a:solidFill>
                    <a:srgbClr val="FFFFFF"/>
                  </a:solidFill>
                  <a:latin typeface="Raleway 1 Bold"/>
                  <a:ea typeface="Raleway 1 Bold"/>
                  <a:cs typeface="Raleway 1 Bold"/>
                  <a:sym typeface="Raleway 1 Bold"/>
                </a:rPr>
                <a:t>Mes de </a:t>
              </a:r>
            </a:p>
            <a:p>
              <a:pPr algn="l">
                <a:lnSpc>
                  <a:spcPts val="2059"/>
                </a:lnSpc>
              </a:pPr>
              <a:r>
                <a:rPr lang="en-US" b="true" sz="1999">
                  <a:solidFill>
                    <a:srgbClr val="FFFFFF"/>
                  </a:solidFill>
                  <a:latin typeface="Raleway 1 Bold"/>
                  <a:ea typeface="Raleway 1 Bold"/>
                  <a:cs typeface="Raleway 1 Bold"/>
                  <a:sym typeface="Raleway 1 Bold"/>
                </a:rPr>
                <a:t>HAN SOLO</a:t>
              </a:r>
            </a:p>
          </p:txBody>
        </p:sp>
      </p:grpSp>
      <p:sp>
        <p:nvSpPr>
          <p:cNvPr name="TextBox 9" id="9"/>
          <p:cNvSpPr txBox="true"/>
          <p:nvPr/>
        </p:nvSpPr>
        <p:spPr>
          <a:xfrm rot="0">
            <a:off x="1258571" y="221658"/>
            <a:ext cx="15091730" cy="563680"/>
          </a:xfrm>
          <a:prstGeom prst="rect">
            <a:avLst/>
          </a:prstGeom>
        </p:spPr>
        <p:txBody>
          <a:bodyPr anchor="t" rtlCol="false" tIns="0" lIns="0" bIns="0" rIns="0">
            <a:spAutoFit/>
          </a:bodyPr>
          <a:lstStyle/>
          <a:p>
            <a:pPr algn="l">
              <a:lnSpc>
                <a:spcPts val="1760"/>
              </a:lnSpc>
            </a:pPr>
            <a:r>
              <a:rPr lang="en-US" sz="2000">
                <a:solidFill>
                  <a:srgbClr val="316CE3"/>
                </a:solidFill>
                <a:latin typeface="Gotham"/>
                <a:ea typeface="Gotham"/>
                <a:cs typeface="Gotham"/>
                <a:sym typeface="Gotham"/>
              </a:rPr>
              <a:t>HOY:</a:t>
            </a:r>
          </a:p>
          <a:p>
            <a:pPr algn="l">
              <a:lnSpc>
                <a:spcPts val="2528"/>
              </a:lnSpc>
            </a:pPr>
            <a:r>
              <a:rPr lang="en-US" sz="2873" b="true">
                <a:solidFill>
                  <a:srgbClr val="316CE3"/>
                </a:solidFill>
                <a:latin typeface="Gotham Bold"/>
                <a:ea typeface="Gotham Bold"/>
                <a:cs typeface="Gotham Bold"/>
                <a:sym typeface="Gotham Bold"/>
              </a:rPr>
              <a:t>Episodio II — El Ataque de los Graviton: Infraestructura y rendimiento</a:t>
            </a:r>
          </a:p>
        </p:txBody>
      </p:sp>
      <p:sp>
        <p:nvSpPr>
          <p:cNvPr id="10" name="Rounded Rectangle 9"/>
          <p:cNvSpPr/>
          <p:nvPr/>
        </p:nvSpPr>
        <p:spPr>
          <a:xfrm>
            <a:off x="914400" y="3200400"/>
            <a:ext cx="9326880" cy="3931920"/>
          </a:xfrm>
          <a:prstGeom prst="roundRect">
            <a:avLst>
              <a:gd name="adj" fmla="val 4000"/>
            </a:avLst>
          </a:prstGeom>
          <a:solidFill>
            <a:srgbClr val="1A2230"/>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rIns="274320" tIns="274320"/>
          <a:lstStyle/>
          <a:p>
            <a:pPr algn="l"/>
            <a:r>
              <a:rPr sz="1700">
                <a:solidFill>
                  <a:srgbClr val="D9E2EC"/>
                </a:solidFill>
                <a:latin typeface="Courier New"/>
              </a:rPr>
              <a:t>SELECT count(*)</a:t>
            </a:r>
          </a:p>
          <a:p>
            <a:pPr algn="l"/>
            <a:r>
              <a:rPr sz="1700">
                <a:solidFill>
                  <a:srgbClr val="D9E2EC"/>
                </a:solidFill>
                <a:latin typeface="Courier New"/>
              </a:rPr>
              <a:t>FROM store_sales, household_demographics,</a:t>
            </a:r>
          </a:p>
          <a:p>
            <a:pPr algn="l"/>
            <a:r>
              <a:rPr sz="1700">
                <a:solidFill>
                  <a:srgbClr val="D9E2EC"/>
                </a:solidFill>
                <a:latin typeface="Courier New"/>
              </a:rPr>
              <a:t>     time_dim, store</a:t>
            </a:r>
          </a:p>
          <a:p>
            <a:pPr algn="l"/>
            <a:r>
              <a:rPr sz="1700">
                <a:solidFill>
                  <a:srgbClr val="D9E2EC"/>
                </a:solidFill>
                <a:latin typeface="Courier New"/>
              </a:rPr>
              <a:t>WHERE ss_sold_time_sk = time_dim.t_time_sk</a:t>
            </a:r>
          </a:p>
          <a:p>
            <a:pPr algn="l"/>
            <a:r>
              <a:rPr sz="1700">
                <a:solidFill>
                  <a:srgbClr val="D9E2EC"/>
                </a:solidFill>
                <a:latin typeface="Courier New"/>
              </a:rPr>
              <a:t>  AND ss_hdemo_sk = household_demographics.hd_demo_sk</a:t>
            </a:r>
          </a:p>
          <a:p>
            <a:pPr algn="l"/>
            <a:r>
              <a:rPr sz="1700">
                <a:solidFill>
                  <a:srgbClr val="D9E2EC"/>
                </a:solidFill>
                <a:latin typeface="Courier New"/>
              </a:rPr>
              <a:t>  AND ss_store_sk = s_store_sk</a:t>
            </a:r>
          </a:p>
          <a:p>
            <a:pPr algn="l"/>
            <a:r>
              <a:rPr sz="1700">
                <a:solidFill>
                  <a:srgbClr val="D9E2EC"/>
                </a:solidFill>
                <a:latin typeface="Courier New"/>
              </a:rPr>
              <a:t>  AND time_dim.t_hour = 15</a:t>
            </a:r>
          </a:p>
          <a:p>
            <a:pPr algn="l"/>
            <a:r>
              <a:rPr sz="1700">
                <a:solidFill>
                  <a:srgbClr val="D9E2EC"/>
                </a:solidFill>
                <a:latin typeface="Courier New"/>
              </a:rPr>
              <a:t>  AND time_dim.t_minute &gt;= 30</a:t>
            </a:r>
          </a:p>
          <a:p>
            <a:pPr algn="l"/>
            <a:r>
              <a:rPr sz="1700">
                <a:solidFill>
                  <a:srgbClr val="D9E2EC"/>
                </a:solidFill>
                <a:latin typeface="Courier New"/>
              </a:rPr>
              <a:t>  AND household_demographics.hd_dep_count = 7</a:t>
            </a:r>
          </a:p>
          <a:p>
            <a:pPr algn="l"/>
            <a:r>
              <a:rPr sz="1700">
                <a:solidFill>
                  <a:srgbClr val="D9E2EC"/>
                </a:solidFill>
                <a:latin typeface="Courier New"/>
              </a:rPr>
              <a:t>  AND store.s_store_name = 'ese'</a:t>
            </a:r>
          </a:p>
          <a:p>
            <a:pPr algn="l"/>
            <a:r>
              <a:rPr sz="1700">
                <a:solidFill>
                  <a:srgbClr val="D9E2EC"/>
                </a:solidFill>
                <a:latin typeface="Courier New"/>
              </a:rPr>
              <a:t>LIMIT 100;</a:t>
            </a:r>
          </a:p>
        </p:txBody>
      </p:sp>
      <p:sp>
        <p:nvSpPr>
          <p:cNvPr id="11" name="TextBox 10"/>
          <p:cNvSpPr txBox="1"/>
          <p:nvPr/>
        </p:nvSpPr>
        <p:spPr>
          <a:xfrm>
            <a:off x="914400" y="7315200"/>
            <a:ext cx="9326880" cy="1280160"/>
          </a:xfrm>
          <a:prstGeom prst="rect">
            <a:avLst/>
          </a:prstGeom>
          <a:noFill/>
        </p:spPr>
        <p:txBody>
          <a:bodyPr wrap="square" anchor="t" lIns="0" rIns="0" tIns="0" bIns="0">
            <a:spAutoFit/>
          </a:bodyPr>
          <a:lstStyle/>
          <a:p>
            <a:pPr algn="l">
              <a:spcAft>
                <a:spcPts val="1000"/>
              </a:spcAft>
            </a:pPr>
            <a:r>
              <a:rPr sz="2000" b="1">
                <a:solidFill>
                  <a:srgbClr val="D9E2EC"/>
                </a:solidFill>
                <a:latin typeface="Arial"/>
              </a:rPr>
              <a:t>Por qué pesa:</a:t>
            </a:r>
            <a:r>
              <a:rPr sz="2000" b="0">
                <a:solidFill>
                  <a:srgbClr val="D9E2EC"/>
                </a:solidFill>
                <a:latin typeface="Arial"/>
              </a:rPr>
              <a:t> recorre las 288 millones de ventas de store_sales y las cruza con tres tablas para quedarse con una franja horaria y un tipo de hogar.</a:t>
            </a:r>
          </a:p>
        </p:txBody>
      </p:sp>
      <p:sp>
        <p:nvSpPr>
          <p:cNvPr id="12" name="TextBox 11"/>
          <p:cNvSpPr txBox="1"/>
          <p:nvPr/>
        </p:nvSpPr>
        <p:spPr>
          <a:xfrm>
            <a:off x="10607040" y="3474720"/>
            <a:ext cx="4572000" cy="457200"/>
          </a:xfrm>
          <a:prstGeom prst="rect">
            <a:avLst/>
          </a:prstGeom>
          <a:noFill/>
        </p:spPr>
        <p:txBody>
          <a:bodyPr wrap="square" anchor="t" lIns="0" rIns="0" tIns="0" bIns="0">
            <a:spAutoFit/>
          </a:bodyPr>
          <a:lstStyle/>
          <a:p>
            <a:pPr algn="l">
              <a:spcAft>
                <a:spcPts val="1000"/>
              </a:spcAft>
            </a:pPr>
            <a:r>
              <a:rPr sz="2000" b="0">
                <a:solidFill>
                  <a:srgbClr val="D9E2EC"/>
                </a:solidFill>
                <a:latin typeface="Arial"/>
              </a:rPr>
              <a:t>query96</a:t>
            </a:r>
          </a:p>
        </p:txBody>
      </p:sp>
      <p:sp>
        <p:nvSpPr>
          <p:cNvPr id="13" name="TextBox 12"/>
          <p:cNvSpPr txBox="1"/>
          <p:nvPr/>
        </p:nvSpPr>
        <p:spPr>
          <a:xfrm>
            <a:off x="10607040" y="3977639"/>
            <a:ext cx="2286000" cy="914400"/>
          </a:xfrm>
          <a:prstGeom prst="rect">
            <a:avLst/>
          </a:prstGeom>
          <a:noFill/>
        </p:spPr>
        <p:txBody>
          <a:bodyPr wrap="square" anchor="t" lIns="0" rIns="0" tIns="0" bIns="0">
            <a:spAutoFit/>
          </a:bodyPr>
          <a:lstStyle/>
          <a:p>
            <a:pPr algn="l">
              <a:spcAft>
                <a:spcPts val="1000"/>
              </a:spcAft>
            </a:pPr>
            <a:r>
              <a:rPr sz="4000" b="1">
                <a:solidFill>
                  <a:srgbClr val="8FA3B8"/>
                </a:solidFill>
                <a:latin typeface="Arial"/>
              </a:rPr>
              <a:t>1,77 s</a:t>
            </a:r>
          </a:p>
        </p:txBody>
      </p:sp>
      <p:sp>
        <p:nvSpPr>
          <p:cNvPr id="14" name="TextBox 13"/>
          <p:cNvSpPr txBox="1"/>
          <p:nvPr/>
        </p:nvSpPr>
        <p:spPr>
          <a:xfrm>
            <a:off x="12893040" y="3977639"/>
            <a:ext cx="2286000" cy="914400"/>
          </a:xfrm>
          <a:prstGeom prst="rect">
            <a:avLst/>
          </a:prstGeom>
          <a:noFill/>
        </p:spPr>
        <p:txBody>
          <a:bodyPr wrap="square" anchor="t" lIns="0" rIns="0" tIns="0" bIns="0">
            <a:spAutoFit/>
          </a:bodyPr>
          <a:lstStyle/>
          <a:p>
            <a:pPr algn="l">
              <a:spcAft>
                <a:spcPts val="1000"/>
              </a:spcAft>
            </a:pPr>
            <a:r>
              <a:rPr sz="4000" b="1">
                <a:solidFill>
                  <a:srgbClr val="316CE3"/>
                </a:solidFill>
                <a:latin typeface="Arial"/>
              </a:rPr>
              <a:t>0,67 s</a:t>
            </a:r>
          </a:p>
        </p:txBody>
      </p:sp>
      <p:sp>
        <p:nvSpPr>
          <p:cNvPr id="15" name="TextBox 14"/>
          <p:cNvSpPr txBox="1"/>
          <p:nvPr/>
        </p:nvSpPr>
        <p:spPr>
          <a:xfrm>
            <a:off x="10607040" y="4754879"/>
            <a:ext cx="2286000" cy="457200"/>
          </a:xfrm>
          <a:prstGeom prst="rect">
            <a:avLst/>
          </a:prstGeom>
          <a:noFill/>
        </p:spPr>
        <p:txBody>
          <a:bodyPr wrap="square" anchor="t" lIns="0" rIns="0" tIns="0" bIns="0">
            <a:spAutoFit/>
          </a:bodyPr>
          <a:lstStyle/>
          <a:p>
            <a:pPr algn="l">
              <a:spcAft>
                <a:spcPts val="1000"/>
              </a:spcAft>
            </a:pPr>
            <a:r>
              <a:rPr sz="1800" b="0">
                <a:solidFill>
                  <a:srgbClr val="8FA3B8"/>
                </a:solidFill>
                <a:latin typeface="Arial"/>
              </a:rPr>
              <a:t>RA3</a:t>
            </a:r>
          </a:p>
        </p:txBody>
      </p:sp>
      <p:sp>
        <p:nvSpPr>
          <p:cNvPr id="16" name="TextBox 15"/>
          <p:cNvSpPr txBox="1"/>
          <p:nvPr/>
        </p:nvSpPr>
        <p:spPr>
          <a:xfrm>
            <a:off x="12893040" y="4754879"/>
            <a:ext cx="2286000" cy="457200"/>
          </a:xfrm>
          <a:prstGeom prst="rect">
            <a:avLst/>
          </a:prstGeom>
          <a:noFill/>
        </p:spPr>
        <p:txBody>
          <a:bodyPr wrap="square" anchor="t" lIns="0" rIns="0" tIns="0" bIns="0">
            <a:spAutoFit/>
          </a:bodyPr>
          <a:lstStyle/>
          <a:p>
            <a:pPr algn="l">
              <a:spcAft>
                <a:spcPts val="1000"/>
              </a:spcAft>
            </a:pPr>
            <a:r>
              <a:rPr sz="1800" b="0">
                <a:solidFill>
                  <a:srgbClr val="316CE3"/>
                </a:solidFill>
                <a:latin typeface="Arial"/>
              </a:rPr>
              <a:t>RG</a:t>
            </a:r>
          </a:p>
        </p:txBody>
      </p:sp>
      <p:sp>
        <p:nvSpPr>
          <p:cNvPr id="17" name="TextBox 16"/>
          <p:cNvSpPr txBox="1"/>
          <p:nvPr/>
        </p:nvSpPr>
        <p:spPr>
          <a:xfrm>
            <a:off x="10607040" y="5166360"/>
            <a:ext cx="4572000" cy="457200"/>
          </a:xfrm>
          <a:prstGeom prst="rect">
            <a:avLst/>
          </a:prstGeom>
          <a:noFill/>
        </p:spPr>
        <p:txBody>
          <a:bodyPr wrap="square" anchor="t" lIns="0" rIns="0" tIns="0" bIns="0">
            <a:spAutoFit/>
          </a:bodyPr>
          <a:lstStyle/>
          <a:p>
            <a:pPr algn="l">
              <a:spcAft>
                <a:spcPts val="1000"/>
              </a:spcAft>
            </a:pPr>
            <a:r>
              <a:rPr sz="1600" b="0">
                <a:solidFill>
                  <a:srgbClr val="9FB3C8"/>
                </a:solidFill>
                <a:latin typeface="Arial"/>
              </a:rPr>
              <a:t>menos tiempo es mejor</a:t>
            </a:r>
          </a:p>
        </p:txBody>
      </p:sp>
      <p:sp>
        <p:nvSpPr>
          <p:cNvPr id="18" name="TextBox 17"/>
          <p:cNvSpPr txBox="1"/>
          <p:nvPr/>
        </p:nvSpPr>
        <p:spPr>
          <a:xfrm>
            <a:off x="10607040" y="5943600"/>
            <a:ext cx="4572000" cy="1097280"/>
          </a:xfrm>
          <a:prstGeom prst="rect">
            <a:avLst/>
          </a:prstGeom>
          <a:noFill/>
        </p:spPr>
        <p:txBody>
          <a:bodyPr wrap="square" anchor="t" lIns="0" rIns="0" tIns="0" bIns="0">
            <a:spAutoFit/>
          </a:bodyPr>
          <a:lstStyle/>
          <a:p>
            <a:pPr algn="l">
              <a:spcAft>
                <a:spcPts val="1000"/>
              </a:spcAft>
            </a:pPr>
            <a:r>
              <a:rPr sz="2800" b="0">
                <a:solidFill>
                  <a:srgbClr val="FFFFFF"/>
                </a:solidFill>
                <a:latin typeface="Arial"/>
              </a:rPr>
              <a:t>RG fue </a:t>
            </a:r>
            <a:r>
              <a:rPr sz="2800" b="1">
                <a:solidFill>
                  <a:srgbClr val="FFFFFF"/>
                </a:solidFill>
                <a:latin typeface="Arial"/>
              </a:rPr>
              <a:t>2,64x</a:t>
            </a:r>
            <a:r>
              <a:rPr sz="2800" b="0">
                <a:solidFill>
                  <a:srgbClr val="FFFFFF"/>
                </a:solidFill>
                <a:latin typeface="Arial"/>
              </a:rPr>
              <a:t> más rápido</a:t>
            </a: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bg>
      <p:bgPr>
        <a:solidFill>
          <a:srgbClr val="232E3E"/>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txBody>
          <a:bodyPr/>
          <a:p/>
        </p:txBody>
      </p:sp>
      <p:sp>
        <p:nvSpPr>
          <p:cNvPr name="TextBox 3" id="3"/>
          <p:cNvSpPr txBox="true"/>
          <p:nvPr/>
        </p:nvSpPr>
        <p:spPr>
          <a:xfrm rot="0">
            <a:off x="3520440" y="868680"/>
            <a:ext cx="12070080" cy="1874519"/>
          </a:xfrm>
          <a:prstGeom prst="rect">
            <a:avLst/>
          </a:prstGeom>
        </p:spPr>
        <p:txBody>
          <a:bodyPr anchor="ctr" rtlCol="false" tIns="0" lIns="0" bIns="0" rIns="0" wrap="square">
            <a:spAutoFit/>
          </a:bodyPr>
          <a:lstStyle/>
          <a:p>
            <a:pPr algn="l" marL="0" indent="0" lvl="0">
              <a:lnSpc>
                <a:spcPts val="10481"/>
              </a:lnSpc>
              <a:spcBef>
                <a:spcPct val="0"/>
              </a:spcBef>
            </a:pPr>
            <a:r>
              <a:rPr lang="en-US" b="0" sz="4500">
                <a:solidFill>
                  <a:srgbClr val="FFFFFF"/>
                </a:solidFill>
                <a:latin typeface="Arial Black"/>
                <a:ea typeface="Arial Black"/>
                <a:cs typeface="Arial Black"/>
                <a:sym typeface="Arial Black"/>
              </a:rPr>
              <a:t>Demo: el mismo plan en los dos</a:t>
            </a:r>
          </a:p>
        </p:txBody>
      </p:sp>
      <p:sp>
        <p:nvSpPr>
          <p:cNvPr name="Freeform 4" id="4"/>
          <p:cNvSpPr/>
          <p:nvPr/>
        </p:nvSpPr>
        <p:spPr>
          <a:xfrm flipH="false" flipV="false" rot="0">
            <a:off x="536304" y="308054"/>
            <a:ext cx="650696" cy="409939"/>
          </a:xfrm>
          <a:custGeom>
            <a:avLst/>
            <a:gdLst/>
            <a:ahLst/>
            <a:cxnLst/>
            <a:rect r="r" b="b" t="t" l="l"/>
            <a:pathLst>
              <a:path h="409939" w="650696">
                <a:moveTo>
                  <a:pt x="0" y="0"/>
                </a:moveTo>
                <a:lnTo>
                  <a:pt x="650697" y="0"/>
                </a:lnTo>
                <a:lnTo>
                  <a:pt x="650697" y="409938"/>
                </a:lnTo>
                <a:lnTo>
                  <a:pt x="0" y="40993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219785" y="9070932"/>
            <a:ext cx="4151107" cy="986035"/>
            <a:chOff x="0" y="0"/>
            <a:chExt cx="5534810" cy="1314713"/>
          </a:xfrm>
        </p:grpSpPr>
        <p:sp>
          <p:nvSpPr>
            <p:cNvPr name="Freeform 6" id="6"/>
            <p:cNvSpPr/>
            <p:nvPr/>
          </p:nvSpPr>
          <p:spPr>
            <a:xfrm flipH="false" flipV="false" rot="0">
              <a:off x="0" y="0"/>
              <a:ext cx="1314713" cy="1314713"/>
            </a:xfrm>
            <a:custGeom>
              <a:avLst/>
              <a:gdLst/>
              <a:ahLst/>
              <a:cxnLst/>
              <a:rect r="r" b="b" t="t" l="l"/>
              <a:pathLst>
                <a:path h="1314713" w="1314713">
                  <a:moveTo>
                    <a:pt x="0" y="0"/>
                  </a:moveTo>
                  <a:lnTo>
                    <a:pt x="1314713" y="0"/>
                  </a:lnTo>
                  <a:lnTo>
                    <a:pt x="1314713" y="1314713"/>
                  </a:lnTo>
                  <a:lnTo>
                    <a:pt x="0" y="131471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7" id="7"/>
            <p:cNvSpPr txBox="true"/>
            <p:nvPr/>
          </p:nvSpPr>
          <p:spPr>
            <a:xfrm rot="0">
              <a:off x="1455753" y="151974"/>
              <a:ext cx="3148240" cy="462308"/>
            </a:xfrm>
            <a:prstGeom prst="rect">
              <a:avLst/>
            </a:prstGeom>
          </p:spPr>
          <p:txBody>
            <a:bodyPr anchor="t" rtlCol="false" tIns="0" lIns="0" bIns="0" rIns="0">
              <a:spAutoFit/>
            </a:bodyPr>
            <a:lstStyle/>
            <a:p>
              <a:pPr algn="l">
                <a:lnSpc>
                  <a:spcPts val="2702"/>
                </a:lnSpc>
              </a:pPr>
              <a:r>
                <a:rPr lang="en-US" b="true" sz="2252">
                  <a:solidFill>
                    <a:srgbClr val="FFFFFF"/>
                  </a:solidFill>
                  <a:latin typeface="Raleway 1 Bold"/>
                  <a:ea typeface="Raleway 1 Bold"/>
                  <a:cs typeface="Raleway 1 Bold"/>
                  <a:sym typeface="Raleway 1 Bold"/>
                </a:rPr>
                <a:t>OCTUBRE</a:t>
              </a:r>
            </a:p>
          </p:txBody>
        </p:sp>
        <p:sp>
          <p:nvSpPr>
            <p:cNvPr name="TextBox 8" id="8"/>
            <p:cNvSpPr txBox="true"/>
            <p:nvPr/>
          </p:nvSpPr>
          <p:spPr>
            <a:xfrm rot="0">
              <a:off x="1468453" y="585710"/>
              <a:ext cx="4066356" cy="565140"/>
            </a:xfrm>
            <a:prstGeom prst="rect">
              <a:avLst/>
            </a:prstGeom>
          </p:spPr>
          <p:txBody>
            <a:bodyPr anchor="t" rtlCol="false" tIns="0" lIns="0" bIns="0" rIns="0">
              <a:spAutoFit/>
            </a:bodyPr>
            <a:lstStyle/>
            <a:p>
              <a:pPr algn="l">
                <a:lnSpc>
                  <a:spcPts val="1130"/>
                </a:lnSpc>
              </a:pPr>
              <a:r>
                <a:rPr lang="en-US" sz="1097" b="true">
                  <a:solidFill>
                    <a:srgbClr val="FFFFFF"/>
                  </a:solidFill>
                  <a:latin typeface="Raleway 1 Bold"/>
                  <a:ea typeface="Raleway 1 Bold"/>
                  <a:cs typeface="Raleway 1 Bold"/>
                  <a:sym typeface="Raleway 1 Bold"/>
                </a:rPr>
                <a:t>Mes de </a:t>
              </a:r>
            </a:p>
            <a:p>
              <a:pPr algn="l">
                <a:lnSpc>
                  <a:spcPts val="2059"/>
                </a:lnSpc>
              </a:pPr>
              <a:r>
                <a:rPr lang="en-US" b="true" sz="1999">
                  <a:solidFill>
                    <a:srgbClr val="FFFFFF"/>
                  </a:solidFill>
                  <a:latin typeface="Raleway 1 Bold"/>
                  <a:ea typeface="Raleway 1 Bold"/>
                  <a:cs typeface="Raleway 1 Bold"/>
                  <a:sym typeface="Raleway 1 Bold"/>
                </a:rPr>
                <a:t>HAN SOLO</a:t>
              </a:r>
            </a:p>
          </p:txBody>
        </p:sp>
      </p:grpSp>
      <p:sp>
        <p:nvSpPr>
          <p:cNvPr name="TextBox 9" id="9"/>
          <p:cNvSpPr txBox="true"/>
          <p:nvPr/>
        </p:nvSpPr>
        <p:spPr>
          <a:xfrm rot="0">
            <a:off x="1258571" y="221658"/>
            <a:ext cx="15091730" cy="563680"/>
          </a:xfrm>
          <a:prstGeom prst="rect">
            <a:avLst/>
          </a:prstGeom>
        </p:spPr>
        <p:txBody>
          <a:bodyPr anchor="t" rtlCol="false" tIns="0" lIns="0" bIns="0" rIns="0">
            <a:spAutoFit/>
          </a:bodyPr>
          <a:lstStyle/>
          <a:p>
            <a:pPr algn="l">
              <a:lnSpc>
                <a:spcPts val="1760"/>
              </a:lnSpc>
            </a:pPr>
            <a:r>
              <a:rPr lang="en-US" sz="2000">
                <a:solidFill>
                  <a:srgbClr val="316CE3"/>
                </a:solidFill>
                <a:latin typeface="Gotham"/>
                <a:ea typeface="Gotham"/>
                <a:cs typeface="Gotham"/>
                <a:sym typeface="Gotham"/>
              </a:rPr>
              <a:t>HOY:</a:t>
            </a:r>
          </a:p>
          <a:p>
            <a:pPr algn="l">
              <a:lnSpc>
                <a:spcPts val="2528"/>
              </a:lnSpc>
            </a:pPr>
            <a:r>
              <a:rPr lang="en-US" sz="2873" b="true">
                <a:solidFill>
                  <a:srgbClr val="316CE3"/>
                </a:solidFill>
                <a:latin typeface="Gotham Bold"/>
                <a:ea typeface="Gotham Bold"/>
                <a:cs typeface="Gotham Bold"/>
                <a:sym typeface="Gotham Bold"/>
              </a:rPr>
              <a:t>Episodio II — El Ataque de los Graviton: Infraestructura y rendimiento</a:t>
            </a:r>
          </a:p>
        </p:txBody>
      </p:sp>
      <p:sp>
        <p:nvSpPr>
          <p:cNvPr id="10" name="Rounded Rectangle 9"/>
          <p:cNvSpPr/>
          <p:nvPr/>
        </p:nvSpPr>
        <p:spPr>
          <a:xfrm>
            <a:off x="914400" y="3200400"/>
            <a:ext cx="6949440" cy="3017520"/>
          </a:xfrm>
          <a:prstGeom prst="roundRect">
            <a:avLst>
              <a:gd name="adj" fmla="val 4000"/>
            </a:avLst>
          </a:prstGeom>
          <a:solidFill>
            <a:srgbClr val="1A2230"/>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rIns="274320" tIns="274320"/>
          <a:lstStyle/>
          <a:p>
            <a:pPr algn="l"/>
            <a:r>
              <a:rPr sz="1700">
                <a:solidFill>
                  <a:srgbClr val="D9E2EC"/>
                </a:solidFill>
                <a:latin typeface="Courier New"/>
              </a:rPr>
              <a:t>RA3  (lq3 sobre Parquet)</a:t>
            </a:r>
          </a:p>
          <a:p>
            <a:pPr algn="l"/>
            <a:r>
              <a:rPr sz="1700">
                <a:solidFill>
                  <a:srgbClr val="D9E2EC"/>
                </a:solidFill>
                <a:latin typeface="Courier New"/>
              </a:rPr>
              <a:t/>
            </a:r>
          </a:p>
          <a:p>
            <a:pPr algn="l"/>
            <a:r>
              <a:rPr sz="1700">
                <a:solidFill>
                  <a:srgbClr val="D9E2EC"/>
                </a:solidFill>
                <a:latin typeface="Courier New"/>
              </a:rPr>
              <a:t>XN Hash Join DS_BCAST_INNER</a:t>
            </a:r>
          </a:p>
          <a:p>
            <a:pPr algn="l"/>
            <a:r>
              <a:rPr sz="1700">
                <a:solidFill>
                  <a:srgbClr val="D9E2EC"/>
                </a:solidFill>
                <a:latin typeface="Courier New"/>
              </a:rPr>
              <a:t>  XN Hash Join DS_BCAST_INNER</a:t>
            </a:r>
          </a:p>
          <a:p>
            <a:pPr algn="l"/>
            <a:r>
              <a:rPr sz="1700">
                <a:solidFill>
                  <a:srgbClr val="D9E2EC"/>
                </a:solidFill>
                <a:latin typeface="Courier New"/>
              </a:rPr>
              <a:t>    XN S3 Query Scan ss</a:t>
            </a:r>
          </a:p>
          <a:p>
            <a:pPr algn="l"/>
            <a:r>
              <a:rPr sz="1700">
                <a:solidFill>
                  <a:srgbClr val="D9E2EC"/>
                </a:solidFill>
                <a:latin typeface="Courier New"/>
              </a:rPr>
              <a:t>      S3 Seq Scan pq.store_sales</a:t>
            </a:r>
          </a:p>
          <a:p>
            <a:pPr algn="l"/>
            <a:r>
              <a:rPr sz="1700">
                <a:solidFill>
                  <a:srgbClr val="D9E2EC"/>
                </a:solidFill>
                <a:latin typeface="Courier New"/>
              </a:rPr>
              <a:t>         rows=287997024</a:t>
            </a:r>
          </a:p>
        </p:txBody>
      </p:sp>
      <p:sp>
        <p:nvSpPr>
          <p:cNvPr id="11" name="Rounded Rectangle 10"/>
          <p:cNvSpPr/>
          <p:nvPr/>
        </p:nvSpPr>
        <p:spPr>
          <a:xfrm>
            <a:off x="8046720" y="3200400"/>
            <a:ext cx="6949440" cy="3017520"/>
          </a:xfrm>
          <a:prstGeom prst="roundRect">
            <a:avLst>
              <a:gd name="adj" fmla="val 4000"/>
            </a:avLst>
          </a:prstGeom>
          <a:solidFill>
            <a:srgbClr val="1A2230"/>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rIns="274320" tIns="274320"/>
          <a:lstStyle/>
          <a:p>
            <a:pPr algn="l"/>
            <a:r>
              <a:rPr sz="1700">
                <a:solidFill>
                  <a:srgbClr val="D9E2EC"/>
                </a:solidFill>
                <a:latin typeface="Courier New"/>
              </a:rPr>
              <a:t>RG  (lq3 sobre Parquet)</a:t>
            </a:r>
          </a:p>
          <a:p>
            <a:pPr algn="l"/>
            <a:r>
              <a:rPr sz="1700">
                <a:solidFill>
                  <a:srgbClr val="D9E2EC"/>
                </a:solidFill>
                <a:latin typeface="Courier New"/>
              </a:rPr>
              <a:t/>
            </a:r>
          </a:p>
          <a:p>
            <a:pPr algn="l"/>
            <a:r>
              <a:rPr sz="1700">
                <a:solidFill>
                  <a:srgbClr val="D9E2EC"/>
                </a:solidFill>
                <a:latin typeface="Courier New"/>
              </a:rPr>
              <a:t>XN Hash Join DS_BCAST_INNER</a:t>
            </a:r>
          </a:p>
          <a:p>
            <a:pPr algn="l"/>
            <a:r>
              <a:rPr sz="1700">
                <a:solidFill>
                  <a:srgbClr val="D9E2EC"/>
                </a:solidFill>
                <a:latin typeface="Courier New"/>
              </a:rPr>
              <a:t>  XN Hash Join DS_BCAST_INNER</a:t>
            </a:r>
          </a:p>
          <a:p>
            <a:pPr algn="l"/>
            <a:r>
              <a:rPr sz="1700">
                <a:solidFill>
                  <a:srgbClr val="D9E2EC"/>
                </a:solidFill>
                <a:latin typeface="Courier New"/>
              </a:rPr>
              <a:t>    XN Seq Scan pq.store_sales</a:t>
            </a:r>
          </a:p>
          <a:p>
            <a:pPr algn="l"/>
            <a:r>
              <a:rPr sz="1700">
                <a:solidFill>
                  <a:srgbClr val="D9E2EC"/>
                </a:solidFill>
                <a:latin typeface="Courier New"/>
              </a:rPr>
              <a:t>       format:PARQUET</a:t>
            </a:r>
          </a:p>
          <a:p>
            <a:pPr algn="l"/>
            <a:r>
              <a:rPr sz="1700">
                <a:solidFill>
                  <a:srgbClr val="D9E2EC"/>
                </a:solidFill>
                <a:latin typeface="Courier New"/>
              </a:rPr>
              <a:t>         rows=287997024</a:t>
            </a:r>
          </a:p>
        </p:txBody>
      </p:sp>
      <p:sp>
        <p:nvSpPr>
          <p:cNvPr id="12" name="TextBox 11"/>
          <p:cNvSpPr txBox="1"/>
          <p:nvPr/>
        </p:nvSpPr>
        <p:spPr>
          <a:xfrm>
            <a:off x="914400" y="6629400"/>
            <a:ext cx="13898880" cy="1188720"/>
          </a:xfrm>
          <a:prstGeom prst="rect">
            <a:avLst/>
          </a:prstGeom>
          <a:noFill/>
        </p:spPr>
        <p:txBody>
          <a:bodyPr wrap="square" anchor="t" lIns="0" rIns="0" tIns="0" bIns="0">
            <a:spAutoFit/>
          </a:bodyPr>
          <a:lstStyle/>
          <a:p>
            <a:pPr algn="l">
              <a:spcAft>
                <a:spcPts val="1000"/>
              </a:spcAft>
            </a:pPr>
            <a:r>
              <a:rPr sz="2400" b="0">
                <a:solidFill>
                  <a:srgbClr val="FFFFFF"/>
                </a:solidFill>
                <a:latin typeface="Arial"/>
              </a:rPr>
              <a:t>Mismos joins y mismas estimaciones de filas. </a:t>
            </a:r>
            <a:r>
              <a:rPr sz="2400" b="1">
                <a:solidFill>
                  <a:srgbClr val="FFFFFF"/>
                </a:solidFill>
                <a:latin typeface="Arial"/>
              </a:rPr>
              <a:t>Lo único que cambia es quién lee los datos de S3.</a:t>
            </a: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bg>
      <p:bgPr>
        <a:solidFill>
          <a:srgbClr val="232E3E"/>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txBody>
          <a:bodyPr/>
          <a:p/>
        </p:txBody>
      </p:sp>
      <p:sp>
        <p:nvSpPr>
          <p:cNvPr name="TextBox 3" id="3"/>
          <p:cNvSpPr txBox="true"/>
          <p:nvPr/>
        </p:nvSpPr>
        <p:spPr>
          <a:xfrm rot="0">
            <a:off x="3520440" y="868680"/>
            <a:ext cx="12070080" cy="1874519"/>
          </a:xfrm>
          <a:prstGeom prst="rect">
            <a:avLst/>
          </a:prstGeom>
        </p:spPr>
        <p:txBody>
          <a:bodyPr anchor="ctr" rtlCol="false" tIns="0" lIns="0" bIns="0" rIns="0" wrap="square">
            <a:spAutoFit/>
          </a:bodyPr>
          <a:lstStyle/>
          <a:p>
            <a:pPr algn="l" marL="0" indent="0" lvl="0">
              <a:lnSpc>
                <a:spcPts val="10481"/>
              </a:lnSpc>
              <a:spcBef>
                <a:spcPct val="0"/>
              </a:spcBef>
            </a:pPr>
            <a:r>
              <a:rPr lang="en-US" b="0" sz="5200">
                <a:solidFill>
                  <a:srgbClr val="FFFFFF"/>
                </a:solidFill>
                <a:latin typeface="Arial Black"/>
                <a:ea typeface="Arial Black"/>
                <a:cs typeface="Arial Black"/>
                <a:sym typeface="Arial Black"/>
              </a:rPr>
              <a:t>Demo: todos los resultados</a:t>
            </a:r>
          </a:p>
        </p:txBody>
      </p:sp>
      <p:sp>
        <p:nvSpPr>
          <p:cNvPr name="Freeform 4" id="4"/>
          <p:cNvSpPr/>
          <p:nvPr/>
        </p:nvSpPr>
        <p:spPr>
          <a:xfrm flipH="false" flipV="false" rot="0">
            <a:off x="536304" y="308054"/>
            <a:ext cx="650696" cy="409939"/>
          </a:xfrm>
          <a:custGeom>
            <a:avLst/>
            <a:gdLst/>
            <a:ahLst/>
            <a:cxnLst/>
            <a:rect r="r" b="b" t="t" l="l"/>
            <a:pathLst>
              <a:path h="409939" w="650696">
                <a:moveTo>
                  <a:pt x="0" y="0"/>
                </a:moveTo>
                <a:lnTo>
                  <a:pt x="650697" y="0"/>
                </a:lnTo>
                <a:lnTo>
                  <a:pt x="650697" y="409938"/>
                </a:lnTo>
                <a:lnTo>
                  <a:pt x="0" y="40993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219785" y="9070932"/>
            <a:ext cx="4151107" cy="986035"/>
            <a:chOff x="0" y="0"/>
            <a:chExt cx="5534810" cy="1314713"/>
          </a:xfrm>
        </p:grpSpPr>
        <p:sp>
          <p:nvSpPr>
            <p:cNvPr name="Freeform 6" id="6"/>
            <p:cNvSpPr/>
            <p:nvPr/>
          </p:nvSpPr>
          <p:spPr>
            <a:xfrm flipH="false" flipV="false" rot="0">
              <a:off x="0" y="0"/>
              <a:ext cx="1314713" cy="1314713"/>
            </a:xfrm>
            <a:custGeom>
              <a:avLst/>
              <a:gdLst/>
              <a:ahLst/>
              <a:cxnLst/>
              <a:rect r="r" b="b" t="t" l="l"/>
              <a:pathLst>
                <a:path h="1314713" w="1314713">
                  <a:moveTo>
                    <a:pt x="0" y="0"/>
                  </a:moveTo>
                  <a:lnTo>
                    <a:pt x="1314713" y="0"/>
                  </a:lnTo>
                  <a:lnTo>
                    <a:pt x="1314713" y="1314713"/>
                  </a:lnTo>
                  <a:lnTo>
                    <a:pt x="0" y="131471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7" id="7"/>
            <p:cNvSpPr txBox="true"/>
            <p:nvPr/>
          </p:nvSpPr>
          <p:spPr>
            <a:xfrm rot="0">
              <a:off x="1455753" y="151974"/>
              <a:ext cx="3148240" cy="462308"/>
            </a:xfrm>
            <a:prstGeom prst="rect">
              <a:avLst/>
            </a:prstGeom>
          </p:spPr>
          <p:txBody>
            <a:bodyPr anchor="t" rtlCol="false" tIns="0" lIns="0" bIns="0" rIns="0">
              <a:spAutoFit/>
            </a:bodyPr>
            <a:lstStyle/>
            <a:p>
              <a:pPr algn="l">
                <a:lnSpc>
                  <a:spcPts val="2702"/>
                </a:lnSpc>
              </a:pPr>
              <a:r>
                <a:rPr lang="en-US" b="true" sz="2252">
                  <a:solidFill>
                    <a:srgbClr val="FFFFFF"/>
                  </a:solidFill>
                  <a:latin typeface="Raleway 1 Bold"/>
                  <a:ea typeface="Raleway 1 Bold"/>
                  <a:cs typeface="Raleway 1 Bold"/>
                  <a:sym typeface="Raleway 1 Bold"/>
                </a:rPr>
                <a:t>OCTUBRE</a:t>
              </a:r>
            </a:p>
          </p:txBody>
        </p:sp>
        <p:sp>
          <p:nvSpPr>
            <p:cNvPr name="TextBox 8" id="8"/>
            <p:cNvSpPr txBox="true"/>
            <p:nvPr/>
          </p:nvSpPr>
          <p:spPr>
            <a:xfrm rot="0">
              <a:off x="1468453" y="585710"/>
              <a:ext cx="4066356" cy="565140"/>
            </a:xfrm>
            <a:prstGeom prst="rect">
              <a:avLst/>
            </a:prstGeom>
          </p:spPr>
          <p:txBody>
            <a:bodyPr anchor="t" rtlCol="false" tIns="0" lIns="0" bIns="0" rIns="0">
              <a:spAutoFit/>
            </a:bodyPr>
            <a:lstStyle/>
            <a:p>
              <a:pPr algn="l">
                <a:lnSpc>
                  <a:spcPts val="1130"/>
                </a:lnSpc>
              </a:pPr>
              <a:r>
                <a:rPr lang="en-US" sz="1097" b="true">
                  <a:solidFill>
                    <a:srgbClr val="FFFFFF"/>
                  </a:solidFill>
                  <a:latin typeface="Raleway 1 Bold"/>
                  <a:ea typeface="Raleway 1 Bold"/>
                  <a:cs typeface="Raleway 1 Bold"/>
                  <a:sym typeface="Raleway 1 Bold"/>
                </a:rPr>
                <a:t>Mes de </a:t>
              </a:r>
            </a:p>
            <a:p>
              <a:pPr algn="l">
                <a:lnSpc>
                  <a:spcPts val="2059"/>
                </a:lnSpc>
              </a:pPr>
              <a:r>
                <a:rPr lang="en-US" b="true" sz="1999">
                  <a:solidFill>
                    <a:srgbClr val="FFFFFF"/>
                  </a:solidFill>
                  <a:latin typeface="Raleway 1 Bold"/>
                  <a:ea typeface="Raleway 1 Bold"/>
                  <a:cs typeface="Raleway 1 Bold"/>
                  <a:sym typeface="Raleway 1 Bold"/>
                </a:rPr>
                <a:t>HAN SOLO</a:t>
              </a:r>
            </a:p>
          </p:txBody>
        </p:sp>
      </p:grpSp>
      <p:sp>
        <p:nvSpPr>
          <p:cNvPr name="TextBox 9" id="9"/>
          <p:cNvSpPr txBox="true"/>
          <p:nvPr/>
        </p:nvSpPr>
        <p:spPr>
          <a:xfrm rot="0">
            <a:off x="1258571" y="221658"/>
            <a:ext cx="15091730" cy="563680"/>
          </a:xfrm>
          <a:prstGeom prst="rect">
            <a:avLst/>
          </a:prstGeom>
        </p:spPr>
        <p:txBody>
          <a:bodyPr anchor="t" rtlCol="false" tIns="0" lIns="0" bIns="0" rIns="0">
            <a:spAutoFit/>
          </a:bodyPr>
          <a:lstStyle/>
          <a:p>
            <a:pPr algn="l">
              <a:lnSpc>
                <a:spcPts val="1760"/>
              </a:lnSpc>
            </a:pPr>
            <a:r>
              <a:rPr lang="en-US" sz="2000">
                <a:solidFill>
                  <a:srgbClr val="316CE3"/>
                </a:solidFill>
                <a:latin typeface="Gotham"/>
                <a:ea typeface="Gotham"/>
                <a:cs typeface="Gotham"/>
                <a:sym typeface="Gotham"/>
              </a:rPr>
              <a:t>HOY:</a:t>
            </a:r>
          </a:p>
          <a:p>
            <a:pPr algn="l">
              <a:lnSpc>
                <a:spcPts val="2528"/>
              </a:lnSpc>
            </a:pPr>
            <a:r>
              <a:rPr lang="en-US" sz="2873" b="true">
                <a:solidFill>
                  <a:srgbClr val="316CE3"/>
                </a:solidFill>
                <a:latin typeface="Gotham Bold"/>
                <a:ea typeface="Gotham Bold"/>
                <a:cs typeface="Gotham Bold"/>
                <a:sym typeface="Gotham Bold"/>
              </a:rPr>
              <a:t>Episodio II — El Ataque de los Graviton: Infraestructura y rendimiento</a:t>
            </a:r>
          </a:p>
        </p:txBody>
      </p:sp>
      <p:pic>
        <p:nvPicPr>
          <p:cNvPr id="10" name="Picture 9" descr="resultados-captura.png"/>
          <p:cNvPicPr>
            <a:picLocks noChangeAspect="1"/>
          </p:cNvPicPr>
          <p:nvPr/>
        </p:nvPicPr>
        <p:blipFill>
          <a:blip r:embed="rId7"/>
          <a:stretch>
            <a:fillRect/>
          </a:stretch>
        </p:blipFill>
        <p:spPr>
          <a:xfrm>
            <a:off x="1389888" y="3337560"/>
            <a:ext cx="8193023" cy="5120640"/>
          </a:xfrm>
          <a:prstGeom prst="rect">
            <a:avLst/>
          </a:prstGeom>
        </p:spPr>
      </p:pic>
      <p:sp>
        <p:nvSpPr>
          <p:cNvPr id="11" name="TextBox 10"/>
          <p:cNvSpPr txBox="1"/>
          <p:nvPr/>
        </p:nvSpPr>
        <p:spPr>
          <a:xfrm>
            <a:off x="10607040" y="3383280"/>
            <a:ext cx="4389119" cy="4937760"/>
          </a:xfrm>
          <a:prstGeom prst="rect">
            <a:avLst/>
          </a:prstGeom>
          <a:noFill/>
        </p:spPr>
        <p:txBody>
          <a:bodyPr wrap="square" anchor="t" lIns="0" rIns="0" tIns="0" bIns="0">
            <a:spAutoFit/>
          </a:bodyPr>
          <a:lstStyle/>
          <a:p>
            <a:pPr algn="l">
              <a:spcAft>
                <a:spcPts val="1600"/>
              </a:spcAft>
            </a:pPr>
            <a:r>
              <a:rPr sz="2300" b="0">
                <a:solidFill>
                  <a:srgbClr val="D9E2EC"/>
                </a:solidFill>
                <a:latin typeface="Arial"/>
              </a:rPr>
              <a:t>Una página con todos los números de la charla:</a:t>
            </a:r>
          </a:p>
          <a:p>
            <a:pPr algn="l">
              <a:spcAft>
                <a:spcPts val="1600"/>
              </a:spcAft>
            </a:pPr>
            <a:r>
              <a:rPr sz="2300" b="0">
                <a:solidFill>
                  <a:srgbClr val="D9E2EC"/>
                </a:solidFill>
                <a:latin typeface="Arial"/>
              </a:rPr>
              <a:t>Cuánto mejoró RG en cada consulta</a:t>
            </a:r>
          </a:p>
          <a:p>
            <a:pPr algn="l">
              <a:spcAft>
                <a:spcPts val="1600"/>
              </a:spcAft>
            </a:pPr>
            <a:r>
              <a:rPr sz="2300" b="0">
                <a:solidFill>
                  <a:srgbClr val="D9E2EC"/>
                </a:solidFill>
                <a:latin typeface="Arial"/>
              </a:rPr>
              <a:t>El data lake antes y después de reescribir los archivos Parquet</a:t>
            </a:r>
          </a:p>
          <a:p>
            <a:pPr algn="l">
              <a:spcAft>
                <a:spcPts val="1600"/>
              </a:spcAft>
            </a:pPr>
            <a:r>
              <a:rPr sz="2300" b="0">
                <a:solidFill>
                  <a:srgbClr val="D9E2EC"/>
                </a:solidFill>
                <a:latin typeface="Arial"/>
              </a:rPr>
              <a:t>La línea de tiempo de la migración</a:t>
            </a: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bg>
      <p:bgPr>
        <a:solidFill>
          <a:srgbClr val="232E3E"/>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txBody>
          <a:bodyPr/>
          <a:p/>
        </p:txBody>
      </p:sp>
      <p:sp>
        <p:nvSpPr>
          <p:cNvPr name="TextBox 3" id="3"/>
          <p:cNvSpPr txBox="true"/>
          <p:nvPr/>
        </p:nvSpPr>
        <p:spPr>
          <a:xfrm rot="0">
            <a:off x="3520440" y="868680"/>
            <a:ext cx="12070080" cy="1874519"/>
          </a:xfrm>
          <a:prstGeom prst="rect">
            <a:avLst/>
          </a:prstGeom>
        </p:spPr>
        <p:txBody>
          <a:bodyPr anchor="ctr" rtlCol="false" tIns="0" lIns="0" bIns="0" rIns="0" wrap="square">
            <a:spAutoFit/>
          </a:bodyPr>
          <a:lstStyle/>
          <a:p>
            <a:pPr algn="l" marL="0" indent="0" lvl="0">
              <a:lnSpc>
                <a:spcPts val="10481"/>
              </a:lnSpc>
              <a:spcBef>
                <a:spcPct val="0"/>
              </a:spcBef>
            </a:pPr>
            <a:r>
              <a:rPr lang="en-US" b="0" sz="5400">
                <a:solidFill>
                  <a:srgbClr val="FFFFFF"/>
                </a:solidFill>
                <a:latin typeface="Arial Black"/>
                <a:ea typeface="Arial Black"/>
                <a:cs typeface="Arial Black"/>
                <a:sym typeface="Arial Black"/>
              </a:rPr>
              <a:t>¿Migrar o no migrar?</a:t>
            </a:r>
          </a:p>
        </p:txBody>
      </p:sp>
      <p:sp>
        <p:nvSpPr>
          <p:cNvPr name="Freeform 4" id="4"/>
          <p:cNvSpPr/>
          <p:nvPr/>
        </p:nvSpPr>
        <p:spPr>
          <a:xfrm flipH="false" flipV="false" rot="0">
            <a:off x="536304" y="308054"/>
            <a:ext cx="650696" cy="409939"/>
          </a:xfrm>
          <a:custGeom>
            <a:avLst/>
            <a:gdLst/>
            <a:ahLst/>
            <a:cxnLst/>
            <a:rect r="r" b="b" t="t" l="l"/>
            <a:pathLst>
              <a:path h="409939" w="650696">
                <a:moveTo>
                  <a:pt x="0" y="0"/>
                </a:moveTo>
                <a:lnTo>
                  <a:pt x="650697" y="0"/>
                </a:lnTo>
                <a:lnTo>
                  <a:pt x="650697" y="409938"/>
                </a:lnTo>
                <a:lnTo>
                  <a:pt x="0" y="40993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219785" y="9070932"/>
            <a:ext cx="4151107" cy="986035"/>
            <a:chOff x="0" y="0"/>
            <a:chExt cx="5534810" cy="1314713"/>
          </a:xfrm>
        </p:grpSpPr>
        <p:sp>
          <p:nvSpPr>
            <p:cNvPr name="Freeform 6" id="6"/>
            <p:cNvSpPr/>
            <p:nvPr/>
          </p:nvSpPr>
          <p:spPr>
            <a:xfrm flipH="false" flipV="false" rot="0">
              <a:off x="0" y="0"/>
              <a:ext cx="1314713" cy="1314713"/>
            </a:xfrm>
            <a:custGeom>
              <a:avLst/>
              <a:gdLst/>
              <a:ahLst/>
              <a:cxnLst/>
              <a:rect r="r" b="b" t="t" l="l"/>
              <a:pathLst>
                <a:path h="1314713" w="1314713">
                  <a:moveTo>
                    <a:pt x="0" y="0"/>
                  </a:moveTo>
                  <a:lnTo>
                    <a:pt x="1314713" y="0"/>
                  </a:lnTo>
                  <a:lnTo>
                    <a:pt x="1314713" y="1314713"/>
                  </a:lnTo>
                  <a:lnTo>
                    <a:pt x="0" y="131471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7" id="7"/>
            <p:cNvSpPr txBox="true"/>
            <p:nvPr/>
          </p:nvSpPr>
          <p:spPr>
            <a:xfrm rot="0">
              <a:off x="1455753" y="151974"/>
              <a:ext cx="3148240" cy="462308"/>
            </a:xfrm>
            <a:prstGeom prst="rect">
              <a:avLst/>
            </a:prstGeom>
          </p:spPr>
          <p:txBody>
            <a:bodyPr anchor="t" rtlCol="false" tIns="0" lIns="0" bIns="0" rIns="0">
              <a:spAutoFit/>
            </a:bodyPr>
            <a:lstStyle/>
            <a:p>
              <a:pPr algn="l">
                <a:lnSpc>
                  <a:spcPts val="2702"/>
                </a:lnSpc>
              </a:pPr>
              <a:r>
                <a:rPr lang="en-US" b="true" sz="2252">
                  <a:solidFill>
                    <a:srgbClr val="FFFFFF"/>
                  </a:solidFill>
                  <a:latin typeface="Raleway 1 Bold"/>
                  <a:ea typeface="Raleway 1 Bold"/>
                  <a:cs typeface="Raleway 1 Bold"/>
                  <a:sym typeface="Raleway 1 Bold"/>
                </a:rPr>
                <a:t>OCTUBRE</a:t>
              </a:r>
            </a:p>
          </p:txBody>
        </p:sp>
        <p:sp>
          <p:nvSpPr>
            <p:cNvPr name="TextBox 8" id="8"/>
            <p:cNvSpPr txBox="true"/>
            <p:nvPr/>
          </p:nvSpPr>
          <p:spPr>
            <a:xfrm rot="0">
              <a:off x="1468453" y="585710"/>
              <a:ext cx="4066356" cy="565140"/>
            </a:xfrm>
            <a:prstGeom prst="rect">
              <a:avLst/>
            </a:prstGeom>
          </p:spPr>
          <p:txBody>
            <a:bodyPr anchor="t" rtlCol="false" tIns="0" lIns="0" bIns="0" rIns="0">
              <a:spAutoFit/>
            </a:bodyPr>
            <a:lstStyle/>
            <a:p>
              <a:pPr algn="l">
                <a:lnSpc>
                  <a:spcPts val="1130"/>
                </a:lnSpc>
              </a:pPr>
              <a:r>
                <a:rPr lang="en-US" sz="1097" b="true">
                  <a:solidFill>
                    <a:srgbClr val="FFFFFF"/>
                  </a:solidFill>
                  <a:latin typeface="Raleway 1 Bold"/>
                  <a:ea typeface="Raleway 1 Bold"/>
                  <a:cs typeface="Raleway 1 Bold"/>
                  <a:sym typeface="Raleway 1 Bold"/>
                </a:rPr>
                <a:t>Mes de </a:t>
              </a:r>
            </a:p>
            <a:p>
              <a:pPr algn="l">
                <a:lnSpc>
                  <a:spcPts val="2059"/>
                </a:lnSpc>
              </a:pPr>
              <a:r>
                <a:rPr lang="en-US" b="true" sz="1999">
                  <a:solidFill>
                    <a:srgbClr val="FFFFFF"/>
                  </a:solidFill>
                  <a:latin typeface="Raleway 1 Bold"/>
                  <a:ea typeface="Raleway 1 Bold"/>
                  <a:cs typeface="Raleway 1 Bold"/>
                  <a:sym typeface="Raleway 1 Bold"/>
                </a:rPr>
                <a:t>HAN SOLO</a:t>
              </a:r>
            </a:p>
          </p:txBody>
        </p:sp>
      </p:grpSp>
      <p:sp>
        <p:nvSpPr>
          <p:cNvPr name="TextBox 9" id="9"/>
          <p:cNvSpPr txBox="true"/>
          <p:nvPr/>
        </p:nvSpPr>
        <p:spPr>
          <a:xfrm rot="0">
            <a:off x="1258571" y="221658"/>
            <a:ext cx="15091730" cy="563680"/>
          </a:xfrm>
          <a:prstGeom prst="rect">
            <a:avLst/>
          </a:prstGeom>
        </p:spPr>
        <p:txBody>
          <a:bodyPr anchor="t" rtlCol="false" tIns="0" lIns="0" bIns="0" rIns="0">
            <a:spAutoFit/>
          </a:bodyPr>
          <a:lstStyle/>
          <a:p>
            <a:pPr algn="l">
              <a:lnSpc>
                <a:spcPts val="1760"/>
              </a:lnSpc>
            </a:pPr>
            <a:r>
              <a:rPr lang="en-US" sz="2000">
                <a:solidFill>
                  <a:srgbClr val="316CE3"/>
                </a:solidFill>
                <a:latin typeface="Gotham"/>
                <a:ea typeface="Gotham"/>
                <a:cs typeface="Gotham"/>
                <a:sym typeface="Gotham"/>
              </a:rPr>
              <a:t>HOY:</a:t>
            </a:r>
          </a:p>
          <a:p>
            <a:pPr algn="l">
              <a:lnSpc>
                <a:spcPts val="2528"/>
              </a:lnSpc>
            </a:pPr>
            <a:r>
              <a:rPr lang="en-US" sz="2873" b="true">
                <a:solidFill>
                  <a:srgbClr val="316CE3"/>
                </a:solidFill>
                <a:latin typeface="Gotham Bold"/>
                <a:ea typeface="Gotham Bold"/>
                <a:cs typeface="Gotham Bold"/>
                <a:sym typeface="Gotham Bold"/>
              </a:rPr>
              <a:t>Episodio II — El Ataque de los Graviton: Infraestructura y rendimiento</a:t>
            </a:r>
          </a:p>
        </p:txBody>
      </p:sp>
      <p:sp>
        <p:nvSpPr>
          <p:cNvPr id="10" name="Rounded Rectangle 9"/>
          <p:cNvSpPr/>
          <p:nvPr/>
        </p:nvSpPr>
        <p:spPr>
          <a:xfrm>
            <a:off x="914400" y="3200400"/>
            <a:ext cx="4480560" cy="4023360"/>
          </a:xfrm>
          <a:prstGeom prst="roundRect">
            <a:avLst>
              <a:gd name="adj" fmla="val 8000"/>
            </a:avLst>
          </a:prstGeom>
          <a:solidFill>
            <a:srgbClr val="2F3D5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228600" bIns="228600"/>
          <a:lstStyle/>
          <a:p>
            <a:pPr algn="ctr">
              <a:spcAft>
                <a:spcPts val="800"/>
              </a:spcAft>
            </a:pPr>
            <a:r>
              <a:rPr sz="3000" b="1">
                <a:solidFill>
                  <a:srgbClr val="316CE3"/>
                </a:solidFill>
                <a:latin typeface="Arial"/>
              </a:rPr>
              <a:t>Migra si</a:t>
            </a:r>
          </a:p>
          <a:p>
            <a:pPr>
              <a:spcAft>
                <a:spcPts val="600"/>
              </a:spcAft>
            </a:pPr>
            <a:r>
              <a:rPr sz="2100" b="0">
                <a:solidFill>
                  <a:srgbClr val="D9E2EC"/>
                </a:solidFill>
                <a:latin typeface="Arial"/>
              </a:rPr>
              <a:t>• Tus consultas leen y agregan muchos datos (dashboards, reportes)</a:t>
            </a:r>
          </a:p>
          <a:p>
            <a:pPr>
              <a:spcAft>
                <a:spcPts val="600"/>
              </a:spcAft>
            </a:pPr>
            <a:r>
              <a:rPr sz="2100" b="0">
                <a:solidFill>
                  <a:srgbClr val="D9E2EC"/>
                </a:solidFill>
                <a:latin typeface="Arial"/>
              </a:rPr>
              <a:t>• Consultas seguido el data lake</a:t>
            </a:r>
          </a:p>
          <a:p>
            <a:pPr>
              <a:spcAft>
                <a:spcPts val="600"/>
              </a:spcAft>
            </a:pPr>
            <a:r>
              <a:rPr sz="2100" b="0">
                <a:solidFill>
                  <a:srgbClr val="D9E2EC"/>
                </a:solidFill>
                <a:latin typeface="Arial"/>
              </a:rPr>
              <a:t>• Usas xlplus o 4xlarge: pagas 30 % menos por vCPU</a:t>
            </a:r>
          </a:p>
        </p:txBody>
      </p:sp>
      <p:sp>
        <p:nvSpPr>
          <p:cNvPr id="11" name="Rounded Rectangle 10"/>
          <p:cNvSpPr/>
          <p:nvPr/>
        </p:nvSpPr>
        <p:spPr>
          <a:xfrm>
            <a:off x="5669280" y="3200400"/>
            <a:ext cx="4480560" cy="4023360"/>
          </a:xfrm>
          <a:prstGeom prst="roundRect">
            <a:avLst>
              <a:gd name="adj" fmla="val 8000"/>
            </a:avLst>
          </a:prstGeom>
          <a:solidFill>
            <a:srgbClr val="2F3D5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228600" bIns="228600"/>
          <a:lstStyle/>
          <a:p>
            <a:pPr algn="ctr">
              <a:spcAft>
                <a:spcPts val="800"/>
              </a:spcAft>
            </a:pPr>
            <a:r>
              <a:rPr sz="3000" b="1">
                <a:solidFill>
                  <a:srgbClr val="F2A65A"/>
                </a:solidFill>
                <a:latin typeface="Arial"/>
              </a:rPr>
              <a:t>Prueba antes si</a:t>
            </a:r>
          </a:p>
          <a:p>
            <a:pPr>
              <a:spcAft>
                <a:spcPts val="600"/>
              </a:spcAft>
            </a:pPr>
            <a:r>
              <a:rPr sz="2100" b="0">
                <a:solidFill>
                  <a:srgbClr val="D9E2EC"/>
                </a:solidFill>
                <a:latin typeface="Arial"/>
              </a:rPr>
              <a:t>• Tus consultas son de cálculo pesado (ventanas, joins grandes)</a:t>
            </a:r>
          </a:p>
          <a:p>
            <a:pPr>
              <a:spcAft>
                <a:spcPts val="600"/>
              </a:spcAft>
            </a:pPr>
            <a:r>
              <a:rPr sz="2100" b="0">
                <a:solidFill>
                  <a:srgbClr val="D9E2EC"/>
                </a:solidFill>
                <a:latin typeface="Arial"/>
              </a:rPr>
              <a:t>• Tu data lake está en Parquet con archivos grandes</a:t>
            </a:r>
          </a:p>
          <a:p>
            <a:pPr>
              <a:spcAft>
                <a:spcPts val="600"/>
              </a:spcAft>
            </a:pPr>
            <a:r>
              <a:rPr sz="2100" b="0">
                <a:solidFill>
                  <a:srgbClr val="D9E2EC"/>
                </a:solidFill>
                <a:latin typeface="Arial"/>
              </a:rPr>
              <a:t>• Quieres usar S3 Tables con usuarios de base de datos</a:t>
            </a:r>
          </a:p>
        </p:txBody>
      </p:sp>
      <p:sp>
        <p:nvSpPr>
          <p:cNvPr id="12" name="Rounded Rectangle 11"/>
          <p:cNvSpPr/>
          <p:nvPr/>
        </p:nvSpPr>
        <p:spPr>
          <a:xfrm>
            <a:off x="10424160" y="3200400"/>
            <a:ext cx="4480560" cy="4023360"/>
          </a:xfrm>
          <a:prstGeom prst="roundRect">
            <a:avLst>
              <a:gd name="adj" fmla="val 8000"/>
            </a:avLst>
          </a:prstGeom>
          <a:solidFill>
            <a:srgbClr val="2F3D5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228600" bIns="228600"/>
          <a:lstStyle/>
          <a:p>
            <a:pPr algn="ctr">
              <a:spcAft>
                <a:spcPts val="800"/>
              </a:spcAft>
            </a:pPr>
            <a:r>
              <a:rPr sz="3000" b="1">
                <a:solidFill>
                  <a:srgbClr val="8FA3B8"/>
                </a:solidFill>
                <a:latin typeface="Arial"/>
              </a:rPr>
              <a:t>Mira Serverless si</a:t>
            </a:r>
          </a:p>
          <a:p>
            <a:pPr>
              <a:spcAft>
                <a:spcPts val="600"/>
              </a:spcAft>
            </a:pPr>
            <a:r>
              <a:rPr sz="2100" b="0">
                <a:solidFill>
                  <a:srgbClr val="D9E2EC"/>
                </a:solidFill>
                <a:latin typeface="Arial"/>
              </a:rPr>
              <a:t>• Usas Redshift solo a ratos</a:t>
            </a:r>
          </a:p>
          <a:p>
            <a:pPr>
              <a:spcAft>
                <a:spcPts val="600"/>
              </a:spcAft>
            </a:pPr>
            <a:r>
              <a:rPr sz="2100" b="0">
                <a:solidFill>
                  <a:srgbClr val="D9E2EC"/>
                </a:solidFill>
                <a:latin typeface="Arial"/>
              </a:rPr>
              <a:t>• No quieres administrar un clúster</a:t>
            </a:r>
          </a:p>
          <a:p>
            <a:pPr>
              <a:spcAft>
                <a:spcPts val="600"/>
              </a:spcAft>
            </a:pPr>
            <a:r>
              <a:rPr sz="2100" b="0">
                <a:solidFill>
                  <a:srgbClr val="D9E2EC"/>
                </a:solidFill>
                <a:latin typeface="Arial"/>
              </a:rPr>
              <a:t>• A 4 RPU fue 3 veces más lento que RG: dale más capacidad</a:t>
            </a:r>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bg>
      <p:bgPr>
        <a:solidFill>
          <a:srgbClr val="232E3E"/>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txBody>
          <a:bodyPr/>
          <a:p/>
        </p:txBody>
      </p:sp>
      <p:sp>
        <p:nvSpPr>
          <p:cNvPr name="TextBox 3" id="3"/>
          <p:cNvSpPr txBox="true"/>
          <p:nvPr/>
        </p:nvSpPr>
        <p:spPr>
          <a:xfrm rot="0">
            <a:off x="3520440" y="868680"/>
            <a:ext cx="12070080" cy="1874519"/>
          </a:xfrm>
          <a:prstGeom prst="rect">
            <a:avLst/>
          </a:prstGeom>
        </p:spPr>
        <p:txBody>
          <a:bodyPr anchor="ctr" rtlCol="false" tIns="0" lIns="0" bIns="0" rIns="0" wrap="square">
            <a:spAutoFit/>
          </a:bodyPr>
          <a:lstStyle/>
          <a:p>
            <a:pPr algn="l" marL="0" indent="0" lvl="0">
              <a:lnSpc>
                <a:spcPts val="10481"/>
              </a:lnSpc>
              <a:spcBef>
                <a:spcPct val="0"/>
              </a:spcBef>
            </a:pPr>
            <a:r>
              <a:rPr lang="en-US" b="0" sz="5400">
                <a:solidFill>
                  <a:srgbClr val="FFFFFF"/>
                </a:solidFill>
                <a:latin typeface="Arial Black"/>
                <a:ea typeface="Arial Black"/>
                <a:cs typeface="Arial Black"/>
                <a:sym typeface="Arial Black"/>
              </a:rPr>
              <a:t>Llévate el laboratorio</a:t>
            </a:r>
          </a:p>
        </p:txBody>
      </p:sp>
      <p:sp>
        <p:nvSpPr>
          <p:cNvPr name="Freeform 4" id="4"/>
          <p:cNvSpPr/>
          <p:nvPr/>
        </p:nvSpPr>
        <p:spPr>
          <a:xfrm flipH="false" flipV="false" rot="0">
            <a:off x="536304" y="308054"/>
            <a:ext cx="650696" cy="409939"/>
          </a:xfrm>
          <a:custGeom>
            <a:avLst/>
            <a:gdLst/>
            <a:ahLst/>
            <a:cxnLst/>
            <a:rect r="r" b="b" t="t" l="l"/>
            <a:pathLst>
              <a:path h="409939" w="650696">
                <a:moveTo>
                  <a:pt x="0" y="0"/>
                </a:moveTo>
                <a:lnTo>
                  <a:pt x="650697" y="0"/>
                </a:lnTo>
                <a:lnTo>
                  <a:pt x="650697" y="409938"/>
                </a:lnTo>
                <a:lnTo>
                  <a:pt x="0" y="40993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219785" y="9070932"/>
            <a:ext cx="4151107" cy="986035"/>
            <a:chOff x="0" y="0"/>
            <a:chExt cx="5534810" cy="1314713"/>
          </a:xfrm>
        </p:grpSpPr>
        <p:sp>
          <p:nvSpPr>
            <p:cNvPr name="Freeform 6" id="6"/>
            <p:cNvSpPr/>
            <p:nvPr/>
          </p:nvSpPr>
          <p:spPr>
            <a:xfrm flipH="false" flipV="false" rot="0">
              <a:off x="0" y="0"/>
              <a:ext cx="1314713" cy="1314713"/>
            </a:xfrm>
            <a:custGeom>
              <a:avLst/>
              <a:gdLst/>
              <a:ahLst/>
              <a:cxnLst/>
              <a:rect r="r" b="b" t="t" l="l"/>
              <a:pathLst>
                <a:path h="1314713" w="1314713">
                  <a:moveTo>
                    <a:pt x="0" y="0"/>
                  </a:moveTo>
                  <a:lnTo>
                    <a:pt x="1314713" y="0"/>
                  </a:lnTo>
                  <a:lnTo>
                    <a:pt x="1314713" y="1314713"/>
                  </a:lnTo>
                  <a:lnTo>
                    <a:pt x="0" y="131471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7" id="7"/>
            <p:cNvSpPr txBox="true"/>
            <p:nvPr/>
          </p:nvSpPr>
          <p:spPr>
            <a:xfrm rot="0">
              <a:off x="1455753" y="151974"/>
              <a:ext cx="3148240" cy="462308"/>
            </a:xfrm>
            <a:prstGeom prst="rect">
              <a:avLst/>
            </a:prstGeom>
          </p:spPr>
          <p:txBody>
            <a:bodyPr anchor="t" rtlCol="false" tIns="0" lIns="0" bIns="0" rIns="0">
              <a:spAutoFit/>
            </a:bodyPr>
            <a:lstStyle/>
            <a:p>
              <a:pPr algn="l">
                <a:lnSpc>
                  <a:spcPts val="2702"/>
                </a:lnSpc>
              </a:pPr>
              <a:r>
                <a:rPr lang="en-US" b="true" sz="2252">
                  <a:solidFill>
                    <a:srgbClr val="FFFFFF"/>
                  </a:solidFill>
                  <a:latin typeface="Raleway 1 Bold"/>
                  <a:ea typeface="Raleway 1 Bold"/>
                  <a:cs typeface="Raleway 1 Bold"/>
                  <a:sym typeface="Raleway 1 Bold"/>
                </a:rPr>
                <a:t>OCTUBRE</a:t>
              </a:r>
            </a:p>
          </p:txBody>
        </p:sp>
        <p:sp>
          <p:nvSpPr>
            <p:cNvPr name="TextBox 8" id="8"/>
            <p:cNvSpPr txBox="true"/>
            <p:nvPr/>
          </p:nvSpPr>
          <p:spPr>
            <a:xfrm rot="0">
              <a:off x="1468453" y="585710"/>
              <a:ext cx="4066356" cy="565140"/>
            </a:xfrm>
            <a:prstGeom prst="rect">
              <a:avLst/>
            </a:prstGeom>
          </p:spPr>
          <p:txBody>
            <a:bodyPr anchor="t" rtlCol="false" tIns="0" lIns="0" bIns="0" rIns="0">
              <a:spAutoFit/>
            </a:bodyPr>
            <a:lstStyle/>
            <a:p>
              <a:pPr algn="l">
                <a:lnSpc>
                  <a:spcPts val="1130"/>
                </a:lnSpc>
              </a:pPr>
              <a:r>
                <a:rPr lang="en-US" sz="1097" b="true">
                  <a:solidFill>
                    <a:srgbClr val="FFFFFF"/>
                  </a:solidFill>
                  <a:latin typeface="Raleway 1 Bold"/>
                  <a:ea typeface="Raleway 1 Bold"/>
                  <a:cs typeface="Raleway 1 Bold"/>
                  <a:sym typeface="Raleway 1 Bold"/>
                </a:rPr>
                <a:t>Mes de </a:t>
              </a:r>
            </a:p>
            <a:p>
              <a:pPr algn="l">
                <a:lnSpc>
                  <a:spcPts val="2059"/>
                </a:lnSpc>
              </a:pPr>
              <a:r>
                <a:rPr lang="en-US" b="true" sz="1999">
                  <a:solidFill>
                    <a:srgbClr val="FFFFFF"/>
                  </a:solidFill>
                  <a:latin typeface="Raleway 1 Bold"/>
                  <a:ea typeface="Raleway 1 Bold"/>
                  <a:cs typeface="Raleway 1 Bold"/>
                  <a:sym typeface="Raleway 1 Bold"/>
                </a:rPr>
                <a:t>HAN SOLO</a:t>
              </a:r>
            </a:p>
          </p:txBody>
        </p:sp>
      </p:grpSp>
      <p:sp>
        <p:nvSpPr>
          <p:cNvPr name="TextBox 9" id="9"/>
          <p:cNvSpPr txBox="true"/>
          <p:nvPr/>
        </p:nvSpPr>
        <p:spPr>
          <a:xfrm rot="0">
            <a:off x="1258571" y="221658"/>
            <a:ext cx="15091730" cy="563680"/>
          </a:xfrm>
          <a:prstGeom prst="rect">
            <a:avLst/>
          </a:prstGeom>
        </p:spPr>
        <p:txBody>
          <a:bodyPr anchor="t" rtlCol="false" tIns="0" lIns="0" bIns="0" rIns="0">
            <a:spAutoFit/>
          </a:bodyPr>
          <a:lstStyle/>
          <a:p>
            <a:pPr algn="l">
              <a:lnSpc>
                <a:spcPts val="1760"/>
              </a:lnSpc>
            </a:pPr>
            <a:r>
              <a:rPr lang="en-US" sz="2000">
                <a:solidFill>
                  <a:srgbClr val="316CE3"/>
                </a:solidFill>
                <a:latin typeface="Gotham"/>
                <a:ea typeface="Gotham"/>
                <a:cs typeface="Gotham"/>
                <a:sym typeface="Gotham"/>
              </a:rPr>
              <a:t>HOY:</a:t>
            </a:r>
          </a:p>
          <a:p>
            <a:pPr algn="l">
              <a:lnSpc>
                <a:spcPts val="2528"/>
              </a:lnSpc>
            </a:pPr>
            <a:r>
              <a:rPr lang="en-US" sz="2873" b="true">
                <a:solidFill>
                  <a:srgbClr val="316CE3"/>
                </a:solidFill>
                <a:latin typeface="Gotham Bold"/>
                <a:ea typeface="Gotham Bold"/>
                <a:cs typeface="Gotham Bold"/>
                <a:sym typeface="Gotham Bold"/>
              </a:rPr>
              <a:t>Episodio II — El Ataque de los Graviton: Infraestructura y rendimiento</a:t>
            </a:r>
          </a:p>
        </p:txBody>
      </p:sp>
      <p:sp>
        <p:nvSpPr>
          <p:cNvPr id="10" name="TextBox 9"/>
          <p:cNvSpPr txBox="1"/>
          <p:nvPr/>
        </p:nvSpPr>
        <p:spPr>
          <a:xfrm>
            <a:off x="914400" y="3291840"/>
            <a:ext cx="10607040" cy="1097280"/>
          </a:xfrm>
          <a:prstGeom prst="rect">
            <a:avLst/>
          </a:prstGeom>
          <a:noFill/>
        </p:spPr>
        <p:txBody>
          <a:bodyPr wrap="square" anchor="t" lIns="0" rIns="0" tIns="0" bIns="0">
            <a:spAutoFit/>
          </a:bodyPr>
          <a:lstStyle/>
          <a:p>
            <a:pPr algn="l">
              <a:spcAft>
                <a:spcPts val="1000"/>
              </a:spcAft>
            </a:pPr>
            <a:r>
              <a:rPr sz="3600" b="1">
                <a:solidFill>
                  <a:srgbClr val="316CE3"/>
                </a:solidFill>
                <a:latin typeface="Arial"/>
              </a:rPr>
              <a:t>github.com/andrezc98/redshift-redemption</a:t>
            </a:r>
          </a:p>
        </p:txBody>
      </p:sp>
      <p:sp>
        <p:nvSpPr>
          <p:cNvPr id="11" name="Rounded Rectangle 10"/>
          <p:cNvSpPr/>
          <p:nvPr/>
        </p:nvSpPr>
        <p:spPr>
          <a:xfrm>
            <a:off x="11905488" y="3355848"/>
            <a:ext cx="3346703" cy="3346703"/>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qr-github.png"/>
          <p:cNvPicPr>
            <a:picLocks noChangeAspect="1"/>
          </p:cNvPicPr>
          <p:nvPr/>
        </p:nvPicPr>
        <p:blipFill>
          <a:blip r:embed="rId7"/>
          <a:stretch>
            <a:fillRect/>
          </a:stretch>
        </p:blipFill>
        <p:spPr>
          <a:xfrm>
            <a:off x="12070080" y="3520440"/>
            <a:ext cx="3017520" cy="3017520"/>
          </a:xfrm>
          <a:prstGeom prst="rect">
            <a:avLst/>
          </a:prstGeom>
        </p:spPr>
      </p:pic>
      <p:sp>
        <p:nvSpPr>
          <p:cNvPr id="13" name="TextBox 12"/>
          <p:cNvSpPr txBox="1"/>
          <p:nvPr/>
        </p:nvSpPr>
        <p:spPr>
          <a:xfrm>
            <a:off x="11612880" y="6812280"/>
            <a:ext cx="3931920" cy="457200"/>
          </a:xfrm>
          <a:prstGeom prst="rect">
            <a:avLst/>
          </a:prstGeom>
          <a:noFill/>
        </p:spPr>
        <p:txBody>
          <a:bodyPr wrap="square" anchor="t" lIns="0" rIns="0" tIns="0" bIns="0">
            <a:spAutoFit/>
          </a:bodyPr>
          <a:lstStyle/>
          <a:p>
            <a:pPr algn="ctr">
              <a:spcAft>
                <a:spcPts val="1000"/>
              </a:spcAft>
            </a:pPr>
            <a:r>
              <a:rPr sz="1800" b="0">
                <a:solidFill>
                  <a:srgbClr val="D9E2EC"/>
                </a:solidFill>
                <a:latin typeface="Arial"/>
              </a:rPr>
              <a:t>Escanea para ir al repo</a:t>
            </a:r>
          </a:p>
        </p:txBody>
      </p:sp>
      <p:sp>
        <p:nvSpPr>
          <p:cNvPr id="14" name="TextBox 13"/>
          <p:cNvSpPr txBox="1"/>
          <p:nvPr/>
        </p:nvSpPr>
        <p:spPr>
          <a:xfrm>
            <a:off x="914400" y="4663440"/>
            <a:ext cx="10607040" cy="3657600"/>
          </a:xfrm>
          <a:prstGeom prst="rect">
            <a:avLst/>
          </a:prstGeom>
          <a:noFill/>
        </p:spPr>
        <p:txBody>
          <a:bodyPr wrap="square" anchor="t" lIns="0" rIns="0" tIns="0" bIns="0">
            <a:spAutoFit/>
          </a:bodyPr>
          <a:lstStyle/>
          <a:p>
            <a:pPr algn="l" marL="347472" indent="-347472">
              <a:spcAft>
                <a:spcPts val="1800"/>
              </a:spcAft>
              <a:buChar char="•"/>
            </a:pPr>
            <a:r>
              <a:rPr sz="2500" b="0">
                <a:solidFill>
                  <a:srgbClr val="D9E2EC"/>
                </a:solidFill>
                <a:latin typeface="Arial"/>
              </a:rPr>
              <a:t>La infraestructura, con Terraform y GitHub Actions (OIDC)</a:t>
            </a:r>
          </a:p>
          <a:p>
            <a:pPr algn="l" marL="347472" indent="-347472">
              <a:spcAft>
                <a:spcPts val="1800"/>
              </a:spcAft>
              <a:buChar char="•"/>
            </a:pPr>
            <a:r>
              <a:rPr sz="2500" b="0">
                <a:solidFill>
                  <a:srgbClr val="D9E2EC"/>
                </a:solidFill>
                <a:latin typeface="Arial"/>
              </a:rPr>
              <a:t>El programa de pruebas, en Python, y el runbook paso a paso</a:t>
            </a:r>
          </a:p>
          <a:p>
            <a:pPr algn="l" marL="347472" indent="-347472">
              <a:spcAft>
                <a:spcPts val="1800"/>
              </a:spcAft>
              <a:buChar char="•"/>
            </a:pPr>
            <a:r>
              <a:rPr sz="2500" b="0">
                <a:solidFill>
                  <a:srgbClr val="D9E2EC"/>
                </a:solidFill>
                <a:latin typeface="Arial"/>
              </a:rPr>
              <a:t>Todos los resultados, con su método, en la carpeta results/</a:t>
            </a:r>
          </a:p>
          <a:p>
            <a:pPr algn="l" marL="347472" indent="-347472">
              <a:spcAft>
                <a:spcPts val="1800"/>
              </a:spcAft>
              <a:buChar char="•"/>
            </a:pPr>
            <a:r>
              <a:rPr sz="2500" b="0">
                <a:solidFill>
                  <a:srgbClr val="D9E2EC"/>
                </a:solidFill>
                <a:latin typeface="Arial"/>
              </a:rPr>
              <a:t>Repetirlo con 100 GB toma un día de trabajo y unas decenas de dólares</a:t>
            </a:r>
          </a:p>
        </p:txBody>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bg>
      <p:bgPr>
        <a:solidFill>
          <a:srgbClr val="232E3E"/>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txBody>
          <a:bodyPr/>
          <a:p/>
        </p:txBody>
      </p:sp>
      <p:sp>
        <p:nvSpPr>
          <p:cNvPr name="TextBox 3" id="3"/>
          <p:cNvSpPr txBox="true"/>
          <p:nvPr/>
        </p:nvSpPr>
        <p:spPr>
          <a:xfrm rot="0">
            <a:off x="3520440" y="868680"/>
            <a:ext cx="12070080" cy="1874519"/>
          </a:xfrm>
          <a:prstGeom prst="rect">
            <a:avLst/>
          </a:prstGeom>
        </p:spPr>
        <p:txBody>
          <a:bodyPr anchor="ctr" rtlCol="false" tIns="0" lIns="0" bIns="0" rIns="0" wrap="square">
            <a:spAutoFit/>
          </a:bodyPr>
          <a:lstStyle/>
          <a:p>
            <a:pPr algn="l" marL="0" indent="0" lvl="0">
              <a:lnSpc>
                <a:spcPts val="10481"/>
              </a:lnSpc>
              <a:spcBef>
                <a:spcPct val="0"/>
              </a:spcBef>
            </a:pPr>
            <a:r>
              <a:rPr lang="en-US" b="0" sz="5400">
                <a:solidFill>
                  <a:srgbClr val="FFFFFF"/>
                </a:solidFill>
                <a:latin typeface="Arial Black"/>
                <a:ea typeface="Arial Black"/>
                <a:cs typeface="Arial Black"/>
                <a:sym typeface="Arial Black"/>
              </a:rPr>
              <a:t>Quiz</a:t>
            </a:r>
          </a:p>
        </p:txBody>
      </p:sp>
      <p:sp>
        <p:nvSpPr>
          <p:cNvPr name="Freeform 4" id="4"/>
          <p:cNvSpPr/>
          <p:nvPr/>
        </p:nvSpPr>
        <p:spPr>
          <a:xfrm flipH="false" flipV="false" rot="0">
            <a:off x="536304" y="308054"/>
            <a:ext cx="650696" cy="409939"/>
          </a:xfrm>
          <a:custGeom>
            <a:avLst/>
            <a:gdLst/>
            <a:ahLst/>
            <a:cxnLst/>
            <a:rect r="r" b="b" t="t" l="l"/>
            <a:pathLst>
              <a:path h="409939" w="650696">
                <a:moveTo>
                  <a:pt x="0" y="0"/>
                </a:moveTo>
                <a:lnTo>
                  <a:pt x="650697" y="0"/>
                </a:lnTo>
                <a:lnTo>
                  <a:pt x="650697" y="409938"/>
                </a:lnTo>
                <a:lnTo>
                  <a:pt x="0" y="40993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219785" y="9070932"/>
            <a:ext cx="4151107" cy="986035"/>
            <a:chOff x="0" y="0"/>
            <a:chExt cx="5534810" cy="1314713"/>
          </a:xfrm>
        </p:grpSpPr>
        <p:sp>
          <p:nvSpPr>
            <p:cNvPr name="Freeform 6" id="6"/>
            <p:cNvSpPr/>
            <p:nvPr/>
          </p:nvSpPr>
          <p:spPr>
            <a:xfrm flipH="false" flipV="false" rot="0">
              <a:off x="0" y="0"/>
              <a:ext cx="1314713" cy="1314713"/>
            </a:xfrm>
            <a:custGeom>
              <a:avLst/>
              <a:gdLst/>
              <a:ahLst/>
              <a:cxnLst/>
              <a:rect r="r" b="b" t="t" l="l"/>
              <a:pathLst>
                <a:path h="1314713" w="1314713">
                  <a:moveTo>
                    <a:pt x="0" y="0"/>
                  </a:moveTo>
                  <a:lnTo>
                    <a:pt x="1314713" y="0"/>
                  </a:lnTo>
                  <a:lnTo>
                    <a:pt x="1314713" y="1314713"/>
                  </a:lnTo>
                  <a:lnTo>
                    <a:pt x="0" y="131471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7" id="7"/>
            <p:cNvSpPr txBox="true"/>
            <p:nvPr/>
          </p:nvSpPr>
          <p:spPr>
            <a:xfrm rot="0">
              <a:off x="1455753" y="151974"/>
              <a:ext cx="3148240" cy="462308"/>
            </a:xfrm>
            <a:prstGeom prst="rect">
              <a:avLst/>
            </a:prstGeom>
          </p:spPr>
          <p:txBody>
            <a:bodyPr anchor="t" rtlCol="false" tIns="0" lIns="0" bIns="0" rIns="0">
              <a:spAutoFit/>
            </a:bodyPr>
            <a:lstStyle/>
            <a:p>
              <a:pPr algn="l">
                <a:lnSpc>
                  <a:spcPts val="2702"/>
                </a:lnSpc>
              </a:pPr>
              <a:r>
                <a:rPr lang="en-US" b="true" sz="2252">
                  <a:solidFill>
                    <a:srgbClr val="FFFFFF"/>
                  </a:solidFill>
                  <a:latin typeface="Raleway 1 Bold"/>
                  <a:ea typeface="Raleway 1 Bold"/>
                  <a:cs typeface="Raleway 1 Bold"/>
                  <a:sym typeface="Raleway 1 Bold"/>
                </a:rPr>
                <a:t>OCTUBRE</a:t>
              </a:r>
            </a:p>
          </p:txBody>
        </p:sp>
        <p:sp>
          <p:nvSpPr>
            <p:cNvPr name="TextBox 8" id="8"/>
            <p:cNvSpPr txBox="true"/>
            <p:nvPr/>
          </p:nvSpPr>
          <p:spPr>
            <a:xfrm rot="0">
              <a:off x="1468453" y="585710"/>
              <a:ext cx="4066356" cy="565140"/>
            </a:xfrm>
            <a:prstGeom prst="rect">
              <a:avLst/>
            </a:prstGeom>
          </p:spPr>
          <p:txBody>
            <a:bodyPr anchor="t" rtlCol="false" tIns="0" lIns="0" bIns="0" rIns="0">
              <a:spAutoFit/>
            </a:bodyPr>
            <a:lstStyle/>
            <a:p>
              <a:pPr algn="l">
                <a:lnSpc>
                  <a:spcPts val="1130"/>
                </a:lnSpc>
              </a:pPr>
              <a:r>
                <a:rPr lang="en-US" sz="1097" b="true">
                  <a:solidFill>
                    <a:srgbClr val="FFFFFF"/>
                  </a:solidFill>
                  <a:latin typeface="Raleway 1 Bold"/>
                  <a:ea typeface="Raleway 1 Bold"/>
                  <a:cs typeface="Raleway 1 Bold"/>
                  <a:sym typeface="Raleway 1 Bold"/>
                </a:rPr>
                <a:t>Mes de </a:t>
              </a:r>
            </a:p>
            <a:p>
              <a:pPr algn="l">
                <a:lnSpc>
                  <a:spcPts val="2059"/>
                </a:lnSpc>
              </a:pPr>
              <a:r>
                <a:rPr lang="en-US" b="true" sz="1999">
                  <a:solidFill>
                    <a:srgbClr val="FFFFFF"/>
                  </a:solidFill>
                  <a:latin typeface="Raleway 1 Bold"/>
                  <a:ea typeface="Raleway 1 Bold"/>
                  <a:cs typeface="Raleway 1 Bold"/>
                  <a:sym typeface="Raleway 1 Bold"/>
                </a:rPr>
                <a:t>HAN SOLO</a:t>
              </a:r>
            </a:p>
          </p:txBody>
        </p:sp>
      </p:grpSp>
      <p:sp>
        <p:nvSpPr>
          <p:cNvPr name="TextBox 9" id="9"/>
          <p:cNvSpPr txBox="true"/>
          <p:nvPr/>
        </p:nvSpPr>
        <p:spPr>
          <a:xfrm rot="0">
            <a:off x="1258571" y="221658"/>
            <a:ext cx="15091730" cy="563680"/>
          </a:xfrm>
          <a:prstGeom prst="rect">
            <a:avLst/>
          </a:prstGeom>
        </p:spPr>
        <p:txBody>
          <a:bodyPr anchor="t" rtlCol="false" tIns="0" lIns="0" bIns="0" rIns="0">
            <a:spAutoFit/>
          </a:bodyPr>
          <a:lstStyle/>
          <a:p>
            <a:pPr algn="l">
              <a:lnSpc>
                <a:spcPts val="1760"/>
              </a:lnSpc>
            </a:pPr>
            <a:r>
              <a:rPr lang="en-US" sz="2000">
                <a:solidFill>
                  <a:srgbClr val="316CE3"/>
                </a:solidFill>
                <a:latin typeface="Gotham"/>
                <a:ea typeface="Gotham"/>
                <a:cs typeface="Gotham"/>
                <a:sym typeface="Gotham"/>
              </a:rPr>
              <a:t>HOY:</a:t>
            </a:r>
          </a:p>
          <a:p>
            <a:pPr algn="l">
              <a:lnSpc>
                <a:spcPts val="2528"/>
              </a:lnSpc>
            </a:pPr>
            <a:r>
              <a:rPr lang="en-US" sz="2873" b="true">
                <a:solidFill>
                  <a:srgbClr val="316CE3"/>
                </a:solidFill>
                <a:latin typeface="Gotham Bold"/>
                <a:ea typeface="Gotham Bold"/>
                <a:cs typeface="Gotham Bold"/>
                <a:sym typeface="Gotham Bold"/>
              </a:rPr>
              <a:t>Episodio II — El Ataque de los Graviton: Infraestructura y rendimiento</a:t>
            </a:r>
          </a:p>
        </p:txBody>
      </p:sp>
      <p:sp>
        <p:nvSpPr>
          <p:cNvPr id="10" name="Rounded Rectangle 9"/>
          <p:cNvSpPr/>
          <p:nvPr/>
        </p:nvSpPr>
        <p:spPr>
          <a:xfrm>
            <a:off x="914400" y="3200400"/>
            <a:ext cx="3268979" cy="3108960"/>
          </a:xfrm>
          <a:prstGeom prst="roundRect">
            <a:avLst>
              <a:gd name="adj" fmla="val 8000"/>
            </a:avLst>
          </a:prstGeom>
          <a:solidFill>
            <a:srgbClr val="2F3D5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228600" bIns="228600"/>
          <a:lstStyle/>
          <a:p>
            <a:pPr algn="ctr">
              <a:spcAft>
                <a:spcPts val="800"/>
              </a:spcAft>
            </a:pPr>
            <a:r>
              <a:rPr sz="2400" b="1">
                <a:solidFill>
                  <a:srgbClr val="316CE3"/>
                </a:solidFill>
                <a:latin typeface="Arial"/>
              </a:rPr>
              <a:t>Pregunta 1</a:t>
            </a:r>
          </a:p>
          <a:p>
            <a:pPr>
              <a:spcAft>
                <a:spcPts val="600"/>
              </a:spcAft>
            </a:pPr>
            <a:r>
              <a:rPr sz="2100" b="0">
                <a:solidFill>
                  <a:srgbClr val="D9E2EC"/>
                </a:solidFill>
                <a:latin typeface="Arial"/>
              </a:rPr>
              <a:t>¿Con qué lee RG los datos del data lake?</a:t>
            </a:r>
          </a:p>
        </p:txBody>
      </p:sp>
      <p:sp>
        <p:nvSpPr>
          <p:cNvPr id="11" name="Rounded Rectangle 10"/>
          <p:cNvSpPr/>
          <p:nvPr/>
        </p:nvSpPr>
        <p:spPr>
          <a:xfrm>
            <a:off x="4457700" y="3200400"/>
            <a:ext cx="3268979" cy="3108960"/>
          </a:xfrm>
          <a:prstGeom prst="roundRect">
            <a:avLst>
              <a:gd name="adj" fmla="val 8000"/>
            </a:avLst>
          </a:prstGeom>
          <a:solidFill>
            <a:srgbClr val="2F3D5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228600" bIns="228600"/>
          <a:lstStyle/>
          <a:p>
            <a:pPr algn="ctr">
              <a:spcAft>
                <a:spcPts val="800"/>
              </a:spcAft>
            </a:pPr>
            <a:r>
              <a:rPr sz="2400" b="1">
                <a:solidFill>
                  <a:srgbClr val="316CE3"/>
                </a:solidFill>
                <a:latin typeface="Arial"/>
              </a:rPr>
              <a:t>Pregunta 2</a:t>
            </a:r>
          </a:p>
          <a:p>
            <a:pPr>
              <a:spcAft>
                <a:spcPts val="600"/>
              </a:spcAft>
            </a:pPr>
            <a:r>
              <a:rPr sz="2100" b="0">
                <a:solidFill>
                  <a:srgbClr val="D9E2EC"/>
                </a:solidFill>
                <a:latin typeface="Arial"/>
              </a:rPr>
              <a:t>¿Qué tipo de consultas mejoró más al pasar de RA3 a RG?</a:t>
            </a:r>
          </a:p>
        </p:txBody>
      </p:sp>
      <p:sp>
        <p:nvSpPr>
          <p:cNvPr id="12" name="Rounded Rectangle 11"/>
          <p:cNvSpPr/>
          <p:nvPr/>
        </p:nvSpPr>
        <p:spPr>
          <a:xfrm>
            <a:off x="8001000" y="3200400"/>
            <a:ext cx="3268979" cy="3108960"/>
          </a:xfrm>
          <a:prstGeom prst="roundRect">
            <a:avLst>
              <a:gd name="adj" fmla="val 8000"/>
            </a:avLst>
          </a:prstGeom>
          <a:solidFill>
            <a:srgbClr val="2F3D5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228600" bIns="228600"/>
          <a:lstStyle/>
          <a:p>
            <a:pPr algn="ctr">
              <a:spcAft>
                <a:spcPts val="800"/>
              </a:spcAft>
            </a:pPr>
            <a:r>
              <a:rPr sz="2400" b="1">
                <a:solidFill>
                  <a:srgbClr val="316CE3"/>
                </a:solidFill>
                <a:latin typeface="Arial"/>
              </a:rPr>
              <a:t>Pregunta 3</a:t>
            </a:r>
          </a:p>
          <a:p>
            <a:pPr>
              <a:spcAft>
                <a:spcPts val="600"/>
              </a:spcAft>
            </a:pPr>
            <a:r>
              <a:rPr sz="2100" b="0">
                <a:solidFill>
                  <a:srgbClr val="D9E2EC"/>
                </a:solidFill>
                <a:latin typeface="Arial"/>
              </a:rPr>
              <a:t>Si tienes 4 nodos ra3.4xlarge, ¿cuántos rg.4xlarge recomienda AWS?</a:t>
            </a:r>
          </a:p>
        </p:txBody>
      </p:sp>
      <p:sp>
        <p:nvSpPr>
          <p:cNvPr id="13" name="Rounded Rectangle 12"/>
          <p:cNvSpPr/>
          <p:nvPr/>
        </p:nvSpPr>
        <p:spPr>
          <a:xfrm>
            <a:off x="11544299" y="3200400"/>
            <a:ext cx="3268979" cy="3108960"/>
          </a:xfrm>
          <a:prstGeom prst="roundRect">
            <a:avLst>
              <a:gd name="adj" fmla="val 8000"/>
            </a:avLst>
          </a:prstGeom>
          <a:solidFill>
            <a:srgbClr val="2F3D5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228600" bIns="228600"/>
          <a:lstStyle/>
          <a:p>
            <a:pPr algn="ctr">
              <a:spcAft>
                <a:spcPts val="800"/>
              </a:spcAft>
            </a:pPr>
            <a:r>
              <a:rPr sz="2400" b="1">
                <a:solidFill>
                  <a:srgbClr val="316CE3"/>
                </a:solidFill>
                <a:latin typeface="Arial"/>
              </a:rPr>
              <a:t>Pregunta 4</a:t>
            </a:r>
          </a:p>
          <a:p>
            <a:pPr>
              <a:spcAft>
                <a:spcPts val="600"/>
              </a:spcAft>
            </a:pPr>
            <a:r>
              <a:rPr sz="2100" b="0">
                <a:solidFill>
                  <a:srgbClr val="D9E2EC"/>
                </a:solidFill>
                <a:latin typeface="Arial"/>
              </a:rPr>
              <a:t>En el simulacro de migración (elastic resize), ¿cuánto tiempo estuvo el clúster sin aceptar escrituras?</a:t>
            </a:r>
          </a:p>
        </p:txBody>
      </p:sp>
      <p:sp>
        <p:nvSpPr>
          <p:cNvPr id="14" name="TextBox 13"/>
          <p:cNvSpPr txBox="1"/>
          <p:nvPr/>
        </p:nvSpPr>
        <p:spPr>
          <a:xfrm>
            <a:off x="914400" y="6766560"/>
            <a:ext cx="13898880" cy="914400"/>
          </a:xfrm>
          <a:prstGeom prst="rect">
            <a:avLst/>
          </a:prstGeom>
          <a:noFill/>
        </p:spPr>
        <p:txBody>
          <a:bodyPr wrap="square" anchor="t" lIns="0" rIns="0" tIns="0" bIns="0">
            <a:spAutoFit/>
          </a:bodyPr>
          <a:lstStyle/>
          <a:p>
            <a:pPr algn="l">
              <a:spcAft>
                <a:spcPts val="1000"/>
              </a:spcAft>
            </a:pPr>
            <a:r>
              <a:rPr sz="2000" b="0">
                <a:solidFill>
                  <a:srgbClr val="9FB3C8"/>
                </a:solidFill>
                <a:latin typeface="Arial"/>
              </a:rPr>
              <a:t>Las respuestas y los comentarios están en las notas.</a:t>
            </a:r>
          </a:p>
        </p:txBody>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bg>
      <p:bgPr>
        <a:solidFill>
          <a:srgbClr val="232E3E"/>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txBody>
          <a:bodyPr/>
          <a:p/>
        </p:txBody>
      </p:sp>
      <p:sp>
        <p:nvSpPr>
          <p:cNvPr name="TextBox 3" id="3"/>
          <p:cNvSpPr txBox="true"/>
          <p:nvPr/>
        </p:nvSpPr>
        <p:spPr>
          <a:xfrm rot="0">
            <a:off x="3520440" y="868680"/>
            <a:ext cx="12070080" cy="1874519"/>
          </a:xfrm>
          <a:prstGeom prst="rect">
            <a:avLst/>
          </a:prstGeom>
        </p:spPr>
        <p:txBody>
          <a:bodyPr anchor="ctr" rtlCol="false" tIns="0" lIns="0" bIns="0" rIns="0" wrap="square">
            <a:spAutoFit/>
          </a:bodyPr>
          <a:lstStyle/>
          <a:p>
            <a:pPr algn="l" marL="0" indent="0" lvl="0">
              <a:lnSpc>
                <a:spcPts val="10481"/>
              </a:lnSpc>
              <a:spcBef>
                <a:spcPct val="0"/>
              </a:spcBef>
            </a:pPr>
            <a:r>
              <a:rPr lang="en-US" b="0" sz="5400">
                <a:solidFill>
                  <a:srgbClr val="FFFFFF"/>
                </a:solidFill>
                <a:latin typeface="Arial Black"/>
                <a:ea typeface="Arial Black"/>
                <a:cs typeface="Arial Black"/>
                <a:sym typeface="Arial Black"/>
              </a:rPr>
              <a:t>Kahoot</a:t>
            </a:r>
          </a:p>
        </p:txBody>
      </p:sp>
      <p:sp>
        <p:nvSpPr>
          <p:cNvPr name="Freeform 4" id="4"/>
          <p:cNvSpPr/>
          <p:nvPr/>
        </p:nvSpPr>
        <p:spPr>
          <a:xfrm flipH="false" flipV="false" rot="0">
            <a:off x="536304" y="308054"/>
            <a:ext cx="650696" cy="409939"/>
          </a:xfrm>
          <a:custGeom>
            <a:avLst/>
            <a:gdLst/>
            <a:ahLst/>
            <a:cxnLst/>
            <a:rect r="r" b="b" t="t" l="l"/>
            <a:pathLst>
              <a:path h="409939" w="650696">
                <a:moveTo>
                  <a:pt x="0" y="0"/>
                </a:moveTo>
                <a:lnTo>
                  <a:pt x="650697" y="0"/>
                </a:lnTo>
                <a:lnTo>
                  <a:pt x="650697" y="409938"/>
                </a:lnTo>
                <a:lnTo>
                  <a:pt x="0" y="40993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219785" y="9070932"/>
            <a:ext cx="4151107" cy="986035"/>
            <a:chOff x="0" y="0"/>
            <a:chExt cx="5534810" cy="1314713"/>
          </a:xfrm>
        </p:grpSpPr>
        <p:sp>
          <p:nvSpPr>
            <p:cNvPr name="Freeform 6" id="6"/>
            <p:cNvSpPr/>
            <p:nvPr/>
          </p:nvSpPr>
          <p:spPr>
            <a:xfrm flipH="false" flipV="false" rot="0">
              <a:off x="0" y="0"/>
              <a:ext cx="1314713" cy="1314713"/>
            </a:xfrm>
            <a:custGeom>
              <a:avLst/>
              <a:gdLst/>
              <a:ahLst/>
              <a:cxnLst/>
              <a:rect r="r" b="b" t="t" l="l"/>
              <a:pathLst>
                <a:path h="1314713" w="1314713">
                  <a:moveTo>
                    <a:pt x="0" y="0"/>
                  </a:moveTo>
                  <a:lnTo>
                    <a:pt x="1314713" y="0"/>
                  </a:lnTo>
                  <a:lnTo>
                    <a:pt x="1314713" y="1314713"/>
                  </a:lnTo>
                  <a:lnTo>
                    <a:pt x="0" y="131471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7" id="7"/>
            <p:cNvSpPr txBox="true"/>
            <p:nvPr/>
          </p:nvSpPr>
          <p:spPr>
            <a:xfrm rot="0">
              <a:off x="1455753" y="151974"/>
              <a:ext cx="3148240" cy="462308"/>
            </a:xfrm>
            <a:prstGeom prst="rect">
              <a:avLst/>
            </a:prstGeom>
          </p:spPr>
          <p:txBody>
            <a:bodyPr anchor="t" rtlCol="false" tIns="0" lIns="0" bIns="0" rIns="0">
              <a:spAutoFit/>
            </a:bodyPr>
            <a:lstStyle/>
            <a:p>
              <a:pPr algn="l">
                <a:lnSpc>
                  <a:spcPts val="2702"/>
                </a:lnSpc>
              </a:pPr>
              <a:r>
                <a:rPr lang="en-US" b="true" sz="2252">
                  <a:solidFill>
                    <a:srgbClr val="FFFFFF"/>
                  </a:solidFill>
                  <a:latin typeface="Raleway 1 Bold"/>
                  <a:ea typeface="Raleway 1 Bold"/>
                  <a:cs typeface="Raleway 1 Bold"/>
                  <a:sym typeface="Raleway 1 Bold"/>
                </a:rPr>
                <a:t>OCTUBRE</a:t>
              </a:r>
            </a:p>
          </p:txBody>
        </p:sp>
        <p:sp>
          <p:nvSpPr>
            <p:cNvPr name="TextBox 8" id="8"/>
            <p:cNvSpPr txBox="true"/>
            <p:nvPr/>
          </p:nvSpPr>
          <p:spPr>
            <a:xfrm rot="0">
              <a:off x="1468453" y="585710"/>
              <a:ext cx="4066356" cy="565140"/>
            </a:xfrm>
            <a:prstGeom prst="rect">
              <a:avLst/>
            </a:prstGeom>
          </p:spPr>
          <p:txBody>
            <a:bodyPr anchor="t" rtlCol="false" tIns="0" lIns="0" bIns="0" rIns="0">
              <a:spAutoFit/>
            </a:bodyPr>
            <a:lstStyle/>
            <a:p>
              <a:pPr algn="l">
                <a:lnSpc>
                  <a:spcPts val="1130"/>
                </a:lnSpc>
              </a:pPr>
              <a:r>
                <a:rPr lang="en-US" sz="1097" b="true">
                  <a:solidFill>
                    <a:srgbClr val="FFFFFF"/>
                  </a:solidFill>
                  <a:latin typeface="Raleway 1 Bold"/>
                  <a:ea typeface="Raleway 1 Bold"/>
                  <a:cs typeface="Raleway 1 Bold"/>
                  <a:sym typeface="Raleway 1 Bold"/>
                </a:rPr>
                <a:t>Mes de </a:t>
              </a:r>
            </a:p>
            <a:p>
              <a:pPr algn="l">
                <a:lnSpc>
                  <a:spcPts val="2059"/>
                </a:lnSpc>
              </a:pPr>
              <a:r>
                <a:rPr lang="en-US" b="true" sz="1999">
                  <a:solidFill>
                    <a:srgbClr val="FFFFFF"/>
                  </a:solidFill>
                  <a:latin typeface="Raleway 1 Bold"/>
                  <a:ea typeface="Raleway 1 Bold"/>
                  <a:cs typeface="Raleway 1 Bold"/>
                  <a:sym typeface="Raleway 1 Bold"/>
                </a:rPr>
                <a:t>HAN SOLO</a:t>
              </a:r>
            </a:p>
          </p:txBody>
        </p:sp>
      </p:grpSp>
      <p:sp>
        <p:nvSpPr>
          <p:cNvPr name="TextBox 9" id="9"/>
          <p:cNvSpPr txBox="true"/>
          <p:nvPr/>
        </p:nvSpPr>
        <p:spPr>
          <a:xfrm rot="0">
            <a:off x="1258571" y="221658"/>
            <a:ext cx="15091730" cy="563680"/>
          </a:xfrm>
          <a:prstGeom prst="rect">
            <a:avLst/>
          </a:prstGeom>
        </p:spPr>
        <p:txBody>
          <a:bodyPr anchor="t" rtlCol="false" tIns="0" lIns="0" bIns="0" rIns="0">
            <a:spAutoFit/>
          </a:bodyPr>
          <a:lstStyle/>
          <a:p>
            <a:pPr algn="l">
              <a:lnSpc>
                <a:spcPts val="1760"/>
              </a:lnSpc>
            </a:pPr>
            <a:r>
              <a:rPr lang="en-US" sz="2000">
                <a:solidFill>
                  <a:srgbClr val="316CE3"/>
                </a:solidFill>
                <a:latin typeface="Gotham"/>
                <a:ea typeface="Gotham"/>
                <a:cs typeface="Gotham"/>
                <a:sym typeface="Gotham"/>
              </a:rPr>
              <a:t>HOY:</a:t>
            </a:r>
          </a:p>
          <a:p>
            <a:pPr algn="l">
              <a:lnSpc>
                <a:spcPts val="2528"/>
              </a:lnSpc>
            </a:pPr>
            <a:r>
              <a:rPr lang="en-US" sz="2873" b="true">
                <a:solidFill>
                  <a:srgbClr val="316CE3"/>
                </a:solidFill>
                <a:latin typeface="Gotham Bold"/>
                <a:ea typeface="Gotham Bold"/>
                <a:cs typeface="Gotham Bold"/>
                <a:sym typeface="Gotham Bold"/>
              </a:rPr>
              <a:t>Episodio II — El Ataque de los Graviton: Infraestructura y rendimiento</a:t>
            </a:r>
          </a:p>
        </p:txBody>
      </p:sp>
      <p:sp>
        <p:nvSpPr>
          <p:cNvPr id="10" name="Rounded Rectangle 9"/>
          <p:cNvSpPr/>
          <p:nvPr/>
        </p:nvSpPr>
        <p:spPr>
          <a:xfrm>
            <a:off x="914400" y="3200400"/>
            <a:ext cx="6812279" cy="3108960"/>
          </a:xfrm>
          <a:prstGeom prst="roundRect">
            <a:avLst>
              <a:gd name="adj" fmla="val 8000"/>
            </a:avLst>
          </a:prstGeom>
          <a:solidFill>
            <a:srgbClr val="2F3D5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228600" bIns="228600"/>
          <a:lstStyle/>
          <a:p>
            <a:pPr algn="ctr">
              <a:spcAft>
                <a:spcPts val="800"/>
              </a:spcAft>
            </a:pPr>
            <a:r>
              <a:rPr sz="2400" b="1">
                <a:solidFill>
                  <a:srgbClr val="316CE3"/>
                </a:solidFill>
                <a:latin typeface="Arial"/>
              </a:rPr>
              <a:t>Pregunta 1</a:t>
            </a:r>
          </a:p>
          <a:p>
            <a:pPr>
              <a:spcAft>
                <a:spcPts val="600"/>
              </a:spcAft>
            </a:pPr>
            <a:r>
              <a:rPr sz="2100" b="0">
                <a:solidFill>
                  <a:srgbClr val="D9E2EC"/>
                </a:solidFill>
                <a:latin typeface="Arial"/>
              </a:rPr>
              <a:t>¿Qué procesadores usan los nuevos nodos RG de Redshift?</a:t>
            </a:r>
          </a:p>
        </p:txBody>
      </p:sp>
      <p:sp>
        <p:nvSpPr>
          <p:cNvPr id="11" name="Rounded Rectangle 10"/>
          <p:cNvSpPr/>
          <p:nvPr/>
        </p:nvSpPr>
        <p:spPr>
          <a:xfrm>
            <a:off x="8001000" y="3200400"/>
            <a:ext cx="6812279" cy="3108960"/>
          </a:xfrm>
          <a:prstGeom prst="roundRect">
            <a:avLst>
              <a:gd name="adj" fmla="val 8000"/>
            </a:avLst>
          </a:prstGeom>
          <a:solidFill>
            <a:srgbClr val="2F3D5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228600" bIns="228600"/>
          <a:lstStyle/>
          <a:p>
            <a:pPr algn="ctr">
              <a:spcAft>
                <a:spcPts val="800"/>
              </a:spcAft>
            </a:pPr>
            <a:r>
              <a:rPr sz="2400" b="1">
                <a:solidFill>
                  <a:srgbClr val="316CE3"/>
                </a:solidFill>
                <a:latin typeface="Arial"/>
              </a:rPr>
              <a:t>Pregunta 2</a:t>
            </a:r>
          </a:p>
          <a:p>
            <a:pPr>
              <a:spcAft>
                <a:spcPts val="600"/>
              </a:spcAft>
            </a:pPr>
            <a:r>
              <a:rPr sz="2100" b="0">
                <a:solidFill>
                  <a:srgbClr val="D9E2EC"/>
                </a:solidFill>
                <a:latin typeface="Arial"/>
              </a:rPr>
              <a:t>¿Cuánto menos cuesta RG por vCPU frente a RA3?</a:t>
            </a:r>
          </a:p>
        </p:txBody>
      </p:sp>
      <p:sp>
        <p:nvSpPr>
          <p:cNvPr id="12" name="TextBox 11"/>
          <p:cNvSpPr txBox="1"/>
          <p:nvPr/>
        </p:nvSpPr>
        <p:spPr>
          <a:xfrm>
            <a:off x="914400" y="6766560"/>
            <a:ext cx="13898880" cy="914400"/>
          </a:xfrm>
          <a:prstGeom prst="rect">
            <a:avLst/>
          </a:prstGeom>
          <a:noFill/>
        </p:spPr>
        <p:txBody>
          <a:bodyPr wrap="square" anchor="t" lIns="0" rIns="0" tIns="0" bIns="0">
            <a:spAutoFit/>
          </a:bodyPr>
          <a:lstStyle/>
          <a:p>
            <a:pPr algn="l">
              <a:spcAft>
                <a:spcPts val="1000"/>
              </a:spcAft>
            </a:pPr>
            <a:r>
              <a:rPr sz="2000" b="0">
                <a:solidFill>
                  <a:srgbClr val="9FB3C8"/>
                </a:solidFill>
                <a:latin typeface="Arial"/>
              </a:rPr>
              <a:t>Las respuestas y los comentarios están en las notas.</a:t>
            </a:r>
          </a:p>
        </p:txBody>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bg>
      <p:bgPr>
        <a:solidFill>
          <a:srgbClr val="232E3E"/>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txBody>
          <a:bodyPr/>
          <a:p/>
        </p:txBody>
      </p:sp>
      <p:sp>
        <p:nvSpPr>
          <p:cNvPr name="TextBox 3" id="3"/>
          <p:cNvSpPr txBox="true"/>
          <p:nvPr/>
        </p:nvSpPr>
        <p:spPr>
          <a:xfrm rot="0">
            <a:off x="3520440" y="868680"/>
            <a:ext cx="12070080" cy="1874519"/>
          </a:xfrm>
          <a:prstGeom prst="rect">
            <a:avLst/>
          </a:prstGeom>
        </p:spPr>
        <p:txBody>
          <a:bodyPr anchor="ctr" rtlCol="false" tIns="0" lIns="0" bIns="0" rIns="0" wrap="square">
            <a:spAutoFit/>
          </a:bodyPr>
          <a:lstStyle/>
          <a:p>
            <a:pPr algn="l" marL="0" indent="0" lvl="0">
              <a:lnSpc>
                <a:spcPts val="10481"/>
              </a:lnSpc>
              <a:spcBef>
                <a:spcPct val="0"/>
              </a:spcBef>
            </a:pPr>
            <a:r>
              <a:rPr lang="en-US" b="0" sz="7200">
                <a:solidFill>
                  <a:srgbClr val="FFFFFF"/>
                </a:solidFill>
                <a:latin typeface="Arial Black"/>
                <a:ea typeface="Arial Black"/>
                <a:cs typeface="Arial Black"/>
                <a:sym typeface="Arial Black"/>
              </a:rPr>
              <a:t>¡Gracias!</a:t>
            </a:r>
          </a:p>
        </p:txBody>
      </p:sp>
      <p:sp>
        <p:nvSpPr>
          <p:cNvPr name="Freeform 4" id="4"/>
          <p:cNvSpPr/>
          <p:nvPr/>
        </p:nvSpPr>
        <p:spPr>
          <a:xfrm flipH="false" flipV="false" rot="0">
            <a:off x="536304" y="308054"/>
            <a:ext cx="650696" cy="409939"/>
          </a:xfrm>
          <a:custGeom>
            <a:avLst/>
            <a:gdLst/>
            <a:ahLst/>
            <a:cxnLst/>
            <a:rect r="r" b="b" t="t" l="l"/>
            <a:pathLst>
              <a:path h="409939" w="650696">
                <a:moveTo>
                  <a:pt x="0" y="0"/>
                </a:moveTo>
                <a:lnTo>
                  <a:pt x="650697" y="0"/>
                </a:lnTo>
                <a:lnTo>
                  <a:pt x="650697" y="409938"/>
                </a:lnTo>
                <a:lnTo>
                  <a:pt x="0" y="40993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219785" y="9070932"/>
            <a:ext cx="4151107" cy="986035"/>
            <a:chOff x="0" y="0"/>
            <a:chExt cx="5534810" cy="1314713"/>
          </a:xfrm>
        </p:grpSpPr>
        <p:sp>
          <p:nvSpPr>
            <p:cNvPr name="Freeform 6" id="6"/>
            <p:cNvSpPr/>
            <p:nvPr/>
          </p:nvSpPr>
          <p:spPr>
            <a:xfrm flipH="false" flipV="false" rot="0">
              <a:off x="0" y="0"/>
              <a:ext cx="1314713" cy="1314713"/>
            </a:xfrm>
            <a:custGeom>
              <a:avLst/>
              <a:gdLst/>
              <a:ahLst/>
              <a:cxnLst/>
              <a:rect r="r" b="b" t="t" l="l"/>
              <a:pathLst>
                <a:path h="1314713" w="1314713">
                  <a:moveTo>
                    <a:pt x="0" y="0"/>
                  </a:moveTo>
                  <a:lnTo>
                    <a:pt x="1314713" y="0"/>
                  </a:lnTo>
                  <a:lnTo>
                    <a:pt x="1314713" y="1314713"/>
                  </a:lnTo>
                  <a:lnTo>
                    <a:pt x="0" y="131471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7" id="7"/>
            <p:cNvSpPr txBox="true"/>
            <p:nvPr/>
          </p:nvSpPr>
          <p:spPr>
            <a:xfrm rot="0">
              <a:off x="1455753" y="151974"/>
              <a:ext cx="3148240" cy="462308"/>
            </a:xfrm>
            <a:prstGeom prst="rect">
              <a:avLst/>
            </a:prstGeom>
          </p:spPr>
          <p:txBody>
            <a:bodyPr anchor="t" rtlCol="false" tIns="0" lIns="0" bIns="0" rIns="0">
              <a:spAutoFit/>
            </a:bodyPr>
            <a:lstStyle/>
            <a:p>
              <a:pPr algn="l">
                <a:lnSpc>
                  <a:spcPts val="2702"/>
                </a:lnSpc>
              </a:pPr>
              <a:r>
                <a:rPr lang="en-US" b="true" sz="2252">
                  <a:solidFill>
                    <a:srgbClr val="FFFFFF"/>
                  </a:solidFill>
                  <a:latin typeface="Raleway 1 Bold"/>
                  <a:ea typeface="Raleway 1 Bold"/>
                  <a:cs typeface="Raleway 1 Bold"/>
                  <a:sym typeface="Raleway 1 Bold"/>
                </a:rPr>
                <a:t>OCTUBRE</a:t>
              </a:r>
            </a:p>
          </p:txBody>
        </p:sp>
        <p:sp>
          <p:nvSpPr>
            <p:cNvPr name="TextBox 8" id="8"/>
            <p:cNvSpPr txBox="true"/>
            <p:nvPr/>
          </p:nvSpPr>
          <p:spPr>
            <a:xfrm rot="0">
              <a:off x="1468453" y="585710"/>
              <a:ext cx="4066356" cy="565140"/>
            </a:xfrm>
            <a:prstGeom prst="rect">
              <a:avLst/>
            </a:prstGeom>
          </p:spPr>
          <p:txBody>
            <a:bodyPr anchor="t" rtlCol="false" tIns="0" lIns="0" bIns="0" rIns="0">
              <a:spAutoFit/>
            </a:bodyPr>
            <a:lstStyle/>
            <a:p>
              <a:pPr algn="l">
                <a:lnSpc>
                  <a:spcPts val="1130"/>
                </a:lnSpc>
              </a:pPr>
              <a:r>
                <a:rPr lang="en-US" sz="1097" b="true">
                  <a:solidFill>
                    <a:srgbClr val="FFFFFF"/>
                  </a:solidFill>
                  <a:latin typeface="Raleway 1 Bold"/>
                  <a:ea typeface="Raleway 1 Bold"/>
                  <a:cs typeface="Raleway 1 Bold"/>
                  <a:sym typeface="Raleway 1 Bold"/>
                </a:rPr>
                <a:t>Mes de </a:t>
              </a:r>
            </a:p>
            <a:p>
              <a:pPr algn="l">
                <a:lnSpc>
                  <a:spcPts val="2059"/>
                </a:lnSpc>
              </a:pPr>
              <a:r>
                <a:rPr lang="en-US" b="true" sz="1999">
                  <a:solidFill>
                    <a:srgbClr val="FFFFFF"/>
                  </a:solidFill>
                  <a:latin typeface="Raleway 1 Bold"/>
                  <a:ea typeface="Raleway 1 Bold"/>
                  <a:cs typeface="Raleway 1 Bold"/>
                  <a:sym typeface="Raleway 1 Bold"/>
                </a:rPr>
                <a:t>HAN SOLO</a:t>
              </a:r>
            </a:p>
          </p:txBody>
        </p:sp>
      </p:grpSp>
      <p:sp>
        <p:nvSpPr>
          <p:cNvPr name="TextBox 9" id="9"/>
          <p:cNvSpPr txBox="true"/>
          <p:nvPr/>
        </p:nvSpPr>
        <p:spPr>
          <a:xfrm rot="0">
            <a:off x="1258571" y="221658"/>
            <a:ext cx="15091730" cy="563680"/>
          </a:xfrm>
          <a:prstGeom prst="rect">
            <a:avLst/>
          </a:prstGeom>
        </p:spPr>
        <p:txBody>
          <a:bodyPr anchor="t" rtlCol="false" tIns="0" lIns="0" bIns="0" rIns="0">
            <a:spAutoFit/>
          </a:bodyPr>
          <a:lstStyle/>
          <a:p>
            <a:pPr algn="l">
              <a:lnSpc>
                <a:spcPts val="1760"/>
              </a:lnSpc>
            </a:pPr>
            <a:r>
              <a:rPr lang="en-US" sz="2000">
                <a:solidFill>
                  <a:srgbClr val="316CE3"/>
                </a:solidFill>
                <a:latin typeface="Gotham"/>
                <a:ea typeface="Gotham"/>
                <a:cs typeface="Gotham"/>
                <a:sym typeface="Gotham"/>
              </a:rPr>
              <a:t>HOY:</a:t>
            </a:r>
          </a:p>
          <a:p>
            <a:pPr algn="l">
              <a:lnSpc>
                <a:spcPts val="2528"/>
              </a:lnSpc>
            </a:pPr>
            <a:r>
              <a:rPr lang="en-US" sz="2873" b="true">
                <a:solidFill>
                  <a:srgbClr val="316CE3"/>
                </a:solidFill>
                <a:latin typeface="Gotham Bold"/>
                <a:ea typeface="Gotham Bold"/>
                <a:cs typeface="Gotham Bold"/>
                <a:sym typeface="Gotham Bold"/>
              </a:rPr>
              <a:t>Episodio II — El Ataque de los Graviton: Infraestructura y rendimiento</a:t>
            </a:r>
          </a:p>
        </p:txBody>
      </p:sp>
      <p:sp>
        <p:nvSpPr>
          <p:cNvPr id="10" name="TextBox 9"/>
          <p:cNvSpPr txBox="1"/>
          <p:nvPr/>
        </p:nvSpPr>
        <p:spPr>
          <a:xfrm>
            <a:off x="914400" y="3566160"/>
            <a:ext cx="7863840" cy="4114800"/>
          </a:xfrm>
          <a:prstGeom prst="rect">
            <a:avLst/>
          </a:prstGeom>
          <a:noFill/>
        </p:spPr>
        <p:txBody>
          <a:bodyPr wrap="square" anchor="t" lIns="0" rIns="0" tIns="0" bIns="0">
            <a:spAutoFit/>
          </a:bodyPr>
          <a:lstStyle/>
          <a:p>
            <a:pPr algn="l">
              <a:spcAft>
                <a:spcPts val="2000"/>
              </a:spcAft>
            </a:pPr>
            <a:r>
              <a:rPr sz="2800" b="1">
                <a:solidFill>
                  <a:srgbClr val="D9E2EC"/>
                </a:solidFill>
                <a:latin typeface="Arial"/>
              </a:rPr>
              <a:t>Andrés Zeballos</a:t>
            </a:r>
          </a:p>
          <a:p>
            <a:pPr algn="l">
              <a:spcAft>
                <a:spcPts val="2000"/>
              </a:spcAft>
            </a:pPr>
            <a:r>
              <a:rPr sz="2800" b="0">
                <a:solidFill>
                  <a:srgbClr val="D9E2EC"/>
                </a:solidFill>
                <a:latin typeface="Arial"/>
              </a:rPr>
              <a:t>Solutions Architect en phData</a:t>
            </a:r>
          </a:p>
          <a:p>
            <a:pPr algn="l">
              <a:spcAft>
                <a:spcPts val="2000"/>
              </a:spcAft>
            </a:pPr>
            <a:r>
              <a:rPr sz="2800" b="0">
                <a:solidFill>
                  <a:srgbClr val="D9E2EC"/>
                </a:solidFill>
                <a:latin typeface="Arial"/>
              </a:rPr>
              <a:t>LinkedIn: linkedin.com/in/andreszc</a:t>
            </a:r>
          </a:p>
          <a:p>
            <a:pPr algn="l">
              <a:spcAft>
                <a:spcPts val="2000"/>
              </a:spcAft>
            </a:pPr>
            <a:r>
              <a:rPr sz="2800" b="0">
                <a:solidFill>
                  <a:srgbClr val="D9E2EC"/>
                </a:solidFill>
                <a:latin typeface="Arial"/>
              </a:rPr>
              <a:t>GitHub: andrezc98</a:t>
            </a:r>
          </a:p>
        </p:txBody>
      </p:sp>
      <p:sp>
        <p:nvSpPr>
          <p:cNvPr id="11" name="Rounded Rectangle 10"/>
          <p:cNvSpPr/>
          <p:nvPr/>
        </p:nvSpPr>
        <p:spPr>
          <a:xfrm>
            <a:off x="8979408" y="3355848"/>
            <a:ext cx="3072384" cy="3072384"/>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qr-linkedin.png"/>
          <p:cNvPicPr>
            <a:picLocks noChangeAspect="1"/>
          </p:cNvPicPr>
          <p:nvPr/>
        </p:nvPicPr>
        <p:blipFill>
          <a:blip r:embed="rId7"/>
          <a:stretch>
            <a:fillRect/>
          </a:stretch>
        </p:blipFill>
        <p:spPr>
          <a:xfrm>
            <a:off x="9144000" y="3520440"/>
            <a:ext cx="2743200" cy="2743200"/>
          </a:xfrm>
          <a:prstGeom prst="rect">
            <a:avLst/>
          </a:prstGeom>
        </p:spPr>
      </p:pic>
      <p:sp>
        <p:nvSpPr>
          <p:cNvPr id="13" name="TextBox 12"/>
          <p:cNvSpPr txBox="1"/>
          <p:nvPr/>
        </p:nvSpPr>
        <p:spPr>
          <a:xfrm>
            <a:off x="8686800" y="6537959"/>
            <a:ext cx="3657600" cy="457200"/>
          </a:xfrm>
          <a:prstGeom prst="rect">
            <a:avLst/>
          </a:prstGeom>
          <a:noFill/>
        </p:spPr>
        <p:txBody>
          <a:bodyPr wrap="square" anchor="t" lIns="0" rIns="0" tIns="0" bIns="0">
            <a:spAutoFit/>
          </a:bodyPr>
          <a:lstStyle/>
          <a:p>
            <a:pPr algn="ctr">
              <a:spcAft>
                <a:spcPts val="1000"/>
              </a:spcAft>
            </a:pPr>
            <a:r>
              <a:rPr sz="1800" b="0">
                <a:solidFill>
                  <a:srgbClr val="D9E2EC"/>
                </a:solidFill>
                <a:latin typeface="Arial"/>
              </a:rPr>
              <a:t>LinkedIn</a:t>
            </a:r>
          </a:p>
        </p:txBody>
      </p:sp>
      <p:sp>
        <p:nvSpPr>
          <p:cNvPr id="14" name="Rounded Rectangle 13"/>
          <p:cNvSpPr/>
          <p:nvPr/>
        </p:nvSpPr>
        <p:spPr>
          <a:xfrm>
            <a:off x="12271248" y="3355848"/>
            <a:ext cx="3072384" cy="3072384"/>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qr-github.png"/>
          <p:cNvPicPr>
            <a:picLocks noChangeAspect="1"/>
          </p:cNvPicPr>
          <p:nvPr/>
        </p:nvPicPr>
        <p:blipFill>
          <a:blip r:embed="rId8"/>
          <a:stretch>
            <a:fillRect/>
          </a:stretch>
        </p:blipFill>
        <p:spPr>
          <a:xfrm>
            <a:off x="12435840" y="3520440"/>
            <a:ext cx="2743200" cy="2743200"/>
          </a:xfrm>
          <a:prstGeom prst="rect">
            <a:avLst/>
          </a:prstGeom>
        </p:spPr>
      </p:pic>
      <p:sp>
        <p:nvSpPr>
          <p:cNvPr id="16" name="TextBox 15"/>
          <p:cNvSpPr txBox="1"/>
          <p:nvPr/>
        </p:nvSpPr>
        <p:spPr>
          <a:xfrm>
            <a:off x="11978640" y="6537959"/>
            <a:ext cx="3657600" cy="457200"/>
          </a:xfrm>
          <a:prstGeom prst="rect">
            <a:avLst/>
          </a:prstGeom>
          <a:noFill/>
        </p:spPr>
        <p:txBody>
          <a:bodyPr wrap="square" anchor="t" lIns="0" rIns="0" tIns="0" bIns="0">
            <a:spAutoFit/>
          </a:bodyPr>
          <a:lstStyle/>
          <a:p>
            <a:pPr algn="ctr">
              <a:spcAft>
                <a:spcPts val="1000"/>
              </a:spcAft>
            </a:pPr>
            <a:r>
              <a:rPr sz="1800" b="0">
                <a:solidFill>
                  <a:srgbClr val="D9E2EC"/>
                </a:solidFill>
                <a:latin typeface="Arial"/>
              </a:rPr>
              <a:t>El laboratorio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DAHUkLePN4g</dc:identifier>
  <dcterms:modified xsi:type="dcterms:W3CDTF">2011-08-01T06:04:30Z</dcterms:modified>
  <cp:revision>1</cp:revision>
  <dc:title>PPTX BASE 2NDO SEMESTRE 2026</dc:title>
</cp:coreProperties>
</file>