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media/image3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70" r:id="rId2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  <p:sldId id="284" r:id="rId39"/>
    <p:sldId id="285" r:id="rId40"/>
    <p:sldId id="286" r:id="rId41"/>
    <p:sldId id="287" r:id="rId42"/>
    <p:sldId id="288" r:id="rId43"/>
    <p:sldId id="289" r:id="rId44"/>
    <p:sldId id="290" r:id="rId45"/>
    <p:sldId id="291" r:id="rId46"/>
    <p:sldId id="292" r:id="rId47"/>
    <p:sldId id="293" r:id="rId48"/>
    <p:sldId id="294" r:id="rId49"/>
    <p:sldId id="295" r:id="rId50"/>
    <p:sldId id="296" r:id="rId51"/>
    <p:sldId id="297" r:id="rId52"/>
    <p:sldId id="298" r:id="rId53"/>
    <p:sldId id="299" r:id="rId54"/>
    <p:sldId id="300" r:id="rId55"/>
    <p:sldId id="301" r:id="rId56"/>
    <p:sldId id="302" r:id="rId57"/>
    <p:sldId id="303" r:id="rId58"/>
    <p:sldId id="304" r:id="rId59"/>
  </p:sldIdLst>
  <p:sldSz cx="18288000" cy="10287000"/>
  <p:notesSz cx="6858000" cy="9144000"/>
  <p:embeddedFontLst>
    <p:embeddedFont>
      <p:font typeface="Raleway 1 Bold" charset="1" panose="020B0803030101060003"/>
      <p:regular r:id="rId20"/>
    </p:embeddedFont>
    <p:embeddedFont>
      <p:font typeface="Raleway 2" charset="1" panose="00000000000000000000"/>
      <p:regular r:id="rId21"/>
    </p:embeddedFont>
    <p:embeddedFont>
      <p:font typeface="Gotham" charset="1" panose="00000000000000000000"/>
      <p:regular r:id="rId22"/>
    </p:embeddedFont>
    <p:embeddedFont>
      <p:font typeface="Gotham Bold" charset="1" panose="00000000000000000000"/>
      <p:regular r:id="rId23"/>
    </p:embeddedFont>
    <p:embeddedFont>
      <p:font typeface="Raleway 1 Heavy" charset="1" panose="020B0003030101060003"/>
      <p:regular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9" Type="http://schemas.openxmlformats.org/officeDocument/2006/relationships/notesMaster" Target="notesMasters/notesMaster1.xml"/><Relationship Id="rId20" Type="http://schemas.openxmlformats.org/officeDocument/2006/relationships/font" Target="fonts/font20.fntdata"/><Relationship Id="rId21" Type="http://schemas.openxmlformats.org/officeDocument/2006/relationships/font" Target="fonts/font21.fntdata"/><Relationship Id="rId22" Type="http://schemas.openxmlformats.org/officeDocument/2006/relationships/font" Target="fonts/font22.fntdata"/><Relationship Id="rId23" Type="http://schemas.openxmlformats.org/officeDocument/2006/relationships/font" Target="fonts/font23.fntdata"/><Relationship Id="rId24" Type="http://schemas.openxmlformats.org/officeDocument/2006/relationships/font" Target="fonts/font24.fntdata"/><Relationship Id="rId25" Type="http://schemas.openxmlformats.org/officeDocument/2006/relationships/slide" Target="slides/slide1.xml"/><Relationship Id="rId26" Type="http://schemas.openxmlformats.org/officeDocument/2006/relationships/slide" Target="slides/slide2.xml"/><Relationship Id="rId27" Type="http://schemas.openxmlformats.org/officeDocument/2006/relationships/slide" Target="slides/slide3.xml"/><Relationship Id="rId28" Type="http://schemas.openxmlformats.org/officeDocument/2006/relationships/slide" Target="slides/slide4.xml"/><Relationship Id="rId29" Type="http://schemas.openxmlformats.org/officeDocument/2006/relationships/slide" Target="slides/slide5.xml"/><Relationship Id="rId30" Type="http://schemas.openxmlformats.org/officeDocument/2006/relationships/slide" Target="slides/slide6.xml"/><Relationship Id="rId31" Type="http://schemas.openxmlformats.org/officeDocument/2006/relationships/slide" Target="slides/slide7.xml"/><Relationship Id="rId32" Type="http://schemas.openxmlformats.org/officeDocument/2006/relationships/slide" Target="slides/slide8.xml"/><Relationship Id="rId33" Type="http://schemas.openxmlformats.org/officeDocument/2006/relationships/slide" Target="slides/slide9.xml"/><Relationship Id="rId34" Type="http://schemas.openxmlformats.org/officeDocument/2006/relationships/slide" Target="slides/slide10.xml"/><Relationship Id="rId35" Type="http://schemas.openxmlformats.org/officeDocument/2006/relationships/slide" Target="slides/slide11.xml"/><Relationship Id="rId36" Type="http://schemas.openxmlformats.org/officeDocument/2006/relationships/slide" Target="slides/slide12.xml"/><Relationship Id="rId37" Type="http://schemas.openxmlformats.org/officeDocument/2006/relationships/slide" Target="slides/slide13.xml"/><Relationship Id="rId38" Type="http://schemas.openxmlformats.org/officeDocument/2006/relationships/slide" Target="slides/slide14.xml"/><Relationship Id="rId39" Type="http://schemas.openxmlformats.org/officeDocument/2006/relationships/slide" Target="slides/slide15.xml"/><Relationship Id="rId40" Type="http://schemas.openxmlformats.org/officeDocument/2006/relationships/slide" Target="slides/slide16.xml"/><Relationship Id="rId41" Type="http://schemas.openxmlformats.org/officeDocument/2006/relationships/slide" Target="slides/slide17.xml"/><Relationship Id="rId42" Type="http://schemas.openxmlformats.org/officeDocument/2006/relationships/slide" Target="slides/slide18.xml"/><Relationship Id="rId43" Type="http://schemas.openxmlformats.org/officeDocument/2006/relationships/slide" Target="slides/slide19.xml"/><Relationship Id="rId44" Type="http://schemas.openxmlformats.org/officeDocument/2006/relationships/slide" Target="slides/slide20.xml"/><Relationship Id="rId45" Type="http://schemas.openxmlformats.org/officeDocument/2006/relationships/slide" Target="slides/slide21.xml"/><Relationship Id="rId46" Type="http://schemas.openxmlformats.org/officeDocument/2006/relationships/slide" Target="slides/slide22.xml"/><Relationship Id="rId47" Type="http://schemas.openxmlformats.org/officeDocument/2006/relationships/slide" Target="slides/slide23.xml"/><Relationship Id="rId48" Type="http://schemas.openxmlformats.org/officeDocument/2006/relationships/slide" Target="slides/slide24.xml"/><Relationship Id="rId49" Type="http://schemas.openxmlformats.org/officeDocument/2006/relationships/slide" Target="slides/slide25.xml"/><Relationship Id="rId50" Type="http://schemas.openxmlformats.org/officeDocument/2006/relationships/slide" Target="slides/slide26.xml"/><Relationship Id="rId51" Type="http://schemas.openxmlformats.org/officeDocument/2006/relationships/slide" Target="slides/slide27.xml"/><Relationship Id="rId52" Type="http://schemas.openxmlformats.org/officeDocument/2006/relationships/slide" Target="slides/slide28.xml"/><Relationship Id="rId53" Type="http://schemas.openxmlformats.org/officeDocument/2006/relationships/slide" Target="slides/slide29.xml"/><Relationship Id="rId54" Type="http://schemas.openxmlformats.org/officeDocument/2006/relationships/slide" Target="slides/slide30.xml"/><Relationship Id="rId55" Type="http://schemas.openxmlformats.org/officeDocument/2006/relationships/slide" Target="slides/slide31.xml"/><Relationship Id="rId56" Type="http://schemas.openxmlformats.org/officeDocument/2006/relationships/slide" Target="slides/slide32.xml"/><Relationship Id="rId57" Type="http://schemas.openxmlformats.org/officeDocument/2006/relationships/slide" Target="slides/slide33.xml"/><Relationship Id="rId58" Type="http://schemas.openxmlformats.org/officeDocument/2006/relationships/slide" Target="slides/slide34.xml"/><Relationship Id="rId59" Type="http://schemas.openxmlformats.org/officeDocument/2006/relationships/slide" Target="slides/slide3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Aceleración RG</c:v>
                </c:pt>
              </c:strCache>
            </c:strRef>
          </c:tx>
          <c:spPr>
            <a:solidFill>
              <a:srgbClr val="316CE3"/>
            </a:solidFill>
          </c:spPr>
          <c:dPt>
            <c:idx val="0"/>
            <c:spPr>
              <a:solidFill>
                <a:srgbClr val="316CE3"/>
              </a:solidFill>
            </c:spPr>
          </c:dPt>
          <c:dPt>
            <c:idx val="1"/>
            <c:spPr>
              <a:solidFill>
                <a:srgbClr val="316CE3"/>
              </a:solidFill>
            </c:spPr>
          </c:dPt>
          <c:dPt>
            <c:idx val="2"/>
            <c:spPr>
              <a:solidFill>
                <a:srgbClr val="316CE3"/>
              </a:solidFill>
            </c:spPr>
          </c:dPt>
          <c:dPt>
            <c:idx val="3"/>
            <c:spPr>
              <a:solidFill>
                <a:srgbClr val="316CE3"/>
              </a:solidFill>
            </c:spPr>
          </c:dPt>
          <c:dPt>
            <c:idx val="4"/>
            <c:spPr>
              <a:solidFill>
                <a:srgbClr val="316CE3"/>
              </a:solidFill>
            </c:spPr>
          </c:dPt>
          <c:dPt>
            <c:idx val="5"/>
            <c:spPr>
              <a:solidFill>
                <a:srgbClr val="316CE3"/>
              </a:solidFill>
            </c:spPr>
          </c:dPt>
          <c:dPt>
            <c:idx val="6"/>
            <c:spPr>
              <a:solidFill>
                <a:srgbClr val="316CE3"/>
              </a:solidFill>
            </c:spPr>
          </c:dPt>
          <c:dPt>
            <c:idx val="7"/>
            <c:spPr>
              <a:solidFill>
                <a:srgbClr val="316CE3"/>
              </a:solidFill>
            </c:spPr>
          </c:dPt>
          <c:dPt>
            <c:idx val="8"/>
            <c:spPr>
              <a:solidFill>
                <a:srgbClr val="F2A65A"/>
              </a:solidFill>
            </c:spPr>
          </c:dPt>
          <c:dPt>
            <c:idx val="9"/>
            <c:spPr>
              <a:solidFill>
                <a:srgbClr val="F2A65A"/>
              </a:solidFill>
            </c:spPr>
          </c:dPt>
          <c:dPt>
            <c:idx val="10"/>
            <c:spPr>
              <a:solidFill>
                <a:srgbClr val="F2A65A"/>
              </a:solidFill>
            </c:spPr>
          </c:dPt>
          <c:dPt>
            <c:idx val="11"/>
            <c:spPr>
              <a:solidFill>
                <a:srgbClr val="F2A65A"/>
              </a:solidFill>
            </c:spPr>
          </c:dPt>
          <c:dPt>
            <c:idx val="12"/>
            <c:spPr>
              <a:solidFill>
                <a:srgbClr val="F2A65A"/>
              </a:solidFill>
            </c:spPr>
          </c:dPt>
          <c:dPt>
            <c:idx val="13"/>
            <c:spPr>
              <a:solidFill>
                <a:srgbClr val="316CE3"/>
              </a:solidFill>
            </c:spPr>
          </c:dPt>
          <c:dPt>
            <c:idx val="14"/>
            <c:spPr>
              <a:solidFill>
                <a:srgbClr val="F2A65A"/>
              </a:solidFill>
            </c:spPr>
          </c:dPt>
          <c:dPt>
            <c:idx val="15"/>
            <c:spPr>
              <a:solidFill>
                <a:srgbClr val="F2A65A"/>
              </a:solidFill>
            </c:spPr>
          </c:dPt>
          <c:dPt>
            <c:idx val="16"/>
            <c:spPr>
              <a:solidFill>
                <a:srgbClr val="316CE3"/>
              </a:solidFill>
            </c:spPr>
          </c:dPt>
          <c:dPt>
            <c:idx val="17"/>
            <c:spPr>
              <a:solidFill>
                <a:srgbClr val="F2A65A"/>
              </a:solidFill>
            </c:spPr>
          </c:dPt>
          <c:dPt>
            <c:idx val="18"/>
            <c:spPr>
              <a:solidFill>
                <a:srgbClr val="F2A65A"/>
              </a:solidFill>
            </c:spPr>
          </c:dPt>
          <c:dPt>
            <c:idx val="19"/>
            <c:spPr>
              <a:solidFill>
                <a:srgbClr val="F2A65A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300">
                        <a:solidFill>
                          <a:srgbClr val="FFFFFF"/>
                        </a:solidFill>
                        <a:latin typeface="Arial"/>
                      </a:rPr>
                      <a:t>3,58x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300">
                        <a:solidFill>
                          <a:srgbClr val="FFFFFF"/>
                        </a:solidFill>
                        <a:latin typeface="Arial"/>
                      </a:rPr>
                      <a:t>2,98x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300">
                        <a:solidFill>
                          <a:srgbClr val="FFFFFF"/>
                        </a:solidFill>
                        <a:latin typeface="Arial"/>
                      </a:rPr>
                      <a:t>2,64x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300">
                        <a:solidFill>
                          <a:srgbClr val="FFFFFF"/>
                        </a:solidFill>
                        <a:latin typeface="Arial"/>
                      </a:rPr>
                      <a:t>2,38x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300">
                        <a:solidFill>
                          <a:srgbClr val="FFFFFF"/>
                        </a:solidFill>
                        <a:latin typeface="Arial"/>
                      </a:rPr>
                      <a:t>2,33x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1300">
                        <a:solidFill>
                          <a:srgbClr val="FFFFFF"/>
                        </a:solidFill>
                        <a:latin typeface="Arial"/>
                      </a:rPr>
                      <a:t>2,31x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r>
                      <a:rPr sz="1300">
                        <a:solidFill>
                          <a:srgbClr val="FFFFFF"/>
                        </a:solidFill>
                        <a:latin typeface="Arial"/>
                      </a:rPr>
                      <a:t>2,22x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/>
                  <a:lstStyle/>
                  <a:p>
                    <a:r>
                      <a:rPr sz="1300">
                        <a:solidFill>
                          <a:srgbClr val="FFFFFF"/>
                        </a:solidFill>
                        <a:latin typeface="Arial"/>
                      </a:rPr>
                      <a:t>2,17x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/>
                  <a:lstStyle/>
                  <a:p>
                    <a:r>
                      <a:rPr sz="1300">
                        <a:solidFill>
                          <a:srgbClr val="FFFFFF"/>
                        </a:solidFill>
                        <a:latin typeface="Arial"/>
                      </a:rPr>
                      <a:t>2,10x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/>
                  <a:lstStyle/>
                  <a:p>
                    <a:r>
                      <a:rPr sz="1300">
                        <a:solidFill>
                          <a:srgbClr val="FFFFFF"/>
                        </a:solidFill>
                        <a:latin typeface="Arial"/>
                      </a:rPr>
                      <a:t>2,00x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/>
                  <a:lstStyle/>
                  <a:p>
                    <a:r>
                      <a:rPr sz="1300">
                        <a:solidFill>
                          <a:srgbClr val="FFFFFF"/>
                        </a:solidFill>
                        <a:latin typeface="Arial"/>
                      </a:rPr>
                      <a:t>1,99x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/>
                  <a:lstStyle/>
                  <a:p>
                    <a:r>
                      <a:rPr sz="1300">
                        <a:solidFill>
                          <a:srgbClr val="FFFFFF"/>
                        </a:solidFill>
                        <a:latin typeface="Arial"/>
                      </a:rPr>
                      <a:t>1,78x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>
                <c:rich>
                  <a:bodyPr/>
                  <a:lstStyle/>
                  <a:p>
                    <a:r>
                      <a:rPr sz="1300">
                        <a:solidFill>
                          <a:srgbClr val="FFFFFF"/>
                        </a:solidFill>
                        <a:latin typeface="Arial"/>
                      </a:rPr>
                      <a:t>1,76x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>
                <c:rich>
                  <a:bodyPr/>
                  <a:lstStyle/>
                  <a:p>
                    <a:r>
                      <a:rPr sz="1300">
                        <a:solidFill>
                          <a:srgbClr val="FFFFFF"/>
                        </a:solidFill>
                        <a:latin typeface="Arial"/>
                      </a:rPr>
                      <a:t>1,66x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4"/>
              <c:tx>
                <c:rich>
                  <a:bodyPr/>
                  <a:lstStyle/>
                  <a:p>
                    <a:r>
                      <a:rPr sz="1300">
                        <a:solidFill>
                          <a:srgbClr val="FFFFFF"/>
                        </a:solidFill>
                        <a:latin typeface="Arial"/>
                      </a:rPr>
                      <a:t>1,58x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5"/>
              <c:tx>
                <c:rich>
                  <a:bodyPr/>
                  <a:lstStyle/>
                  <a:p>
                    <a:r>
                      <a:rPr sz="1300">
                        <a:solidFill>
                          <a:srgbClr val="FFFFFF"/>
                        </a:solidFill>
                        <a:latin typeface="Arial"/>
                      </a:rPr>
                      <a:t>1,43x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6"/>
              <c:tx>
                <c:rich>
                  <a:bodyPr/>
                  <a:lstStyle/>
                  <a:p>
                    <a:r>
                      <a:rPr sz="1300">
                        <a:solidFill>
                          <a:srgbClr val="FFFFFF"/>
                        </a:solidFill>
                        <a:latin typeface="Arial"/>
                      </a:rPr>
                      <a:t>1,34x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7"/>
              <c:tx>
                <c:rich>
                  <a:bodyPr/>
                  <a:lstStyle/>
                  <a:p>
                    <a:r>
                      <a:rPr sz="1300">
                        <a:solidFill>
                          <a:srgbClr val="FFFFFF"/>
                        </a:solidFill>
                        <a:latin typeface="Arial"/>
                      </a:rPr>
                      <a:t>1,34x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8"/>
              <c:tx>
                <c:rich>
                  <a:bodyPr/>
                  <a:lstStyle/>
                  <a:p>
                    <a:r>
                      <a:rPr sz="1300">
                        <a:solidFill>
                          <a:srgbClr val="FFFFFF"/>
                        </a:solidFill>
                        <a:latin typeface="Arial"/>
                      </a:rPr>
                      <a:t>1,11x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9"/>
              <c:tx>
                <c:rich>
                  <a:bodyPr/>
                  <a:lstStyle/>
                  <a:p>
                    <a:r>
                      <a:rPr sz="1300">
                        <a:solidFill>
                          <a:srgbClr val="FFFFFF"/>
                        </a:solidFill>
                        <a:latin typeface="Arial"/>
                      </a:rPr>
                      <a:t>1,08x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query48</c:v>
                </c:pt>
                <c:pt idx="1">
                  <c:v>query43</c:v>
                </c:pt>
                <c:pt idx="2">
                  <c:v>query96</c:v>
                </c:pt>
                <c:pt idx="3">
                  <c:v>query52</c:v>
                </c:pt>
                <c:pt idx="4">
                  <c:v>query42</c:v>
                </c:pt>
                <c:pt idx="5">
                  <c:v>query55</c:v>
                </c:pt>
                <c:pt idx="6">
                  <c:v>query7</c:v>
                </c:pt>
                <c:pt idx="7">
                  <c:v>query19</c:v>
                </c:pt>
                <c:pt idx="8">
                  <c:v>query89</c:v>
                </c:pt>
                <c:pt idx="9">
                  <c:v>query72</c:v>
                </c:pt>
                <c:pt idx="10">
                  <c:v>query14</c:v>
                </c:pt>
                <c:pt idx="11">
                  <c:v>query64</c:v>
                </c:pt>
                <c:pt idx="12">
                  <c:v>query67</c:v>
                </c:pt>
                <c:pt idx="13">
                  <c:v>query3</c:v>
                </c:pt>
                <c:pt idx="14">
                  <c:v>query98</c:v>
                </c:pt>
                <c:pt idx="15">
                  <c:v>query78</c:v>
                </c:pt>
                <c:pt idx="16">
                  <c:v>query28</c:v>
                </c:pt>
                <c:pt idx="17">
                  <c:v>query47</c:v>
                </c:pt>
                <c:pt idx="18">
                  <c:v>query23</c:v>
                </c:pt>
                <c:pt idx="19">
                  <c:v>query57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3.58</c:v>
                </c:pt>
                <c:pt idx="1">
                  <c:v>2.98</c:v>
                </c:pt>
                <c:pt idx="2">
                  <c:v>2.64</c:v>
                </c:pt>
                <c:pt idx="3">
                  <c:v>2.38</c:v>
                </c:pt>
                <c:pt idx="4">
                  <c:v>2.33</c:v>
                </c:pt>
                <c:pt idx="5">
                  <c:v>2.31</c:v>
                </c:pt>
                <c:pt idx="6">
                  <c:v>2.22</c:v>
                </c:pt>
                <c:pt idx="7">
                  <c:v>2.17</c:v>
                </c:pt>
                <c:pt idx="8">
                  <c:v>2.1</c:v>
                </c:pt>
                <c:pt idx="9">
                  <c:v>2.0</c:v>
                </c:pt>
                <c:pt idx="10">
                  <c:v>1.99</c:v>
                </c:pt>
                <c:pt idx="11">
                  <c:v>1.78</c:v>
                </c:pt>
                <c:pt idx="12">
                  <c:v>1.76</c:v>
                </c:pt>
                <c:pt idx="13">
                  <c:v>1.66</c:v>
                </c:pt>
                <c:pt idx="14">
                  <c:v>1.58</c:v>
                </c:pt>
                <c:pt idx="15">
                  <c:v>1.43</c:v>
                </c:pt>
                <c:pt idx="16">
                  <c:v>1.34</c:v>
                </c:pt>
                <c:pt idx="17">
                  <c:v>1.34</c:v>
                </c:pt>
                <c:pt idx="18">
                  <c:v>1.11</c:v>
                </c:pt>
                <c:pt idx="19">
                  <c:v>1.08</c:v>
                </c:pt>
              </c:numCache>
            </c:numRef>
          </c:val>
        </c:ser>
        <c:dLbls>
          <c:numFmt formatCode="0.00&quot;x&quot;" sourceLinked="0"/>
          <c:txPr>
            <a:bodyPr/>
            <a:lstStyle/>
            <a:p>
              <a:pPr>
                <a:defRPr sz="1300">
                  <a:solidFill>
                    <a:srgbClr val="FFFFFF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9FB3C8"/>
            </a:solidFill>
          </a:ln>
        </c:spPr>
        <c:txPr>
          <a:bodyPr/>
          <a:lstStyle/>
          <a:p>
            <a:pPr>
              <a:defRPr sz="1300">
                <a:solidFill>
                  <a:srgbClr val="D9E2E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D9E2EC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Consultas por hora</c:v>
                </c:pt>
              </c:strCache>
            </c:strRef>
          </c:tx>
          <c:spPr>
            <a:solidFill>
              <a:srgbClr val="316CE3"/>
            </a:solidFill>
          </c:spPr>
          <c:dPt>
            <c:idx val="0"/>
            <c:spPr>
              <a:solidFill>
                <a:srgbClr val="8FA3B8"/>
              </a:solidFill>
            </c:spPr>
          </c:dPt>
          <c:dPt>
            <c:idx val="1"/>
            <c:spPr>
              <a:solidFill>
                <a:srgbClr val="316CE3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2800">
                        <a:solidFill>
                          <a:srgbClr val="FFFFFF"/>
                        </a:solidFill>
                        <a:latin typeface="Arial"/>
                      </a:rPr>
                      <a:t>680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2800">
                        <a:solidFill>
                          <a:srgbClr val="FFFFFF"/>
                        </a:solidFill>
                        <a:latin typeface="Arial"/>
                      </a:rPr>
                      <a:t>1224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RA3</c:v>
                </c:pt>
                <c:pt idx="1">
                  <c:v>RG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680.0</c:v>
                </c:pt>
                <c:pt idx="1">
                  <c:v>1224.0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2800">
                  <a:solidFill>
                    <a:srgbClr val="FFFFFF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9FB3C8"/>
            </a:solidFill>
          </a:ln>
        </c:spPr>
        <c:txPr>
          <a:bodyPr/>
          <a:lstStyle/>
          <a:p>
            <a:pPr>
              <a:defRPr sz="2400">
                <a:solidFill>
                  <a:srgbClr val="D9E2E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2400">
          <a:solidFill>
            <a:srgbClr val="D9E2EC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RA3</c:v>
                </c:pt>
              </c:strCache>
            </c:strRef>
          </c:tx>
          <c:spPr>
            <a:solidFill>
              <a:srgbClr val="8FA3B8"/>
            </a:solidFill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2000">
                        <a:solidFill>
                          <a:srgbClr val="FFFFFF"/>
                        </a:solidFill>
                        <a:latin typeface="Arial"/>
                      </a:rPr>
                      <a:t>40,1 s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2000">
                        <a:solidFill>
                          <a:srgbClr val="FFFFFF"/>
                        </a:solidFill>
                        <a:latin typeface="Arial"/>
                      </a:rPr>
                      <a:t>7,7 s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COPY store_returns</c:v>
                </c:pt>
                <c:pt idx="1">
                  <c:v>CTAS pesado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40.130273</c:v>
                </c:pt>
                <c:pt idx="1">
                  <c:v>7.7445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RG</c:v>
                </c:pt>
              </c:strCache>
            </c:strRef>
          </c:tx>
          <c:spPr>
            <a:solidFill>
              <a:srgbClr val="316CE3"/>
            </a:solidFill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2000">
                        <a:solidFill>
                          <a:srgbClr val="FFFFFF"/>
                        </a:solidFill>
                        <a:latin typeface="Arial"/>
                      </a:rPr>
                      <a:t>26,8 s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2000">
                        <a:solidFill>
                          <a:srgbClr val="FFFFFF"/>
                        </a:solidFill>
                        <a:latin typeface="Arial"/>
                      </a:rPr>
                      <a:t>4,8 s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COPY store_returns</c:v>
                </c:pt>
                <c:pt idx="1">
                  <c:v>CTAS pesado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26.780941</c:v>
                </c:pt>
                <c:pt idx="1">
                  <c:v>4.795185</c:v>
                </c:pt>
              </c:numCache>
            </c:numRef>
          </c:val>
        </c:ser>
        <c:dLbls>
          <c:numFmt formatCode="0.0&quot; s&quot;" sourceLinked="0"/>
          <c:txPr>
            <a:bodyPr/>
            <a:lstStyle/>
            <a:p>
              <a:pPr>
                <a:defRPr sz="2000">
                  <a:solidFill>
                    <a:srgbClr val="FFFFFF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9FB3C8"/>
            </a:solidFill>
          </a:ln>
        </c:spPr>
        <c:txPr>
          <a:bodyPr/>
          <a:lstStyle/>
          <a:p>
            <a:pPr>
              <a:defRPr sz="2000">
                <a:solidFill>
                  <a:srgbClr val="D9E2E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2000">
              <a:solidFill>
                <a:srgbClr val="D9E2EC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2000">
          <a:solidFill>
            <a:srgbClr val="D9E2EC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RA3</c:v>
                </c:pt>
              </c:strCache>
            </c:strRef>
          </c:tx>
          <c:spPr>
            <a:solidFill>
              <a:srgbClr val="8FA3B8"/>
            </a:solidFill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500">
                        <a:solidFill>
                          <a:srgbClr val="FFFFFF"/>
                        </a:solidFill>
                        <a:latin typeface="Arial"/>
                      </a:rPr>
                      <a:t>1,7 s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500">
                        <a:solidFill>
                          <a:srgbClr val="FFFFFF"/>
                        </a:solidFill>
                        <a:latin typeface="Arial"/>
                      </a:rPr>
                      <a:t>3,3 s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500">
                        <a:solidFill>
                          <a:srgbClr val="FFFFFF"/>
                        </a:solidFill>
                        <a:latin typeface="Arial"/>
                      </a:rPr>
                      <a:t>3,0 s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500">
                        <a:solidFill>
                          <a:srgbClr val="FFFFFF"/>
                        </a:solidFill>
                        <a:latin typeface="Arial"/>
                      </a:rPr>
                      <a:t>3,4 s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500">
                        <a:solidFill>
                          <a:srgbClr val="FFFFFF"/>
                        </a:solidFill>
                        <a:latin typeface="Arial"/>
                      </a:rPr>
                      <a:t>8,4 s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1500">
                        <a:solidFill>
                          <a:srgbClr val="FFFFFF"/>
                        </a:solidFill>
                        <a:latin typeface="Arial"/>
                      </a:rPr>
                      <a:t>9,6 s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lq3</c:v>
                </c:pt>
                <c:pt idx="1">
                  <c:v>lq42</c:v>
                </c:pt>
                <c:pt idx="2">
                  <c:v>lq52</c:v>
                </c:pt>
                <c:pt idx="3">
                  <c:v>lq55</c:v>
                </c:pt>
                <c:pt idx="4">
                  <c:v>lqcu</c:v>
                </c:pt>
                <c:pt idx="5">
                  <c:v>lqst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1.6926899999999998</c:v>
                </c:pt>
                <c:pt idx="1">
                  <c:v>3.34598</c:v>
                </c:pt>
                <c:pt idx="2">
                  <c:v>3.0020345</c:v>
                </c:pt>
                <c:pt idx="3">
                  <c:v>3.3644555</c:v>
                </c:pt>
                <c:pt idx="4">
                  <c:v>8.443077</c:v>
                </c:pt>
                <c:pt idx="5">
                  <c:v>9.5946095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RG</c:v>
                </c:pt>
              </c:strCache>
            </c:strRef>
          </c:tx>
          <c:spPr>
            <a:solidFill>
              <a:srgbClr val="316CE3"/>
            </a:solidFill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500">
                        <a:solidFill>
                          <a:srgbClr val="FFFFFF"/>
                        </a:solidFill>
                        <a:latin typeface="Arial"/>
                      </a:rPr>
                      <a:t>2,5 s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500">
                        <a:solidFill>
                          <a:srgbClr val="FFFFFF"/>
                        </a:solidFill>
                        <a:latin typeface="Arial"/>
                      </a:rPr>
                      <a:t>1,4 s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500">
                        <a:solidFill>
                          <a:srgbClr val="FFFFFF"/>
                        </a:solidFill>
                        <a:latin typeface="Arial"/>
                      </a:rPr>
                      <a:t>1,6 s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500">
                        <a:solidFill>
                          <a:srgbClr val="FFFFFF"/>
                        </a:solidFill>
                        <a:latin typeface="Arial"/>
                      </a:rPr>
                      <a:t>1,3 s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500">
                        <a:solidFill>
                          <a:srgbClr val="FFFFFF"/>
                        </a:solidFill>
                        <a:latin typeface="Arial"/>
                      </a:rPr>
                      <a:t>3,7 s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1500">
                        <a:solidFill>
                          <a:srgbClr val="FFFFFF"/>
                        </a:solidFill>
                        <a:latin typeface="Arial"/>
                      </a:rPr>
                      <a:t>4,1 s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lq3</c:v>
                </c:pt>
                <c:pt idx="1">
                  <c:v>lq42</c:v>
                </c:pt>
                <c:pt idx="2">
                  <c:v>lq52</c:v>
                </c:pt>
                <c:pt idx="3">
                  <c:v>lq55</c:v>
                </c:pt>
                <c:pt idx="4">
                  <c:v>lqcu</c:v>
                </c:pt>
                <c:pt idx="5">
                  <c:v>lqst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2.5409165</c:v>
                </c:pt>
                <c:pt idx="1">
                  <c:v>1.362477</c:v>
                </c:pt>
                <c:pt idx="2">
                  <c:v>1.5652460000000001</c:v>
                </c:pt>
                <c:pt idx="3">
                  <c:v>1.321555</c:v>
                </c:pt>
                <c:pt idx="4">
                  <c:v>3.68183</c:v>
                </c:pt>
                <c:pt idx="5">
                  <c:v>4.10482</c:v>
                </c:pt>
              </c:numCache>
            </c:numRef>
          </c:val>
        </c:ser>
        <c:dLbls>
          <c:numFmt formatCode="0.0&quot; s&quot;" sourceLinked="0"/>
          <c:txPr>
            <a:bodyPr/>
            <a:lstStyle/>
            <a:p>
              <a:pPr>
                <a:defRPr sz="1500">
                  <a:solidFill>
                    <a:srgbClr val="FFFFFF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9FB3C8"/>
            </a:solidFill>
          </a:ln>
        </c:spPr>
        <c:txPr>
          <a:bodyPr/>
          <a:lstStyle/>
          <a:p>
            <a:pPr>
              <a:defRPr sz="1700">
                <a:solidFill>
                  <a:srgbClr val="D9E2E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700">
              <a:solidFill>
                <a:srgbClr val="D9E2EC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700">
          <a:solidFill>
            <a:srgbClr val="D9E2EC"/>
          </a:solidFill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Buenas tardes. Hoy no vengo a contarles lo que dice el anuncio de AWS; vengo a contarles qué pasó cuando lo medí. Ese 1,90x es uno de los números de hoy, y al final van a ver que no es el único que importa.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 gusta probar las cosas antes de recomendarlas. Esta charla es eso: un laboratorio que armé esta semana, con su costo y sus errores incluidos.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Cinco temas y una demo. Al final, una respuesta concreta a la pregunta del título, y tres preguntas de Kahoot.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idea no es desmentir a nadie. AWS publica sus números; nosotros los verificamos en el tamaño de clúster que la mayoría opera. Cuando se cumplen, lo decimos; cuando dependen de algo, explicamos de qué.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Primero, qué es exactamente un nodo RG y en qué se diferencia de RA3.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Esto es importante para entender los resultados del lago: cuando comparamos RA3 con RG en el lago no comparamos solo procesadores, comparamos dos motores distintos. Por eso siempre hablo de motor más chip y nunca de solo el chip. Fuente: documentación de Redshift, Amazon Redshift provisioned clusters.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30 % por vCPU se cumple al centavo: 1,086 entre 4 vCPU contra 0,7602 entre 4. Ojo con el 4xlarge: un ra3.4xlarge tiene 12 vCPU y un rg.4xlarge tiene 16. AWS recomienda pasar 4 nodos RA3 a 3 nodos RG; si migras 1 a 1 en ese tamaño compras un tercio más de capacidad de la que tenías.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Estas son las cuatro promesas que vamos a probar. Fíjense en el pie: AWS midió 10 TB en nodos 4xlarge. Yo medí el clúster que la mayoría de los equipos opera de verdad.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Antes de mostrar un solo número, cómo lo obtuve, porque un benchmark sin método es una opinión con decimales.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Una VPC propia con enhanced VPC routing y endpoints para S3, Glue, Lake Formation y S3 Tables. RA3 con 2 nodos ra3.xlplus; RG con 2 nodos rg.xlarge restaurado del mismo snapshot, así que los dos clústeres tienen exactamente los mismos datos. El lago en S3: Iceberg y Parquet registrados en Glue. RA3 lee el lago con la flota de Spectrum, fuera de la VPC; RG con su motor integrado, desde la VPC por los endpoints. Las consultas las lanza un runner en Python por la Data API, y la infraestructura la crea GitHub Actions con OIDC, sin llaves guardadas en ningún lado.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 más importante es el último punto: el runner revisa cada consulta y si alguna usó la caché de resultados, la corrida entera se descarta. Ninguna se descartó hoy.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Prefiero decirlo al principio. Con 100 GB los datos calientes caben en buena parte en memoria, y eso reduce la ventaja de RG en escaneos grandes. Si aun así vemos ventaja, es una buena señal; con más datos esperaría que la brecha de scan crezca, pero no lo medí.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Empecemos por lo que hace todo warehouse: consultas sobre tablas propias.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Veinte consultas, cada una tres veces, la primera de calentamiento. RG fue más rápido en las veinte. La que más ganó, query48, 3,58 veces; la que menos, query57, 1,08 veces. La media geométrica, que es la forma justa de promediar aceleraciones, da 1,90x. En azul las consultas de scan, en naranja las de CPU.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Separé las consultas en dos clases antes de correrlas, no después. Las que leen mucho y agregan ganaron 2,28 veces: ahí es donde Graviton y el ancho de banda de memoria brillan. Las de CPU, con funciones de ventana y joins de quince tablas, ganaron 1,58. Si tu warehouse es mayormente dashboards con agregaciones, estás del lado bueno.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Cinco usuarios lanzando las mismas veinte consultas en orden aleatorio durante media hora. RG completó 1224 consultas por hora contra 680 de RA3. Ninguno tuvo que encolar consultas.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carga inicial la hice una sola vez, en RA3, y RG nació del snapshot. El escenario de ELT repite un COPY y un CTAS en los dos: RG fue 1,5 y 1,6 veces más rápido. Son dos corridas por escenario, así que lo tomo como dirección, no como número exacto.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Esto es lo que más le interesa a quien paga la factura. No es solo que el nodo sea más barato: como también termina antes, cada corrida cuesta menos de la mitad.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Ahora la parte más interesante, y la que más depende de cómo tienes tus datos.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Escribí las mismas cinco tablas en Iceberg y en Parquet desde el warehouse, y comprobé que las seis consultas del lago devuelven exactamente las mismas 483 filas en las tres versiones. Así lo único que cambia es cómo se leen.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RG lee Iceberg casi dos veces más rápido que RA3, pero hay letra chica: la primera vez que RG toca los datos tarda bastante más, porque los trae y los guarda en caché. Mi método descarta la primera pasada, así que este número es con caché caliente. Si tus consultas al lago son esporádicas, cuenta con esa primera lectura.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fue el resultado que más me sorprendió. Con Parquet, RG empezó siendo más lento que RA3. Revisé el plan de ejecución: idéntico en los dos. Lo distinto era el formato de los archivos: Redshift los había escrito en solo cuatro archivos enormes, uno por slice, porque el tope por defecto es 6.200 MB. Los reescribí en archivos de medio giga y RG pasó a ganar, mientras que RA3 empeoró. El mismo cambio ayuda a un motor y perjudica al otro.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nuestro lab son centavos, porque son 100 GB. Pero esto escala con el volumen y con la frecuencia: un equipo que escanea decenas de TB al mes en el lago lo nota en la factura. En RG ese cargo desaparece.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Quería medir S3 Tables y no pude, por una razón de diseño: las tablas de S3 Tables se leen por el catálogo montado automáticamente, que exige conectarse con identidad IAM, y el runner se conecta con un usuario de base de datos. Cambiar de usuario solo para esa variante habría medido otra ruta de permisos. Iceberg además no acepta CHAR, y Lake Formation exige permisos explícitos sobre las bases de Glue.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Supongamos que decides migrar. ¿Cuánto duele?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Restauré una copia de RA3 e hice el elastic resize a RG, probando una escritura cada 30 segundos. El resize empezó a las 19:05:47 y terminó a las 19:08:35. El clúster estuvo en solo lectura entre 1 minuto 35 y 2 minutos 42 segundos; el rango es por el sondeo cada 30 segundos. Con el mapeo 1 a 1 se conserva la cantidad de slices, así que la distribución de los datos no cambió. Ojo: eso vale para 2 nodos a 2 nodos; si cambias la cantidad de nodos, como en el 4 a 3 de los 4xlarge, el skew sí puede aparecer.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 tres primeras me pasaron en el simulacro, en ese orden, y no las encontré en la guía de migración. Las dos últimas sí están en la documentación y en el blog de AWS. Todas quedaron resueltas en el script del repo.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Ahora veamos las consultas y los datos reales.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Una consulta típica de scan: cuenta ventas filtrando por tres dimensiones, sobre 288 millones de filas en la tabla de hechos. En RA3 tarda 1,77 segundos; en RG, 0,67.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Así diagnostiqué el caso de Parquet. Si los planes fueran distintos, la diferencia sería el plan y no el motor. Son iguales; cambia el operador que lee S3. Cuando veas una diferencia rara entre clústeres, empieza por aquí.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 página tiene todos los números de la charla, sacados directamente de los archivos del repo. La voy a abrir un momento para que vean cada consulta. Abrir: https://claude.ai/artifact/1MgMakVPq4URRXQMZp4aVk (privada, con la sesión del orador; copia local: slides/demo/resultados.html).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 es mi respuesta a la pregunta del título. Para la mayoría de los equipos con RA3 la migración conviene: es más rápida y más barata, y el resize toma minutos. Pero prueba con tus datos, sobre todo si tu lago es Parquet o tu carga es de CPU. Serverless es otra decisión, sobre la forma de tu uso, y no la medí, así que no te doy un número.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Todo lo que vieron está en el repo: la infraestructura, el runner, el runbook con cada paso y los errores que encontré. Cámbiale el dataset por el tuyo y repite las mediciones.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Kahoot. 1) Con qué leen el lago los RG: b) un motor de lago integrado en el propio clúster (a Spectrum, c Athena, d Glue ETL). RA3 usa Spectrum, que cobra USD 5 por TB. 2) Qué consultas ganaron más: b) las de scan y agregación (a CPU, c ninguna, d solo lago). Scan 2,28x frente a CPU 1,58x. 3) 4 ra3.4xlarge a cuántos rg.4xlarge: b) 3 (a 4, c 2, d 8). 4 × 12 vCPU = 3 × 16 vCPU = 48.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Gracias. Respondo preguntas en el chat. Si preguntan por Snowflake u otras plataformas: trabajo con varias y son buenas respuestas a contextos distintos; hoy vine a medir la decisión que los equipos nativos de AWS ya tienen enfrente: RA3 o RG.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5.svg"/><Relationship Id="rId5" Type="http://schemas.openxmlformats.org/officeDocument/2006/relationships/image" Target="../media/image2.png"/><Relationship Id="rId6" Type="http://schemas.openxmlformats.org/officeDocument/2006/relationships/image" Target="../media/image3.svg"/><Relationship Id="rId7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5.svg"/><Relationship Id="rId5" Type="http://schemas.openxmlformats.org/officeDocument/2006/relationships/image" Target="../media/image2.png"/><Relationship Id="rId6" Type="http://schemas.openxmlformats.org/officeDocument/2006/relationships/image" Target="../media/image3.svg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4.png"/><Relationship Id="rId4" Type="http://schemas.openxmlformats.org/officeDocument/2006/relationships/image" Target="../media/image5.svg"/><Relationship Id="rId5" Type="http://schemas.openxmlformats.org/officeDocument/2006/relationships/image" Target="../media/image2.png"/><Relationship Id="rId6" Type="http://schemas.openxmlformats.org/officeDocument/2006/relationships/image" Target="../media/image3.svg"/><Relationship Id="rId7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5.svg"/><Relationship Id="rId5" Type="http://schemas.openxmlformats.org/officeDocument/2006/relationships/image" Target="../media/image2.png"/><Relationship Id="rId6" Type="http://schemas.openxmlformats.org/officeDocument/2006/relationships/image" Target="../media/image3.sv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4.png"/><Relationship Id="rId4" Type="http://schemas.openxmlformats.org/officeDocument/2006/relationships/image" Target="../media/image5.svg"/><Relationship Id="rId5" Type="http://schemas.openxmlformats.org/officeDocument/2006/relationships/image" Target="../media/image2.png"/><Relationship Id="rId6" Type="http://schemas.openxmlformats.org/officeDocument/2006/relationships/image" Target="../media/image3.svg"/><Relationship Id="rId7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4.png"/><Relationship Id="rId4" Type="http://schemas.openxmlformats.org/officeDocument/2006/relationships/image" Target="../media/image5.svg"/><Relationship Id="rId5" Type="http://schemas.openxmlformats.org/officeDocument/2006/relationships/image" Target="../media/image2.png"/><Relationship Id="rId6" Type="http://schemas.openxmlformats.org/officeDocument/2006/relationships/image" Target="../media/image3.svg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4.png"/><Relationship Id="rId4" Type="http://schemas.openxmlformats.org/officeDocument/2006/relationships/image" Target="../media/image5.svg"/><Relationship Id="rId5" Type="http://schemas.openxmlformats.org/officeDocument/2006/relationships/image" Target="../media/image2.png"/><Relationship Id="rId6" Type="http://schemas.openxmlformats.org/officeDocument/2006/relationships/image" Target="../media/image3.svg"/><Relationship Id="rId7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4.png"/><Relationship Id="rId4" Type="http://schemas.openxmlformats.org/officeDocument/2006/relationships/image" Target="../media/image5.svg"/><Relationship Id="rId5" Type="http://schemas.openxmlformats.org/officeDocument/2006/relationships/image" Target="../media/image2.png"/><Relationship Id="rId6" Type="http://schemas.openxmlformats.org/officeDocument/2006/relationships/image" Target="../media/image3.svg"/><Relationship Id="rId7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4.png"/><Relationship Id="rId4" Type="http://schemas.openxmlformats.org/officeDocument/2006/relationships/image" Target="../media/image5.svg"/><Relationship Id="rId5" Type="http://schemas.openxmlformats.org/officeDocument/2006/relationships/image" Target="../media/image2.png"/><Relationship Id="rId6" Type="http://schemas.openxmlformats.org/officeDocument/2006/relationships/image" Target="../media/image3.svg"/><Relationship Id="rId7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4.png"/><Relationship Id="rId4" Type="http://schemas.openxmlformats.org/officeDocument/2006/relationships/image" Target="../media/image5.svg"/><Relationship Id="rId5" Type="http://schemas.openxmlformats.org/officeDocument/2006/relationships/image" Target="../media/image2.png"/><Relationship Id="rId6" Type="http://schemas.openxmlformats.org/officeDocument/2006/relationships/image" Target="../media/image3.svg"/><Relationship Id="rId7" Type="http://schemas.openxmlformats.org/officeDocument/2006/relationships/image" Target="../media/image1.png"/><Relationship Id="rId8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4.png"/><Relationship Id="rId4" Type="http://schemas.openxmlformats.org/officeDocument/2006/relationships/image" Target="../media/image5.svg"/><Relationship Id="rId5" Type="http://schemas.openxmlformats.org/officeDocument/2006/relationships/image" Target="../media/image2.png"/><Relationship Id="rId6" Type="http://schemas.openxmlformats.org/officeDocument/2006/relationships/image" Target="../media/image3.svg"/><Relationship Id="rId7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4.png"/><Relationship Id="rId4" Type="http://schemas.openxmlformats.org/officeDocument/2006/relationships/image" Target="../media/image5.svg"/><Relationship Id="rId5" Type="http://schemas.openxmlformats.org/officeDocument/2006/relationships/image" Target="../media/image2.png"/><Relationship Id="rId6" Type="http://schemas.openxmlformats.org/officeDocument/2006/relationships/image" Target="../media/image3.svg"/><Relationship Id="rId7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4.png"/><Relationship Id="rId4" Type="http://schemas.openxmlformats.org/officeDocument/2006/relationships/image" Target="../media/image5.svg"/><Relationship Id="rId5" Type="http://schemas.openxmlformats.org/officeDocument/2006/relationships/image" Target="../media/image2.png"/><Relationship Id="rId6" Type="http://schemas.openxmlformats.org/officeDocument/2006/relationships/image" Target="../media/image3.svg"/><Relationship Id="rId7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5.svg"/><Relationship Id="rId5" Type="http://schemas.openxmlformats.org/officeDocument/2006/relationships/image" Target="../media/image2.png"/><Relationship Id="rId6" Type="http://schemas.openxmlformats.org/officeDocument/2006/relationships/image" Target="../media/image3.svg"/><Relationship Id="rId7" Type="http://schemas.openxmlformats.org/officeDocument/2006/relationships/chart" Target="../charts/chart1.xml"/><Relationship Id="rId8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5.svg"/><Relationship Id="rId5" Type="http://schemas.openxmlformats.org/officeDocument/2006/relationships/image" Target="../media/image2.png"/><Relationship Id="rId6" Type="http://schemas.openxmlformats.org/officeDocument/2006/relationships/image" Target="../media/image3.svg"/><Relationship Id="rId7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5.svg"/><Relationship Id="rId5" Type="http://schemas.openxmlformats.org/officeDocument/2006/relationships/image" Target="../media/image2.png"/><Relationship Id="rId6" Type="http://schemas.openxmlformats.org/officeDocument/2006/relationships/image" Target="../media/image3.svg"/><Relationship Id="rId7" Type="http://schemas.openxmlformats.org/officeDocument/2006/relationships/chart" Target="../charts/chart2.xml"/><Relationship Id="rId8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5.svg"/><Relationship Id="rId5" Type="http://schemas.openxmlformats.org/officeDocument/2006/relationships/image" Target="../media/image2.png"/><Relationship Id="rId6" Type="http://schemas.openxmlformats.org/officeDocument/2006/relationships/image" Target="../media/image3.svg"/><Relationship Id="rId7" Type="http://schemas.openxmlformats.org/officeDocument/2006/relationships/chart" Target="../charts/chart3.xml"/><Relationship Id="rId8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5.svg"/><Relationship Id="rId5" Type="http://schemas.openxmlformats.org/officeDocument/2006/relationships/image" Target="../media/image2.png"/><Relationship Id="rId6" Type="http://schemas.openxmlformats.org/officeDocument/2006/relationships/image" Target="../media/image3.svg"/><Relationship Id="rId7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4.png"/><Relationship Id="rId4" Type="http://schemas.openxmlformats.org/officeDocument/2006/relationships/image" Target="../media/image5.svg"/><Relationship Id="rId5" Type="http://schemas.openxmlformats.org/officeDocument/2006/relationships/image" Target="../media/image2.png"/><Relationship Id="rId6" Type="http://schemas.openxmlformats.org/officeDocument/2006/relationships/image" Target="../media/image3.svg"/><Relationship Id="rId7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4.png"/><Relationship Id="rId4" Type="http://schemas.openxmlformats.org/officeDocument/2006/relationships/image" Target="../media/image5.svg"/><Relationship Id="rId5" Type="http://schemas.openxmlformats.org/officeDocument/2006/relationships/image" Target="../media/image2.png"/><Relationship Id="rId6" Type="http://schemas.openxmlformats.org/officeDocument/2006/relationships/image" Target="../media/image3.svg"/><Relationship Id="rId7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4.png"/><Relationship Id="rId4" Type="http://schemas.openxmlformats.org/officeDocument/2006/relationships/image" Target="../media/image5.svg"/><Relationship Id="rId5" Type="http://schemas.openxmlformats.org/officeDocument/2006/relationships/image" Target="../media/image2.png"/><Relationship Id="rId6" Type="http://schemas.openxmlformats.org/officeDocument/2006/relationships/image" Target="../media/image3.svg"/><Relationship Id="rId7" Type="http://schemas.openxmlformats.org/officeDocument/2006/relationships/chart" Target="../charts/chart4.xml"/><Relationship Id="rId8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4.png"/><Relationship Id="rId4" Type="http://schemas.openxmlformats.org/officeDocument/2006/relationships/image" Target="../media/image5.svg"/><Relationship Id="rId5" Type="http://schemas.openxmlformats.org/officeDocument/2006/relationships/image" Target="../media/image2.png"/><Relationship Id="rId6" Type="http://schemas.openxmlformats.org/officeDocument/2006/relationships/image" Target="../media/image3.svg"/><Relationship Id="rId7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4.png"/><Relationship Id="rId4" Type="http://schemas.openxmlformats.org/officeDocument/2006/relationships/image" Target="../media/image5.svg"/><Relationship Id="rId5" Type="http://schemas.openxmlformats.org/officeDocument/2006/relationships/image" Target="../media/image2.png"/><Relationship Id="rId6" Type="http://schemas.openxmlformats.org/officeDocument/2006/relationships/image" Target="../media/image3.svg"/><Relationship Id="rId7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4.png"/><Relationship Id="rId4" Type="http://schemas.openxmlformats.org/officeDocument/2006/relationships/image" Target="../media/image5.svg"/><Relationship Id="rId5" Type="http://schemas.openxmlformats.org/officeDocument/2006/relationships/image" Target="../media/image2.png"/><Relationship Id="rId6" Type="http://schemas.openxmlformats.org/officeDocument/2006/relationships/image" Target="../media/image3.svg"/><Relationship Id="rId7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4.png"/><Relationship Id="rId4" Type="http://schemas.openxmlformats.org/officeDocument/2006/relationships/image" Target="../media/image5.svg"/><Relationship Id="rId5" Type="http://schemas.openxmlformats.org/officeDocument/2006/relationships/image" Target="../media/image2.png"/><Relationship Id="rId6" Type="http://schemas.openxmlformats.org/officeDocument/2006/relationships/image" Target="../media/image3.svg"/><Relationship Id="rId7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4.png"/><Relationship Id="rId4" Type="http://schemas.openxmlformats.org/officeDocument/2006/relationships/image" Target="../media/image5.svg"/><Relationship Id="rId5" Type="http://schemas.openxmlformats.org/officeDocument/2006/relationships/image" Target="../media/image2.png"/><Relationship Id="rId6" Type="http://schemas.openxmlformats.org/officeDocument/2006/relationships/image" Target="../media/image3.svg"/><Relationship Id="rId7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4.png"/><Relationship Id="rId4" Type="http://schemas.openxmlformats.org/officeDocument/2006/relationships/image" Target="../media/image5.svg"/><Relationship Id="rId5" Type="http://schemas.openxmlformats.org/officeDocument/2006/relationships/image" Target="../media/image2.png"/><Relationship Id="rId6" Type="http://schemas.openxmlformats.org/officeDocument/2006/relationships/image" Target="../media/image3.svg"/><Relationship Id="rId7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4.png"/><Relationship Id="rId4" Type="http://schemas.openxmlformats.org/officeDocument/2006/relationships/image" Target="../media/image5.svg"/><Relationship Id="rId5" Type="http://schemas.openxmlformats.org/officeDocument/2006/relationships/image" Target="../media/image2.png"/><Relationship Id="rId6" Type="http://schemas.openxmlformats.org/officeDocument/2006/relationships/image" Target="../media/image3.svg"/><Relationship Id="rId7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5.svg"/><Relationship Id="rId5" Type="http://schemas.openxmlformats.org/officeDocument/2006/relationships/image" Target="../media/image2.png"/><Relationship Id="rId6" Type="http://schemas.openxmlformats.org/officeDocument/2006/relationships/image" Target="../media/image3.svg"/><Relationship Id="rId7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5.svg"/><Relationship Id="rId5" Type="http://schemas.openxmlformats.org/officeDocument/2006/relationships/image" Target="../media/image2.png"/><Relationship Id="rId6" Type="http://schemas.openxmlformats.org/officeDocument/2006/relationships/image" Target="../media/image3.svg"/><Relationship Id="rId7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5.svg"/><Relationship Id="rId5" Type="http://schemas.openxmlformats.org/officeDocument/2006/relationships/image" Target="../media/image2.png"/><Relationship Id="rId6" Type="http://schemas.openxmlformats.org/officeDocument/2006/relationships/image" Target="../media/image3.svg"/><Relationship Id="rId7" Type="http://schemas.openxmlformats.org/officeDocument/2006/relationships/image" Target="../media/image7.png"/><Relationship Id="rId8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4.png"/><Relationship Id="rId4" Type="http://schemas.openxmlformats.org/officeDocument/2006/relationships/image" Target="../media/image5.svg"/><Relationship Id="rId5" Type="http://schemas.openxmlformats.org/officeDocument/2006/relationships/image" Target="../media/image2.png"/><Relationship Id="rId6" Type="http://schemas.openxmlformats.org/officeDocument/2006/relationships/image" Target="../media/image3.svg"/><Relationship Id="rId7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4.png"/><Relationship Id="rId4" Type="http://schemas.openxmlformats.org/officeDocument/2006/relationships/image" Target="../media/image5.svg"/><Relationship Id="rId5" Type="http://schemas.openxmlformats.org/officeDocument/2006/relationships/image" Target="../media/image2.png"/><Relationship Id="rId6" Type="http://schemas.openxmlformats.org/officeDocument/2006/relationships/image" Target="../media/image3.svg"/><Relationship Id="rId7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4.png"/><Relationship Id="rId4" Type="http://schemas.openxmlformats.org/officeDocument/2006/relationships/image" Target="../media/image5.svg"/><Relationship Id="rId5" Type="http://schemas.openxmlformats.org/officeDocument/2006/relationships/image" Target="../media/image2.png"/><Relationship Id="rId6" Type="http://schemas.openxmlformats.org/officeDocument/2006/relationships/image" Target="../media/image3.svg"/><Relationship Id="rId7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4.png"/><Relationship Id="rId4" Type="http://schemas.openxmlformats.org/officeDocument/2006/relationships/image" Target="../media/image5.svg"/><Relationship Id="rId5" Type="http://schemas.openxmlformats.org/officeDocument/2006/relationships/image" Target="../media/image2.png"/><Relationship Id="rId6" Type="http://schemas.openxmlformats.org/officeDocument/2006/relationships/image" Target="../media/image3.svg"/><Relationship Id="rId7" Type="http://schemas.openxmlformats.org/officeDocument/2006/relationships/notesSlide" Target="../notesSlides/notesSlide35.xm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2E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3520440" y="868680"/>
            <a:ext cx="12070080" cy="1874519"/>
          </a:xfrm>
          <a:prstGeom prst="rect">
            <a:avLst/>
          </a:prstGeom>
        </p:spPr>
        <p:txBody>
          <a:bodyPr anchor="ctr" rtlCol="false" tIns="0" lIns="0" bIns="0" rIns="0" wrap="square">
            <a:spAutoFit/>
          </a:bodyPr>
          <a:lstStyle/>
          <a:p>
            <a:pPr algn="l" marL="0" indent="0" lvl="0">
              <a:lnSpc>
                <a:spcPts val="10481"/>
              </a:lnSpc>
              <a:spcBef>
                <a:spcPct val="0"/>
              </a:spcBef>
            </a:pPr>
            <a:r>
              <a:rPr lang="en-US" b="true" sz="7200">
                <a:solidFill>
                  <a:srgbClr val="FFFFFF"/>
                </a:solidFill>
                <a:latin typeface="Raleway 1 Heavy"/>
                <a:ea typeface="Raleway 1 Heavy"/>
                <a:cs typeface="Raleway 1 Heavy"/>
                <a:sym typeface="Raleway 1 Heavy"/>
              </a:rPr>
              <a:t>Redshift Redemption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536304" y="308054"/>
            <a:ext cx="650696" cy="409939"/>
          </a:xfrm>
          <a:custGeom>
            <a:avLst/>
            <a:gdLst/>
            <a:ahLst/>
            <a:cxnLst/>
            <a:rect r="r" b="b" t="t" l="l"/>
            <a:pathLst>
              <a:path h="409939" w="650696">
                <a:moveTo>
                  <a:pt x="0" y="0"/>
                </a:moveTo>
                <a:lnTo>
                  <a:pt x="650697" y="0"/>
                </a:lnTo>
                <a:lnTo>
                  <a:pt x="650697" y="409938"/>
                </a:lnTo>
                <a:lnTo>
                  <a:pt x="0" y="40993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219785" y="9070932"/>
            <a:ext cx="4151107" cy="986035"/>
            <a:chOff x="0" y="0"/>
            <a:chExt cx="5534810" cy="131471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314713" cy="1314713"/>
            </a:xfrm>
            <a:custGeom>
              <a:avLst/>
              <a:gdLst/>
              <a:ahLst/>
              <a:cxnLst/>
              <a:rect r="r" b="b" t="t" l="l"/>
              <a:pathLst>
                <a:path h="1314713" w="1314713">
                  <a:moveTo>
                    <a:pt x="0" y="0"/>
                  </a:moveTo>
                  <a:lnTo>
                    <a:pt x="1314713" y="0"/>
                  </a:lnTo>
                  <a:lnTo>
                    <a:pt x="1314713" y="1314713"/>
                  </a:lnTo>
                  <a:lnTo>
                    <a:pt x="0" y="13147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 rot="0">
              <a:off x="1455753" y="151974"/>
              <a:ext cx="3148240" cy="46230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702"/>
                </a:lnSpc>
              </a:pPr>
              <a:r>
                <a:rPr lang="en-US" b="true" sz="2252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OCTUBRE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1468453" y="585710"/>
              <a:ext cx="4066356" cy="5651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30"/>
                </a:lnSpc>
              </a:pPr>
              <a:r>
                <a:rPr lang="en-US" sz="1097" b="true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Mes de </a:t>
              </a:r>
            </a:p>
            <a:p>
              <a:pPr algn="l">
                <a:lnSpc>
                  <a:spcPts val="2059"/>
                </a:lnSpc>
              </a:pPr>
              <a:r>
                <a:rPr lang="en-US" b="true" sz="1999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HAN SOLO</a:t>
              </a: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258571" y="221658"/>
            <a:ext cx="15091730" cy="563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60"/>
              </a:lnSpc>
            </a:pPr>
            <a:r>
              <a:rPr lang="en-US" sz="2000">
                <a:solidFill>
                  <a:srgbClr val="316CE3"/>
                </a:solidFill>
                <a:latin typeface="Gotham"/>
                <a:ea typeface="Gotham"/>
                <a:cs typeface="Gotham"/>
                <a:sym typeface="Gotham"/>
              </a:rPr>
              <a:t>HOY:</a:t>
            </a:r>
          </a:p>
          <a:p>
            <a:pPr algn="l">
              <a:lnSpc>
                <a:spcPts val="2528"/>
              </a:lnSpc>
            </a:pPr>
            <a:r>
              <a:rPr lang="en-US" sz="2873" b="true">
                <a:solidFill>
                  <a:srgbClr val="316CE3"/>
                </a:solidFill>
                <a:latin typeface="Gotham Bold"/>
                <a:ea typeface="Gotham Bold"/>
                <a:cs typeface="Gotham Bold"/>
                <a:sym typeface="Gotham Bold"/>
              </a:rPr>
              <a:t>Episodio II — El Ataque de los Graviton: Infraestructura y rendimiento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877824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200"/>
              </a:spcAft>
            </a:pPr>
            <a:r>
              <a:rPr sz="3000" b="0">
                <a:solidFill>
                  <a:srgbClr val="D9E2EC"/>
                </a:solidFill>
                <a:latin typeface="Arial"/>
              </a:rPr>
              <a:t>Los nuevos nodos RG: </a:t>
            </a:r>
            <a:r>
              <a:rPr sz="3000" b="1">
                <a:solidFill>
                  <a:srgbClr val="D9E2EC"/>
                </a:solidFill>
                <a:latin typeface="Arial"/>
              </a:rPr>
              <a:t>¿migrar o no migrar?</a:t>
            </a:r>
          </a:p>
          <a:p>
            <a:pPr algn="l">
              <a:spcAft>
                <a:spcPts val="2200"/>
              </a:spcAft>
            </a:pPr>
            <a:r>
              <a:rPr sz="3000" b="0">
                <a:solidFill>
                  <a:srgbClr val="D9E2EC"/>
                </a:solidFill>
                <a:latin typeface="Arial"/>
              </a:rPr>
              <a:t>Andrés Zeballos · Solutions Architect, phData</a:t>
            </a:r>
          </a:p>
          <a:p>
            <a:pPr algn="l">
              <a:spcAft>
                <a:spcPts val="2200"/>
              </a:spcAft>
            </a:pPr>
            <a:r>
              <a:rPr sz="3000" b="0">
                <a:solidFill>
                  <a:srgbClr val="D9E2EC"/>
                </a:solidFill>
                <a:latin typeface="Arial"/>
              </a:rPr>
              <a:t>100 GB TPC-DS · RA3 frente a RG · 2026-10-05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3657600"/>
            <a:ext cx="4937760" cy="12801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1000" b="1">
                <a:solidFill>
                  <a:srgbClr val="316CE3"/>
                </a:solidFill>
                <a:latin typeface="Arial"/>
              </a:rPr>
              <a:t>1,90x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502920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D9E2EC"/>
                </a:solidFill>
                <a:latin typeface="Arial"/>
              </a:rPr>
              <a:t>más rápido en nuestro lab (media de 20 consultas)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2E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3520440" y="868680"/>
            <a:ext cx="12070080" cy="1874519"/>
          </a:xfrm>
          <a:prstGeom prst="rect">
            <a:avLst/>
          </a:prstGeom>
        </p:spPr>
        <p:txBody>
          <a:bodyPr anchor="ctr" rtlCol="false" tIns="0" lIns="0" bIns="0" rIns="0" wrap="square">
            <a:spAutoFit/>
          </a:bodyPr>
          <a:lstStyle/>
          <a:p>
            <a:pPr algn="l" marL="0" indent="0" lvl="0">
              <a:lnSpc>
                <a:spcPts val="10481"/>
              </a:lnSpc>
              <a:spcBef>
                <a:spcPct val="0"/>
              </a:spcBef>
            </a:pPr>
            <a:r>
              <a:rPr lang="en-US" b="true" sz="5400">
                <a:solidFill>
                  <a:srgbClr val="FFFFFF"/>
                </a:solidFill>
                <a:latin typeface="Raleway 1 Heavy"/>
                <a:ea typeface="Raleway 1 Heavy"/>
                <a:cs typeface="Raleway 1 Heavy"/>
                <a:sym typeface="Raleway 1 Heavy"/>
              </a:rPr>
              <a:t>Quién soy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536304" y="308054"/>
            <a:ext cx="650696" cy="409939"/>
          </a:xfrm>
          <a:custGeom>
            <a:avLst/>
            <a:gdLst/>
            <a:ahLst/>
            <a:cxnLst/>
            <a:rect r="r" b="b" t="t" l="l"/>
            <a:pathLst>
              <a:path h="409939" w="650696">
                <a:moveTo>
                  <a:pt x="0" y="0"/>
                </a:moveTo>
                <a:lnTo>
                  <a:pt x="650697" y="0"/>
                </a:lnTo>
                <a:lnTo>
                  <a:pt x="650697" y="409938"/>
                </a:lnTo>
                <a:lnTo>
                  <a:pt x="0" y="40993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219785" y="9070932"/>
            <a:ext cx="4151107" cy="986035"/>
            <a:chOff x="0" y="0"/>
            <a:chExt cx="5534810" cy="131471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314713" cy="1314713"/>
            </a:xfrm>
            <a:custGeom>
              <a:avLst/>
              <a:gdLst/>
              <a:ahLst/>
              <a:cxnLst/>
              <a:rect r="r" b="b" t="t" l="l"/>
              <a:pathLst>
                <a:path h="1314713" w="1314713">
                  <a:moveTo>
                    <a:pt x="0" y="0"/>
                  </a:moveTo>
                  <a:lnTo>
                    <a:pt x="1314713" y="0"/>
                  </a:lnTo>
                  <a:lnTo>
                    <a:pt x="1314713" y="1314713"/>
                  </a:lnTo>
                  <a:lnTo>
                    <a:pt x="0" y="13147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 rot="0">
              <a:off x="1455753" y="151974"/>
              <a:ext cx="3148240" cy="46230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702"/>
                </a:lnSpc>
              </a:pPr>
              <a:r>
                <a:rPr lang="en-US" b="true" sz="2252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OCTUBRE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1468453" y="585710"/>
              <a:ext cx="4066356" cy="5651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30"/>
                </a:lnSpc>
              </a:pPr>
              <a:r>
                <a:rPr lang="en-US" sz="1097" b="true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Mes de </a:t>
              </a:r>
            </a:p>
            <a:p>
              <a:pPr algn="l">
                <a:lnSpc>
                  <a:spcPts val="2059"/>
                </a:lnSpc>
              </a:pPr>
              <a:r>
                <a:rPr lang="en-US" b="true" sz="1999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HAN SOLO</a:t>
              </a: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258571" y="221658"/>
            <a:ext cx="15091730" cy="563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60"/>
              </a:lnSpc>
            </a:pPr>
            <a:r>
              <a:rPr lang="en-US" sz="2000">
                <a:solidFill>
                  <a:srgbClr val="316CE3"/>
                </a:solidFill>
                <a:latin typeface="Gotham"/>
                <a:ea typeface="Gotham"/>
                <a:cs typeface="Gotham"/>
                <a:sym typeface="Gotham"/>
              </a:rPr>
              <a:t>HOY:</a:t>
            </a:r>
          </a:p>
          <a:p>
            <a:pPr algn="l">
              <a:lnSpc>
                <a:spcPts val="2528"/>
              </a:lnSpc>
            </a:pPr>
            <a:r>
              <a:rPr lang="en-US" sz="2873" b="true">
                <a:solidFill>
                  <a:srgbClr val="316CE3"/>
                </a:solidFill>
                <a:latin typeface="Gotham Bold"/>
                <a:ea typeface="Gotham Bold"/>
                <a:cs typeface="Gotham Bold"/>
                <a:sym typeface="Gotham Bold"/>
              </a:rPr>
              <a:t>Episodio II — El Ataque de los Graviton: Infraestructura y rendimiento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3200400"/>
            <a:ext cx="6903720" cy="2423160"/>
          </a:xfrm>
          <a:prstGeom prst="roundRect">
            <a:avLst>
              <a:gd name="adj" fmla="val 8000"/>
            </a:avLst>
          </a:prstGeom>
          <a:solidFill>
            <a:srgbClr val="2F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228600" bIns="228600"/>
          <a:lstStyle/>
          <a:p>
            <a:pPr algn="ctr"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De Arequipa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D9E2EC"/>
                </a:solidFill>
                <a:latin typeface="Arial"/>
              </a:rPr>
              <a:t>Solutions Architect en phData, casi siempre con AWS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3200400"/>
            <a:ext cx="6903720" cy="2423160"/>
          </a:xfrm>
          <a:prstGeom prst="roundRect">
            <a:avLst>
              <a:gd name="adj" fmla="val 8000"/>
            </a:avLst>
          </a:prstGeom>
          <a:solidFill>
            <a:srgbClr val="2F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228600" bIns="228600"/>
          <a:lstStyle/>
          <a:p>
            <a:pPr algn="ctr"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Trayectoria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D9E2EC"/>
                </a:solidFill>
                <a:latin typeface="Arial"/>
              </a:rPr>
              <a:t>Redes → infraestructura → Kubernetes → datos → agentes de 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5897880"/>
            <a:ext cx="6903720" cy="2423160"/>
          </a:xfrm>
          <a:prstGeom prst="roundRect">
            <a:avLst>
              <a:gd name="adj" fmla="val 8000"/>
            </a:avLst>
          </a:prstGeom>
          <a:solidFill>
            <a:srgbClr val="2F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228600" bIns="228600"/>
          <a:lstStyle/>
          <a:p>
            <a:pPr algn="ctr"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Comunidad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D9E2EC"/>
                </a:solidFill>
                <a:latin typeface="Arial"/>
              </a:rPr>
              <a:t>AWS Golden Jacket · colaboré en las nuevas microcredenciales de análisis de datos de AWS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5897880"/>
            <a:ext cx="6903720" cy="2423160"/>
          </a:xfrm>
          <a:prstGeom prst="roundRect">
            <a:avLst>
              <a:gd name="adj" fmla="val 8000"/>
            </a:avLst>
          </a:prstGeom>
          <a:solidFill>
            <a:srgbClr val="2F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228600" bIns="228600"/>
          <a:lstStyle/>
          <a:p>
            <a:pPr algn="ctr"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Mi regla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D9E2EC"/>
                </a:solidFill>
                <a:latin typeface="Arial"/>
              </a:rPr>
              <a:t>Cada charla sale de un laboratorio que armo y publico para que lo repitas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2E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" id="3"/>
          <p:cNvSpPr/>
          <p:nvPr/>
        </p:nvSpPr>
        <p:spPr>
          <a:xfrm flipH="false" flipV="false" rot="0">
            <a:off x="536304" y="308054"/>
            <a:ext cx="650696" cy="409939"/>
          </a:xfrm>
          <a:custGeom>
            <a:avLst/>
            <a:gdLst/>
            <a:ahLst/>
            <a:cxnLst/>
            <a:rect r="r" b="b" t="t" l="l"/>
            <a:pathLst>
              <a:path h="409939" w="650696">
                <a:moveTo>
                  <a:pt x="0" y="0"/>
                </a:moveTo>
                <a:lnTo>
                  <a:pt x="650697" y="0"/>
                </a:lnTo>
                <a:lnTo>
                  <a:pt x="650697" y="409938"/>
                </a:lnTo>
                <a:lnTo>
                  <a:pt x="0" y="40993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4" id="4"/>
          <p:cNvSpPr txBox="true"/>
          <p:nvPr/>
        </p:nvSpPr>
        <p:spPr>
          <a:xfrm rot="0">
            <a:off x="7191614" y="3137838"/>
            <a:ext cx="9158687" cy="4650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91055" indent="-345528" lvl="1">
              <a:lnSpc>
                <a:spcPts val="6273"/>
              </a:lnSpc>
              <a:buFont typeface="Arial"/>
              <a:buChar char="•"/>
            </a:pPr>
            <a:r>
              <a:rPr lang="en-US" sz="3200">
                <a:solidFill>
                  <a:srgbClr val="FFFFFF"/>
                </a:solidFill>
                <a:latin typeface="Raleway 2"/>
                <a:ea typeface="Raleway 2"/>
                <a:cs typeface="Raleway 2"/>
                <a:sym typeface="Raleway 2"/>
              </a:rPr>
              <a:t>Qué cambió de RA3 a RG</a:t>
            </a:r>
          </a:p>
          <a:p>
            <a:pPr algn="l" marL="691055" indent="-345528" lvl="1">
              <a:lnSpc>
                <a:spcPts val="6273"/>
              </a:lnSpc>
              <a:buFont typeface="Arial"/>
              <a:buChar char="•"/>
            </a:pPr>
            <a:r>
              <a:rPr lang="en-US" sz="3200">
                <a:solidFill>
                  <a:srgbClr val="FFFFFF"/>
                </a:solidFill>
                <a:latin typeface="Raleway 2"/>
                <a:ea typeface="Raleway 2"/>
                <a:cs typeface="Raleway 2"/>
                <a:sym typeface="Raleway 2"/>
              </a:rPr>
              <a:t>Cómo lo medimos</a:t>
            </a:r>
          </a:p>
          <a:p>
            <a:pPr algn="l" marL="691055" indent="-345528" lvl="1">
              <a:lnSpc>
                <a:spcPts val="6273"/>
              </a:lnSpc>
              <a:buFont typeface="Arial"/>
              <a:buChar char="•"/>
            </a:pPr>
            <a:r>
              <a:rPr lang="en-US" sz="3200">
                <a:solidFill>
                  <a:srgbClr val="FFFFFF"/>
                </a:solidFill>
                <a:latin typeface="Raleway 2"/>
                <a:ea typeface="Raleway 2"/>
                <a:cs typeface="Raleway 2"/>
                <a:sym typeface="Raleway 2"/>
              </a:rPr>
              <a:t>Warehouse: potencia, concurrencia y costo</a:t>
            </a:r>
          </a:p>
          <a:p>
            <a:pPr algn="l" marL="691055" indent="-345528" lvl="1">
              <a:lnSpc>
                <a:spcPts val="6273"/>
              </a:lnSpc>
              <a:buFont typeface="Arial"/>
              <a:buChar char="•"/>
            </a:pPr>
            <a:r>
              <a:rPr lang="en-US" sz="3200">
                <a:solidFill>
                  <a:srgbClr val="FFFFFF"/>
                </a:solidFill>
                <a:latin typeface="Raleway 2"/>
                <a:ea typeface="Raleway 2"/>
                <a:cs typeface="Raleway 2"/>
                <a:sym typeface="Raleway 2"/>
              </a:rPr>
              <a:t>Data lake: Iceberg, Parquet y Spectrum</a:t>
            </a:r>
          </a:p>
          <a:p>
            <a:pPr algn="l" marL="691055" indent="-345528" lvl="1">
              <a:lnSpc>
                <a:spcPts val="6273"/>
              </a:lnSpc>
              <a:buFont typeface="Arial"/>
              <a:buChar char="•"/>
            </a:pPr>
            <a:r>
              <a:rPr lang="en-US" sz="3200">
                <a:solidFill>
                  <a:srgbClr val="FFFFFF"/>
                </a:solidFill>
                <a:latin typeface="Raleway 2"/>
                <a:ea typeface="Raleway 2"/>
                <a:cs typeface="Raleway 2"/>
                <a:sym typeface="Raleway 2"/>
              </a:rPr>
              <a:t>La migración y sus trampas</a:t>
            </a:r>
          </a:p>
          <a:p>
            <a:pPr algn="l" marL="691055" indent="-345528" lvl="1">
              <a:lnSpc>
                <a:spcPts val="6273"/>
              </a:lnSpc>
              <a:buFont typeface="Arial"/>
              <a:buChar char="•"/>
            </a:pPr>
            <a:r>
              <a:rPr lang="en-US" sz="3200">
                <a:solidFill>
                  <a:srgbClr val="FFFFFF"/>
                </a:solidFill>
                <a:latin typeface="Raleway 2"/>
                <a:ea typeface="Raleway 2"/>
                <a:cs typeface="Raleway 2"/>
                <a:sym typeface="Raleway 2"/>
              </a:rPr>
              <a:t>Demo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219785" y="9070932"/>
            <a:ext cx="4151107" cy="986035"/>
            <a:chOff x="0" y="0"/>
            <a:chExt cx="5534810" cy="131471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314713" cy="1314713"/>
            </a:xfrm>
            <a:custGeom>
              <a:avLst/>
              <a:gdLst/>
              <a:ahLst/>
              <a:cxnLst/>
              <a:rect r="r" b="b" t="t" l="l"/>
              <a:pathLst>
                <a:path h="1314713" w="1314713">
                  <a:moveTo>
                    <a:pt x="0" y="0"/>
                  </a:moveTo>
                  <a:lnTo>
                    <a:pt x="1314713" y="0"/>
                  </a:lnTo>
                  <a:lnTo>
                    <a:pt x="1314713" y="1314713"/>
                  </a:lnTo>
                  <a:lnTo>
                    <a:pt x="0" y="13147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 rot="0">
              <a:off x="1455753" y="151974"/>
              <a:ext cx="3148240" cy="46230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702"/>
                </a:lnSpc>
              </a:pPr>
              <a:r>
                <a:rPr lang="en-US" b="true" sz="2252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OCTUBRE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1468453" y="585710"/>
              <a:ext cx="4066356" cy="5651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30"/>
                </a:lnSpc>
              </a:pPr>
              <a:r>
                <a:rPr lang="en-US" sz="1097" b="true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Mes de </a:t>
              </a:r>
            </a:p>
            <a:p>
              <a:pPr algn="l">
                <a:lnSpc>
                  <a:spcPts val="2059"/>
                </a:lnSpc>
              </a:pPr>
              <a:r>
                <a:rPr lang="en-US" b="true" sz="1999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HAN SOLO</a:t>
              </a: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258571" y="221658"/>
            <a:ext cx="15091730" cy="563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60"/>
              </a:lnSpc>
            </a:pPr>
            <a:r>
              <a:rPr lang="en-US" sz="2000">
                <a:solidFill>
                  <a:srgbClr val="316CE3"/>
                </a:solidFill>
                <a:latin typeface="Gotham"/>
                <a:ea typeface="Gotham"/>
                <a:cs typeface="Gotham"/>
                <a:sym typeface="Gotham"/>
              </a:rPr>
              <a:t>HOY:</a:t>
            </a:r>
          </a:p>
          <a:p>
            <a:pPr algn="l">
              <a:lnSpc>
                <a:spcPts val="2528"/>
              </a:lnSpc>
            </a:pPr>
            <a:r>
              <a:rPr lang="en-US" sz="2873" b="true">
                <a:solidFill>
                  <a:srgbClr val="316CE3"/>
                </a:solidFill>
                <a:latin typeface="Gotham Bold"/>
                <a:ea typeface="Gotham Bold"/>
                <a:cs typeface="Gotham Bold"/>
                <a:sym typeface="Gotham Bold"/>
              </a:rPr>
              <a:t>Episodio II — El Ataque de los Graviton: Infraestructura y rendimiento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2E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3520440" y="868680"/>
            <a:ext cx="12070080" cy="1874519"/>
          </a:xfrm>
          <a:prstGeom prst="rect">
            <a:avLst/>
          </a:prstGeom>
        </p:spPr>
        <p:txBody>
          <a:bodyPr anchor="ctr" rtlCol="false" tIns="0" lIns="0" bIns="0" rIns="0" wrap="square">
            <a:spAutoFit/>
          </a:bodyPr>
          <a:lstStyle/>
          <a:p>
            <a:pPr algn="l" marL="0" indent="0" lvl="0">
              <a:lnSpc>
                <a:spcPts val="10481"/>
              </a:lnSpc>
              <a:spcBef>
                <a:spcPct val="0"/>
              </a:spcBef>
            </a:pPr>
            <a:r>
              <a:rPr lang="en-US" b="true" sz="5400">
                <a:solidFill>
                  <a:srgbClr val="FFFFFF"/>
                </a:solidFill>
                <a:latin typeface="Raleway 1 Heavy"/>
                <a:ea typeface="Raleway 1 Heavy"/>
                <a:cs typeface="Raleway 1 Heavy"/>
                <a:sym typeface="Raleway 1 Heavy"/>
              </a:rPr>
              <a:t>¿Migro o no migro?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536304" y="308054"/>
            <a:ext cx="650696" cy="409939"/>
          </a:xfrm>
          <a:custGeom>
            <a:avLst/>
            <a:gdLst/>
            <a:ahLst/>
            <a:cxnLst/>
            <a:rect r="r" b="b" t="t" l="l"/>
            <a:pathLst>
              <a:path h="409939" w="650696">
                <a:moveTo>
                  <a:pt x="0" y="0"/>
                </a:moveTo>
                <a:lnTo>
                  <a:pt x="650697" y="0"/>
                </a:lnTo>
                <a:lnTo>
                  <a:pt x="650697" y="409938"/>
                </a:lnTo>
                <a:lnTo>
                  <a:pt x="0" y="40993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219785" y="9070932"/>
            <a:ext cx="4151107" cy="986035"/>
            <a:chOff x="0" y="0"/>
            <a:chExt cx="5534810" cy="131471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314713" cy="1314713"/>
            </a:xfrm>
            <a:custGeom>
              <a:avLst/>
              <a:gdLst/>
              <a:ahLst/>
              <a:cxnLst/>
              <a:rect r="r" b="b" t="t" l="l"/>
              <a:pathLst>
                <a:path h="1314713" w="1314713">
                  <a:moveTo>
                    <a:pt x="0" y="0"/>
                  </a:moveTo>
                  <a:lnTo>
                    <a:pt x="1314713" y="0"/>
                  </a:lnTo>
                  <a:lnTo>
                    <a:pt x="1314713" y="1314713"/>
                  </a:lnTo>
                  <a:lnTo>
                    <a:pt x="0" y="13147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 rot="0">
              <a:off x="1455753" y="151974"/>
              <a:ext cx="3148240" cy="46230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702"/>
                </a:lnSpc>
              </a:pPr>
              <a:r>
                <a:rPr lang="en-US" b="true" sz="2252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OCTUBRE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1468453" y="585710"/>
              <a:ext cx="4066356" cy="5651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30"/>
                </a:lnSpc>
              </a:pPr>
              <a:r>
                <a:rPr lang="en-US" sz="1097" b="true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Mes de </a:t>
              </a:r>
            </a:p>
            <a:p>
              <a:pPr algn="l">
                <a:lnSpc>
                  <a:spcPts val="2059"/>
                </a:lnSpc>
              </a:pPr>
              <a:r>
                <a:rPr lang="en-US" b="true" sz="1999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HAN SOLO</a:t>
              </a: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258571" y="221658"/>
            <a:ext cx="15091730" cy="563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60"/>
              </a:lnSpc>
            </a:pPr>
            <a:r>
              <a:rPr lang="en-US" sz="2000">
                <a:solidFill>
                  <a:srgbClr val="316CE3"/>
                </a:solidFill>
                <a:latin typeface="Gotham"/>
                <a:ea typeface="Gotham"/>
                <a:cs typeface="Gotham"/>
                <a:sym typeface="Gotham"/>
              </a:rPr>
              <a:t>HOY:</a:t>
            </a:r>
          </a:p>
          <a:p>
            <a:pPr algn="l">
              <a:lnSpc>
                <a:spcPts val="2528"/>
              </a:lnSpc>
            </a:pPr>
            <a:r>
              <a:rPr lang="en-US" sz="2873" b="true">
                <a:solidFill>
                  <a:srgbClr val="316CE3"/>
                </a:solidFill>
                <a:latin typeface="Gotham Bold"/>
                <a:ea typeface="Gotham Bold"/>
                <a:cs typeface="Gotham Bold"/>
                <a:sym typeface="Gotham Bold"/>
              </a:rPr>
              <a:t>Episodio II — El Ataque de los Graviton: Infraestructura y rendimiento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3200400"/>
            <a:ext cx="4206240" cy="2377440"/>
          </a:xfrm>
          <a:prstGeom prst="roundRect">
            <a:avLst>
              <a:gd name="adj" fmla="val 8000"/>
            </a:avLst>
          </a:prstGeom>
          <a:solidFill>
            <a:srgbClr val="2F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228600" bIns="228600"/>
          <a:lstStyle/>
          <a:p>
            <a:pPr algn="ctr">
              <a:spcAft>
                <a:spcPts val="800"/>
              </a:spcAft>
            </a:pPr>
            <a:r>
              <a:rPr sz="5400" b="1">
                <a:solidFill>
                  <a:srgbClr val="8FA3B8"/>
                </a:solidFill>
                <a:latin typeface="Arial"/>
              </a:rPr>
              <a:t>RA3</a:t>
            </a:r>
          </a:p>
          <a:p>
            <a:pPr>
              <a:spcAft>
                <a:spcPts val="600"/>
              </a:spcAft>
            </a:pPr>
            <a:r>
              <a:rPr sz="2400" b="0">
                <a:solidFill>
                  <a:srgbClr val="D9E2EC"/>
                </a:solidFill>
                <a:latin typeface="Arial"/>
              </a:rPr>
              <a:t>Lo que tienes hoy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3657600"/>
            <a:ext cx="1280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8800" b="1">
                <a:solidFill>
                  <a:srgbClr val="F2A65A"/>
                </a:solidFill>
                <a:latin typeface="Arial"/>
              </a:rPr>
              <a:t>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3200400"/>
            <a:ext cx="4206240" cy="2377440"/>
          </a:xfrm>
          <a:prstGeom prst="roundRect">
            <a:avLst>
              <a:gd name="adj" fmla="val 8000"/>
            </a:avLst>
          </a:prstGeom>
          <a:solidFill>
            <a:srgbClr val="2F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228600" bIns="228600"/>
          <a:lstStyle/>
          <a:p>
            <a:pPr algn="ctr">
              <a:spcAft>
                <a:spcPts val="800"/>
              </a:spcAft>
            </a:pPr>
            <a:r>
              <a:rPr sz="5400" b="1">
                <a:solidFill>
                  <a:srgbClr val="316CE3"/>
                </a:solidFill>
                <a:latin typeface="Arial"/>
              </a:rPr>
              <a:t>RG</a:t>
            </a:r>
          </a:p>
          <a:p>
            <a:pPr>
              <a:spcAft>
                <a:spcPts val="600"/>
              </a:spcAft>
            </a:pPr>
            <a:r>
              <a:rPr sz="2400" b="0">
                <a:solidFill>
                  <a:srgbClr val="D9E2EC"/>
                </a:solidFill>
                <a:latin typeface="Arial"/>
              </a:rPr>
              <a:t>Graviton, desde mayo de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6035040"/>
            <a:ext cx="1426464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0">
                <a:solidFill>
                  <a:srgbClr val="D9E2EC"/>
                </a:solidFill>
                <a:latin typeface="Arial"/>
              </a:rPr>
              <a:t>Si administras un Redshift con RA3, o pagas su factura, la pregunta llegó sola.</a:t>
            </a:r>
          </a:p>
          <a:p>
            <a:pPr algn="l">
              <a:spcAft>
                <a:spcPts val="1600"/>
              </a:spcAft>
            </a:pPr>
            <a:r>
              <a:rPr sz="2600" b="0">
                <a:solidFill>
                  <a:srgbClr val="D9E2EC"/>
                </a:solidFill>
                <a:latin typeface="Arial"/>
              </a:rPr>
              <a:t>Hoy tomamos las promesas de AWS y las ponemos a prueba: </a:t>
            </a:r>
            <a:r>
              <a:rPr sz="2600" b="1">
                <a:solidFill>
                  <a:srgbClr val="D9E2EC"/>
                </a:solidFill>
                <a:latin typeface="Arial"/>
              </a:rPr>
              <a:t>dónde se cumplen y dónde dependen de tu carga.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2E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3444099" y="3763913"/>
            <a:ext cx="13438018" cy="2238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399"/>
              </a:lnSpc>
            </a:pPr>
            <a:r>
              <a:rPr lang="en-US" b="true" sz="9999">
                <a:solidFill>
                  <a:srgbClr val="FFFFFF"/>
                </a:solidFill>
                <a:latin typeface="Raleway 1 Heavy"/>
                <a:ea typeface="Raleway 1 Heavy"/>
                <a:cs typeface="Raleway 1 Heavy"/>
                <a:sym typeface="Raleway 1 Heavy"/>
              </a:rPr>
              <a:t>QUÉ</a:t>
            </a:r>
          </a:p>
          <a:p>
            <a:pPr algn="l" marL="0" indent="0" lvl="0">
              <a:lnSpc>
                <a:spcPts val="8399"/>
              </a:lnSpc>
            </a:pPr>
            <a:r>
              <a:rPr lang="en-US" b="true" sz="9999">
                <a:solidFill>
                  <a:srgbClr val="FFFFFF"/>
                </a:solidFill>
                <a:latin typeface="Raleway 1 Heavy"/>
                <a:ea typeface="Raleway 1 Heavy"/>
                <a:cs typeface="Raleway 1 Heavy"/>
                <a:sym typeface="Raleway 1 Heavy"/>
              </a:rPr>
              <a:t>        CAMBIÓ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536304" y="308054"/>
            <a:ext cx="650696" cy="409939"/>
          </a:xfrm>
          <a:custGeom>
            <a:avLst/>
            <a:gdLst/>
            <a:ahLst/>
            <a:cxnLst/>
            <a:rect r="r" b="b" t="t" l="l"/>
            <a:pathLst>
              <a:path h="409939" w="650696">
                <a:moveTo>
                  <a:pt x="0" y="0"/>
                </a:moveTo>
                <a:lnTo>
                  <a:pt x="650697" y="0"/>
                </a:lnTo>
                <a:lnTo>
                  <a:pt x="650697" y="409938"/>
                </a:lnTo>
                <a:lnTo>
                  <a:pt x="0" y="40993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219785" y="9070932"/>
            <a:ext cx="4151107" cy="986035"/>
            <a:chOff x="0" y="0"/>
            <a:chExt cx="5534810" cy="131471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314713" cy="1314713"/>
            </a:xfrm>
            <a:custGeom>
              <a:avLst/>
              <a:gdLst/>
              <a:ahLst/>
              <a:cxnLst/>
              <a:rect r="r" b="b" t="t" l="l"/>
              <a:pathLst>
                <a:path h="1314713" w="1314713">
                  <a:moveTo>
                    <a:pt x="0" y="0"/>
                  </a:moveTo>
                  <a:lnTo>
                    <a:pt x="1314713" y="0"/>
                  </a:lnTo>
                  <a:lnTo>
                    <a:pt x="1314713" y="1314713"/>
                  </a:lnTo>
                  <a:lnTo>
                    <a:pt x="0" y="13147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 rot="0">
              <a:off x="1455753" y="151974"/>
              <a:ext cx="3148240" cy="46230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702"/>
                </a:lnSpc>
              </a:pPr>
              <a:r>
                <a:rPr lang="en-US" b="true" sz="2252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OCTUBRE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1468453" y="585710"/>
              <a:ext cx="4066356" cy="5651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30"/>
                </a:lnSpc>
              </a:pPr>
              <a:r>
                <a:rPr lang="en-US" sz="1097" b="true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Mes de </a:t>
              </a:r>
            </a:p>
            <a:p>
              <a:pPr algn="l">
                <a:lnSpc>
                  <a:spcPts val="2059"/>
                </a:lnSpc>
              </a:pPr>
              <a:r>
                <a:rPr lang="en-US" b="true" sz="1999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HAN SOLO</a:t>
              </a: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258571" y="221658"/>
            <a:ext cx="15091730" cy="563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60"/>
              </a:lnSpc>
            </a:pPr>
            <a:r>
              <a:rPr lang="en-US" sz="2000">
                <a:solidFill>
                  <a:srgbClr val="316CE3"/>
                </a:solidFill>
                <a:latin typeface="Gotham"/>
                <a:ea typeface="Gotham"/>
                <a:cs typeface="Gotham"/>
                <a:sym typeface="Gotham"/>
              </a:rPr>
              <a:t>HOY:</a:t>
            </a:r>
          </a:p>
          <a:p>
            <a:pPr algn="l">
              <a:lnSpc>
                <a:spcPts val="2528"/>
              </a:lnSpc>
            </a:pPr>
            <a:r>
              <a:rPr lang="en-US" sz="2873" b="true">
                <a:solidFill>
                  <a:srgbClr val="316CE3"/>
                </a:solidFill>
                <a:latin typeface="Gotham Bold"/>
                <a:ea typeface="Gotham Bold"/>
                <a:cs typeface="Gotham Bold"/>
                <a:sym typeface="Gotham Bold"/>
              </a:rPr>
              <a:t>Episodio II — El Ataque de los Graviton: Infraestructura y rendimiento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2E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3520440" y="868680"/>
            <a:ext cx="12070080" cy="1874519"/>
          </a:xfrm>
          <a:prstGeom prst="rect">
            <a:avLst/>
          </a:prstGeom>
        </p:spPr>
        <p:txBody>
          <a:bodyPr anchor="ctr" rtlCol="false" tIns="0" lIns="0" bIns="0" rIns="0" wrap="square">
            <a:spAutoFit/>
          </a:bodyPr>
          <a:lstStyle/>
          <a:p>
            <a:pPr algn="l" marL="0" indent="0" lvl="0">
              <a:lnSpc>
                <a:spcPts val="10481"/>
              </a:lnSpc>
              <a:spcBef>
                <a:spcPct val="0"/>
              </a:spcBef>
            </a:pPr>
            <a:r>
              <a:rPr lang="en-US" b="true" sz="5400">
                <a:solidFill>
                  <a:srgbClr val="FFFFFF"/>
                </a:solidFill>
                <a:latin typeface="Raleway 1 Heavy"/>
                <a:ea typeface="Raleway 1 Heavy"/>
                <a:cs typeface="Raleway 1 Heavy"/>
                <a:sym typeface="Raleway 1 Heavy"/>
              </a:rPr>
              <a:t>Qué trae RG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536304" y="308054"/>
            <a:ext cx="650696" cy="409939"/>
          </a:xfrm>
          <a:custGeom>
            <a:avLst/>
            <a:gdLst/>
            <a:ahLst/>
            <a:cxnLst/>
            <a:rect r="r" b="b" t="t" l="l"/>
            <a:pathLst>
              <a:path h="409939" w="650696">
                <a:moveTo>
                  <a:pt x="0" y="0"/>
                </a:moveTo>
                <a:lnTo>
                  <a:pt x="650697" y="0"/>
                </a:lnTo>
                <a:lnTo>
                  <a:pt x="650697" y="409938"/>
                </a:lnTo>
                <a:lnTo>
                  <a:pt x="0" y="40993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219785" y="9070932"/>
            <a:ext cx="4151107" cy="986035"/>
            <a:chOff x="0" y="0"/>
            <a:chExt cx="5534810" cy="131471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314713" cy="1314713"/>
            </a:xfrm>
            <a:custGeom>
              <a:avLst/>
              <a:gdLst/>
              <a:ahLst/>
              <a:cxnLst/>
              <a:rect r="r" b="b" t="t" l="l"/>
              <a:pathLst>
                <a:path h="1314713" w="1314713">
                  <a:moveTo>
                    <a:pt x="0" y="0"/>
                  </a:moveTo>
                  <a:lnTo>
                    <a:pt x="1314713" y="0"/>
                  </a:lnTo>
                  <a:lnTo>
                    <a:pt x="1314713" y="1314713"/>
                  </a:lnTo>
                  <a:lnTo>
                    <a:pt x="0" y="13147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 rot="0">
              <a:off x="1455753" y="151974"/>
              <a:ext cx="3148240" cy="46230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702"/>
                </a:lnSpc>
              </a:pPr>
              <a:r>
                <a:rPr lang="en-US" b="true" sz="2252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OCTUBRE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1468453" y="585710"/>
              <a:ext cx="4066356" cy="5651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30"/>
                </a:lnSpc>
              </a:pPr>
              <a:r>
                <a:rPr lang="en-US" sz="1097" b="true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Mes de </a:t>
              </a:r>
            </a:p>
            <a:p>
              <a:pPr algn="l">
                <a:lnSpc>
                  <a:spcPts val="2059"/>
                </a:lnSpc>
              </a:pPr>
              <a:r>
                <a:rPr lang="en-US" b="true" sz="1999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HAN SOLO</a:t>
              </a: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258571" y="221658"/>
            <a:ext cx="15091730" cy="563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60"/>
              </a:lnSpc>
            </a:pPr>
            <a:r>
              <a:rPr lang="en-US" sz="2000">
                <a:solidFill>
                  <a:srgbClr val="316CE3"/>
                </a:solidFill>
                <a:latin typeface="Gotham"/>
                <a:ea typeface="Gotham"/>
                <a:cs typeface="Gotham"/>
                <a:sym typeface="Gotham"/>
              </a:rPr>
              <a:t>HOY:</a:t>
            </a:r>
          </a:p>
          <a:p>
            <a:pPr algn="l">
              <a:lnSpc>
                <a:spcPts val="2528"/>
              </a:lnSpc>
            </a:pPr>
            <a:r>
              <a:rPr lang="en-US" sz="2873" b="true">
                <a:solidFill>
                  <a:srgbClr val="316CE3"/>
                </a:solidFill>
                <a:latin typeface="Gotham Bold"/>
                <a:ea typeface="Gotham Bold"/>
                <a:cs typeface="Gotham Bold"/>
                <a:sym typeface="Gotham Bold"/>
              </a:rPr>
              <a:t>Episodio II — El Ataque de los Graviton: Infraestructura y rendimiento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3200400"/>
            <a:ext cx="6903720" cy="2423160"/>
          </a:xfrm>
          <a:prstGeom prst="roundRect">
            <a:avLst>
              <a:gd name="adj" fmla="val 8000"/>
            </a:avLst>
          </a:prstGeom>
          <a:solidFill>
            <a:srgbClr val="2F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228600" bIns="228600"/>
          <a:lstStyle/>
          <a:p>
            <a:pPr algn="ctr">
              <a:spcAft>
                <a:spcPts val="800"/>
              </a:spcAft>
            </a:pPr>
            <a:r>
              <a:rPr sz="2600" b="1">
                <a:solidFill>
                  <a:srgbClr val="316CE3"/>
                </a:solidFill>
                <a:latin typeface="Arial"/>
              </a:rPr>
              <a:t>Graviton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D9E2EC"/>
                </a:solidFill>
                <a:latin typeface="Arial"/>
              </a:rPr>
              <a:t>Instancias basadas en los procesadores Arm de AWS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3200400"/>
            <a:ext cx="6903720" cy="2423160"/>
          </a:xfrm>
          <a:prstGeom prst="roundRect">
            <a:avLst>
              <a:gd name="adj" fmla="val 8000"/>
            </a:avLst>
          </a:prstGeom>
          <a:solidFill>
            <a:srgbClr val="2F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228600" bIns="228600"/>
          <a:lstStyle/>
          <a:p>
            <a:pPr algn="ctr">
              <a:spcAft>
                <a:spcPts val="800"/>
              </a:spcAft>
            </a:pPr>
            <a:r>
              <a:rPr sz="2600" b="1">
                <a:solidFill>
                  <a:srgbClr val="316CE3"/>
                </a:solidFill>
                <a:latin typeface="Arial"/>
              </a:rPr>
              <a:t>Motor de lago integrado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D9E2EC"/>
                </a:solidFill>
                <a:latin typeface="Arial"/>
              </a:rPr>
              <a:t>Las consultas al lago corren en el propio clúster; RA3 usa Redshift Spectrum, una flota aparte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5897880"/>
            <a:ext cx="6903720" cy="2423160"/>
          </a:xfrm>
          <a:prstGeom prst="roundRect">
            <a:avLst>
              <a:gd name="adj" fmla="val 8000"/>
            </a:avLst>
          </a:prstGeom>
          <a:solidFill>
            <a:srgbClr val="2F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228600" bIns="228600"/>
          <a:lstStyle/>
          <a:p>
            <a:pPr algn="ctr">
              <a:spcAft>
                <a:spcPts val="800"/>
              </a:spcAft>
            </a:pPr>
            <a:r>
              <a:rPr sz="2600" b="1">
                <a:solidFill>
                  <a:srgbClr val="316CE3"/>
                </a:solidFill>
                <a:latin typeface="Arial"/>
              </a:rPr>
              <a:t>Sin cargo por TB escaneado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D9E2EC"/>
                </a:solidFill>
                <a:latin typeface="Arial"/>
              </a:rPr>
              <a:t>RA3 paga USD 5 por TB que lee Spectrum; RG no tiene ese cargo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5897880"/>
            <a:ext cx="6903720" cy="2423160"/>
          </a:xfrm>
          <a:prstGeom prst="roundRect">
            <a:avLst>
              <a:gd name="adj" fmla="val 8000"/>
            </a:avLst>
          </a:prstGeom>
          <a:solidFill>
            <a:srgbClr val="2F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228600" bIns="228600"/>
          <a:lstStyle/>
          <a:p>
            <a:pPr algn="ctr">
              <a:spcAft>
                <a:spcPts val="800"/>
              </a:spcAft>
            </a:pPr>
            <a:r>
              <a:rPr sz="2600" b="1">
                <a:solidFill>
                  <a:srgbClr val="8FA3B8"/>
                </a:solidFill>
                <a:latin typeface="Arial"/>
              </a:rPr>
              <a:t>Lo que no cambia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D9E2EC"/>
                </a:solidFill>
                <a:latin typeface="Arial"/>
              </a:rPr>
              <a:t>Mismo motor de Redshift y mismo almacenamiento administrado (USD 0,024 por GB-mes)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2E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3520440" y="868680"/>
            <a:ext cx="12070080" cy="1874519"/>
          </a:xfrm>
          <a:prstGeom prst="rect">
            <a:avLst/>
          </a:prstGeom>
        </p:spPr>
        <p:txBody>
          <a:bodyPr anchor="ctr" rtlCol="false" tIns="0" lIns="0" bIns="0" rIns="0" wrap="square">
            <a:spAutoFit/>
          </a:bodyPr>
          <a:lstStyle/>
          <a:p>
            <a:pPr algn="l" marL="0" indent="0" lvl="0">
              <a:lnSpc>
                <a:spcPts val="10481"/>
              </a:lnSpc>
              <a:spcBef>
                <a:spcPct val="0"/>
              </a:spcBef>
            </a:pPr>
            <a:r>
              <a:rPr lang="en-US" b="true" sz="4400">
                <a:solidFill>
                  <a:srgbClr val="FFFFFF"/>
                </a:solidFill>
                <a:latin typeface="Raleway 1 Heavy"/>
                <a:ea typeface="Raleway 1 Heavy"/>
                <a:cs typeface="Raleway 1 Heavy"/>
                <a:sym typeface="Raleway 1 Heavy"/>
              </a:rPr>
              <a:t>Cuatro tamaños, 30 % menos por vCPU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536304" y="308054"/>
            <a:ext cx="650696" cy="409939"/>
          </a:xfrm>
          <a:custGeom>
            <a:avLst/>
            <a:gdLst/>
            <a:ahLst/>
            <a:cxnLst/>
            <a:rect r="r" b="b" t="t" l="l"/>
            <a:pathLst>
              <a:path h="409939" w="650696">
                <a:moveTo>
                  <a:pt x="0" y="0"/>
                </a:moveTo>
                <a:lnTo>
                  <a:pt x="650697" y="0"/>
                </a:lnTo>
                <a:lnTo>
                  <a:pt x="650697" y="409938"/>
                </a:lnTo>
                <a:lnTo>
                  <a:pt x="0" y="40993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219785" y="9070932"/>
            <a:ext cx="4151107" cy="986035"/>
            <a:chOff x="0" y="0"/>
            <a:chExt cx="5534810" cy="131471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314713" cy="1314713"/>
            </a:xfrm>
            <a:custGeom>
              <a:avLst/>
              <a:gdLst/>
              <a:ahLst/>
              <a:cxnLst/>
              <a:rect r="r" b="b" t="t" l="l"/>
              <a:pathLst>
                <a:path h="1314713" w="1314713">
                  <a:moveTo>
                    <a:pt x="0" y="0"/>
                  </a:moveTo>
                  <a:lnTo>
                    <a:pt x="1314713" y="0"/>
                  </a:lnTo>
                  <a:lnTo>
                    <a:pt x="1314713" y="1314713"/>
                  </a:lnTo>
                  <a:lnTo>
                    <a:pt x="0" y="13147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 rot="0">
              <a:off x="1455753" y="151974"/>
              <a:ext cx="3148240" cy="46230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702"/>
                </a:lnSpc>
              </a:pPr>
              <a:r>
                <a:rPr lang="en-US" b="true" sz="2252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OCTUBRE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1468453" y="585710"/>
              <a:ext cx="4066356" cy="5651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30"/>
                </a:lnSpc>
              </a:pPr>
              <a:r>
                <a:rPr lang="en-US" sz="1097" b="true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Mes de </a:t>
              </a:r>
            </a:p>
            <a:p>
              <a:pPr algn="l">
                <a:lnSpc>
                  <a:spcPts val="2059"/>
                </a:lnSpc>
              </a:pPr>
              <a:r>
                <a:rPr lang="en-US" b="true" sz="1999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HAN SOLO</a:t>
              </a: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258571" y="221658"/>
            <a:ext cx="15091730" cy="563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60"/>
              </a:lnSpc>
            </a:pPr>
            <a:r>
              <a:rPr lang="en-US" sz="2000">
                <a:solidFill>
                  <a:srgbClr val="316CE3"/>
                </a:solidFill>
                <a:latin typeface="Gotham"/>
                <a:ea typeface="Gotham"/>
                <a:cs typeface="Gotham"/>
                <a:sym typeface="Gotham"/>
              </a:rPr>
              <a:t>HOY:</a:t>
            </a:r>
          </a:p>
          <a:p>
            <a:pPr algn="l">
              <a:lnSpc>
                <a:spcPts val="2528"/>
              </a:lnSpc>
            </a:pPr>
            <a:r>
              <a:rPr lang="en-US" sz="2873" b="true">
                <a:solidFill>
                  <a:srgbClr val="316CE3"/>
                </a:solidFill>
                <a:latin typeface="Gotham Bold"/>
                <a:ea typeface="Gotham Bold"/>
                <a:cs typeface="Gotham Bold"/>
                <a:sym typeface="Gotham Bold"/>
              </a:rPr>
              <a:t>Episodio II — El Ataque de los Graviton: Infraestructura y rendimiento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914400" y="3200400"/>
          <a:ext cx="138988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005840"/>
                <a:gridCol w="1280160"/>
                <a:gridCol w="1097280"/>
                <a:gridCol w="2286000"/>
                <a:gridCol w="1005840"/>
                <a:gridCol w="1645920"/>
                <a:gridCol w="3383280"/>
              </a:tblGrid>
              <a:tr h="658368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</a:rPr>
                        <a:t>RA3</a:t>
                      </a:r>
                    </a:p>
                  </a:txBody>
                  <a:tcPr anchor="ctr" marL="109728" marR="109728">
                    <a:solidFill>
                      <a:srgbClr val="316C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</a:rPr>
                        <a:t>vCPU</a:t>
                      </a:r>
                    </a:p>
                  </a:txBody>
                  <a:tcPr anchor="ctr" marL="109728" marR="109728">
                    <a:solidFill>
                      <a:srgbClr val="316C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</a:rPr>
                        <a:t>USD/h</a:t>
                      </a:r>
                    </a:p>
                  </a:txBody>
                  <a:tcPr anchor="ctr" marL="109728" marR="109728">
                    <a:solidFill>
                      <a:srgbClr val="316C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</a:rPr>
                        <a:t>→</a:t>
                      </a:r>
                    </a:p>
                  </a:txBody>
                  <a:tcPr anchor="ctr" marL="109728" marR="109728">
                    <a:solidFill>
                      <a:srgbClr val="316C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</a:rPr>
                        <a:t>RG</a:t>
                      </a:r>
                    </a:p>
                  </a:txBody>
                  <a:tcPr anchor="ctr" marL="109728" marR="109728">
                    <a:solidFill>
                      <a:srgbClr val="316C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</a:rPr>
                        <a:t>vCPU</a:t>
                      </a:r>
                    </a:p>
                  </a:txBody>
                  <a:tcPr anchor="ctr" marL="109728" marR="109728">
                    <a:solidFill>
                      <a:srgbClr val="316C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</a:rPr>
                        <a:t>USD/h</a:t>
                      </a:r>
                    </a:p>
                  </a:txBody>
                  <a:tcPr anchor="ctr" marL="109728" marR="109728">
                    <a:solidFill>
                      <a:srgbClr val="316C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</a:rPr>
                        <a:t>USD por vCPU-h</a:t>
                      </a:r>
                    </a:p>
                  </a:txBody>
                  <a:tcPr anchor="ctr" marL="109728" marR="109728">
                    <a:solidFill>
                      <a:srgbClr val="316CE3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 marL="109728" marR="109728">
                    <a:solidFill>
                      <a:srgbClr val="2F3D5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anchor="ctr" marL="109728" marR="109728">
                    <a:solidFill>
                      <a:srgbClr val="2F3D5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anchor="ctr" marL="109728" marR="109728">
                    <a:solidFill>
                      <a:srgbClr val="2F3D5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anchor="ctr" marL="109728" marR="109728">
                    <a:solidFill>
                      <a:srgbClr val="2F3D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Arial"/>
                        </a:rPr>
                        <a:t>rg.large</a:t>
                      </a:r>
                    </a:p>
                  </a:txBody>
                  <a:tcPr anchor="ctr" marL="109728" marR="109728">
                    <a:solidFill>
                      <a:srgbClr val="2F3D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anchor="ctr" marL="109728" marR="109728">
                    <a:solidFill>
                      <a:srgbClr val="2F3D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Arial"/>
                        </a:rPr>
                        <a:t>0,3801</a:t>
                      </a:r>
                    </a:p>
                  </a:txBody>
                  <a:tcPr anchor="ctr" marL="109728" marR="109728">
                    <a:solidFill>
                      <a:srgbClr val="2F3D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Arial"/>
                        </a:rPr>
                        <a:t>0,190</a:t>
                      </a:r>
                    </a:p>
                  </a:txBody>
                  <a:tcPr anchor="ctr" marL="109728" marR="109728">
                    <a:solidFill>
                      <a:srgbClr val="2F3D5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Arial"/>
                        </a:rPr>
                        <a:t>ra3.xlplus</a:t>
                      </a:r>
                    </a:p>
                  </a:txBody>
                  <a:tcPr anchor="ctr" marL="109728" marR="109728">
                    <a:solidFill>
                      <a:srgbClr val="2F3D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anchor="ctr" marL="109728" marR="109728">
                    <a:solidFill>
                      <a:srgbClr val="2F3D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Arial"/>
                        </a:rPr>
                        <a:t>1,086</a:t>
                      </a:r>
                    </a:p>
                  </a:txBody>
                  <a:tcPr anchor="ctr" marL="109728" marR="109728">
                    <a:solidFill>
                      <a:srgbClr val="2F3D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Arial"/>
                        </a:rPr>
                        <a:t>1 : 1</a:t>
                      </a:r>
                    </a:p>
                  </a:txBody>
                  <a:tcPr anchor="ctr" marL="109728" marR="109728">
                    <a:solidFill>
                      <a:srgbClr val="2F3D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Arial"/>
                        </a:rPr>
                        <a:t>rg.xlarge</a:t>
                      </a:r>
                    </a:p>
                  </a:txBody>
                  <a:tcPr anchor="ctr" marL="109728" marR="109728">
                    <a:solidFill>
                      <a:srgbClr val="2F3D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anchor="ctr" marL="109728" marR="109728">
                    <a:solidFill>
                      <a:srgbClr val="2F3D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Arial"/>
                        </a:rPr>
                        <a:t>0,7602</a:t>
                      </a:r>
                    </a:p>
                  </a:txBody>
                  <a:tcPr anchor="ctr" marL="109728" marR="109728">
                    <a:solidFill>
                      <a:srgbClr val="2F3D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Arial"/>
                        </a:rPr>
                        <a:t>0,272 → 0,190</a:t>
                      </a:r>
                    </a:p>
                  </a:txBody>
                  <a:tcPr anchor="ctr" marL="109728" marR="109728">
                    <a:solidFill>
                      <a:srgbClr val="2F3D5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Arial"/>
                        </a:rPr>
                        <a:t>ra3.4xlarge</a:t>
                      </a:r>
                    </a:p>
                  </a:txBody>
                  <a:tcPr anchor="ctr" marL="109728" marR="109728">
                    <a:solidFill>
                      <a:srgbClr val="3A4B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anchor="ctr" marL="109728" marR="109728">
                    <a:solidFill>
                      <a:srgbClr val="3A4B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Arial"/>
                        </a:rPr>
                        <a:t>3,26</a:t>
                      </a:r>
                    </a:p>
                  </a:txBody>
                  <a:tcPr anchor="ctr" marL="109728" marR="109728">
                    <a:solidFill>
                      <a:srgbClr val="3A4B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Arial"/>
                        </a:rPr>
                        <a:t>4 → 3</a:t>
                      </a:r>
                    </a:p>
                  </a:txBody>
                  <a:tcPr anchor="ctr" marL="109728" marR="109728">
                    <a:solidFill>
                      <a:srgbClr val="3A4B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Arial"/>
                        </a:rPr>
                        <a:t>rg.4xlarge</a:t>
                      </a:r>
                    </a:p>
                  </a:txBody>
                  <a:tcPr anchor="ctr" marL="109728" marR="109728">
                    <a:solidFill>
                      <a:srgbClr val="3A4B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anchor="ctr" marL="109728" marR="109728">
                    <a:solidFill>
                      <a:srgbClr val="3A4B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Arial"/>
                        </a:rPr>
                        <a:t>3,04267</a:t>
                      </a:r>
                    </a:p>
                  </a:txBody>
                  <a:tcPr anchor="ctr" marL="109728" marR="109728">
                    <a:solidFill>
                      <a:srgbClr val="3A4B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Arial"/>
                        </a:rPr>
                        <a:t>0,272 → 0,190</a:t>
                      </a:r>
                    </a:p>
                  </a:txBody>
                  <a:tcPr anchor="ctr" marL="109728" marR="109728">
                    <a:solidFill>
                      <a:srgbClr val="3A4B6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 marL="109728" marR="109728">
                    <a:solidFill>
                      <a:srgbClr val="2F3D5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anchor="ctr" marL="109728" marR="109728">
                    <a:solidFill>
                      <a:srgbClr val="2F3D5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anchor="ctr" marL="109728" marR="109728">
                    <a:solidFill>
                      <a:srgbClr val="2F3D5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anchor="ctr" marL="109728" marR="109728">
                    <a:solidFill>
                      <a:srgbClr val="2F3D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Arial"/>
                        </a:rPr>
                        <a:t>rg.12xlarge</a:t>
                      </a:r>
                    </a:p>
                  </a:txBody>
                  <a:tcPr anchor="ctr" marL="109728" marR="109728">
                    <a:solidFill>
                      <a:srgbClr val="2F3D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anchor="ctr" marL="109728" marR="109728">
                    <a:solidFill>
                      <a:srgbClr val="2F3D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Arial"/>
                        </a:rPr>
                        <a:t>9,128</a:t>
                      </a:r>
                    </a:p>
                  </a:txBody>
                  <a:tcPr anchor="ctr" marL="109728" marR="109728">
                    <a:solidFill>
                      <a:srgbClr val="2F3D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Arial"/>
                        </a:rPr>
                        <a:t>0,190</a:t>
                      </a:r>
                    </a:p>
                  </a:txBody>
                  <a:tcPr anchor="ctr" marL="109728" marR="109728">
                    <a:solidFill>
                      <a:srgbClr val="2F3D5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14400" y="6858000"/>
            <a:ext cx="14264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4 × ra3.4xlarge = 3 × rg.4xlarge = 48 vCPU</a:t>
            </a:r>
            <a:r>
              <a:rPr sz="2600" b="0">
                <a:solidFill>
                  <a:srgbClr val="FFFFFF"/>
                </a:solidFill>
                <a:latin typeface="Arial"/>
              </a:rPr>
              <a:t> → USD 13,04/h frente a 9,13/h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7909560"/>
            <a:ext cx="1426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9FB3C8"/>
                </a:solidFill>
                <a:latin typeface="Arial"/>
              </a:rPr>
              <a:t>vCPU: documentación «Node type details». Precios on-demand us-east-1, Price List API (results/prices.md y spec).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2E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3520440" y="868680"/>
            <a:ext cx="12070080" cy="1874519"/>
          </a:xfrm>
          <a:prstGeom prst="rect">
            <a:avLst/>
          </a:prstGeom>
        </p:spPr>
        <p:txBody>
          <a:bodyPr anchor="ctr" rtlCol="false" tIns="0" lIns="0" bIns="0" rIns="0" wrap="square">
            <a:spAutoFit/>
          </a:bodyPr>
          <a:lstStyle/>
          <a:p>
            <a:pPr algn="l" marL="0" indent="0" lvl="0">
              <a:lnSpc>
                <a:spcPts val="10481"/>
              </a:lnSpc>
              <a:spcBef>
                <a:spcPct val="0"/>
              </a:spcBef>
            </a:pPr>
            <a:r>
              <a:rPr lang="en-US" b="true" sz="5400">
                <a:solidFill>
                  <a:srgbClr val="FFFFFF"/>
                </a:solidFill>
                <a:latin typeface="Raleway 1 Heavy"/>
                <a:ea typeface="Raleway 1 Heavy"/>
                <a:cs typeface="Raleway 1 Heavy"/>
                <a:sym typeface="Raleway 1 Heavy"/>
              </a:rPr>
              <a:t>Lo que promete AWS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536304" y="308054"/>
            <a:ext cx="650696" cy="409939"/>
          </a:xfrm>
          <a:custGeom>
            <a:avLst/>
            <a:gdLst/>
            <a:ahLst/>
            <a:cxnLst/>
            <a:rect r="r" b="b" t="t" l="l"/>
            <a:pathLst>
              <a:path h="409939" w="650696">
                <a:moveTo>
                  <a:pt x="0" y="0"/>
                </a:moveTo>
                <a:lnTo>
                  <a:pt x="650697" y="0"/>
                </a:lnTo>
                <a:lnTo>
                  <a:pt x="650697" y="409938"/>
                </a:lnTo>
                <a:lnTo>
                  <a:pt x="0" y="40993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219785" y="9070932"/>
            <a:ext cx="4151107" cy="986035"/>
            <a:chOff x="0" y="0"/>
            <a:chExt cx="5534810" cy="131471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314713" cy="1314713"/>
            </a:xfrm>
            <a:custGeom>
              <a:avLst/>
              <a:gdLst/>
              <a:ahLst/>
              <a:cxnLst/>
              <a:rect r="r" b="b" t="t" l="l"/>
              <a:pathLst>
                <a:path h="1314713" w="1314713">
                  <a:moveTo>
                    <a:pt x="0" y="0"/>
                  </a:moveTo>
                  <a:lnTo>
                    <a:pt x="1314713" y="0"/>
                  </a:lnTo>
                  <a:lnTo>
                    <a:pt x="1314713" y="1314713"/>
                  </a:lnTo>
                  <a:lnTo>
                    <a:pt x="0" y="13147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 rot="0">
              <a:off x="1455753" y="151974"/>
              <a:ext cx="3148240" cy="46230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702"/>
                </a:lnSpc>
              </a:pPr>
              <a:r>
                <a:rPr lang="en-US" b="true" sz="2252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OCTUBRE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1468453" y="585710"/>
              <a:ext cx="4066356" cy="5651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30"/>
                </a:lnSpc>
              </a:pPr>
              <a:r>
                <a:rPr lang="en-US" sz="1097" b="true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Mes de </a:t>
              </a:r>
            </a:p>
            <a:p>
              <a:pPr algn="l">
                <a:lnSpc>
                  <a:spcPts val="2059"/>
                </a:lnSpc>
              </a:pPr>
              <a:r>
                <a:rPr lang="en-US" b="true" sz="1999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HAN SOLO</a:t>
              </a: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258571" y="221658"/>
            <a:ext cx="15091730" cy="563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60"/>
              </a:lnSpc>
            </a:pPr>
            <a:r>
              <a:rPr lang="en-US" sz="2000">
                <a:solidFill>
                  <a:srgbClr val="316CE3"/>
                </a:solidFill>
                <a:latin typeface="Gotham"/>
                <a:ea typeface="Gotham"/>
                <a:cs typeface="Gotham"/>
                <a:sym typeface="Gotham"/>
              </a:rPr>
              <a:t>HOY:</a:t>
            </a:r>
          </a:p>
          <a:p>
            <a:pPr algn="l">
              <a:lnSpc>
                <a:spcPts val="2528"/>
              </a:lnSpc>
            </a:pPr>
            <a:r>
              <a:rPr lang="en-US" sz="2873" b="true">
                <a:solidFill>
                  <a:srgbClr val="316CE3"/>
                </a:solidFill>
                <a:latin typeface="Gotham Bold"/>
                <a:ea typeface="Gotham Bold"/>
                <a:cs typeface="Gotham Bold"/>
                <a:sym typeface="Gotham Bold"/>
              </a:rPr>
              <a:t>Episodio II — El Ataque de los Graviton: Infraestructura y rendimiento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3200400"/>
            <a:ext cx="3337560" cy="2743200"/>
          </a:xfrm>
          <a:prstGeom prst="roundRect">
            <a:avLst>
              <a:gd name="adj" fmla="val 8000"/>
            </a:avLst>
          </a:prstGeom>
          <a:solidFill>
            <a:srgbClr val="2F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228600" bIns="228600"/>
          <a:lstStyle/>
          <a:p>
            <a:pPr algn="ctr">
              <a:spcAft>
                <a:spcPts val="800"/>
              </a:spcAft>
            </a:pPr>
            <a:r>
              <a:rPr sz="4000" b="1">
                <a:solidFill>
                  <a:srgbClr val="316CE3"/>
                </a:solidFill>
                <a:latin typeface="Arial"/>
              </a:rPr>
              <a:t>Hasta 2,2x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D9E2EC"/>
                </a:solidFill>
                <a:latin typeface="Arial"/>
              </a:rPr>
              <a:t>más rápido en el warehouse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62272" y="3200400"/>
            <a:ext cx="3337560" cy="2743200"/>
          </a:xfrm>
          <a:prstGeom prst="roundRect">
            <a:avLst>
              <a:gd name="adj" fmla="val 8000"/>
            </a:avLst>
          </a:prstGeom>
          <a:solidFill>
            <a:srgbClr val="2F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228600" bIns="228600"/>
          <a:lstStyle/>
          <a:p>
            <a:pPr algn="ctr">
              <a:spcAft>
                <a:spcPts val="800"/>
              </a:spcAft>
            </a:pPr>
            <a:r>
              <a:rPr sz="4000" b="1">
                <a:solidFill>
                  <a:srgbClr val="316CE3"/>
                </a:solidFill>
                <a:latin typeface="Arial"/>
              </a:rPr>
              <a:t>Hasta 2,4x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D9E2EC"/>
                </a:solidFill>
                <a:latin typeface="Arial"/>
              </a:rPr>
              <a:t>en el data lake (Iceberg; 1,5x en Parquet)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10144" y="3200400"/>
            <a:ext cx="3337560" cy="2743200"/>
          </a:xfrm>
          <a:prstGeom prst="roundRect">
            <a:avLst>
              <a:gd name="adj" fmla="val 8000"/>
            </a:avLst>
          </a:prstGeom>
          <a:solidFill>
            <a:srgbClr val="2F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228600" bIns="228600"/>
          <a:lstStyle/>
          <a:p>
            <a:pPr algn="ctr">
              <a:spcAft>
                <a:spcPts val="800"/>
              </a:spcAft>
            </a:pPr>
            <a:r>
              <a:rPr sz="4000" b="1">
                <a:solidFill>
                  <a:srgbClr val="316CE3"/>
                </a:solidFill>
                <a:latin typeface="Arial"/>
              </a:rPr>
              <a:t>−30 %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D9E2EC"/>
                </a:solidFill>
                <a:latin typeface="Arial"/>
              </a:rPr>
              <a:t>por vCPU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558016" y="3200400"/>
            <a:ext cx="3337560" cy="2743200"/>
          </a:xfrm>
          <a:prstGeom prst="roundRect">
            <a:avLst>
              <a:gd name="adj" fmla="val 8000"/>
            </a:avLst>
          </a:prstGeom>
          <a:solidFill>
            <a:srgbClr val="2F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228600" bIns="228600"/>
          <a:lstStyle/>
          <a:p>
            <a:pPr algn="ctr">
              <a:spcAft>
                <a:spcPts val="800"/>
              </a:spcAft>
            </a:pPr>
            <a:r>
              <a:rPr sz="4000" b="1">
                <a:solidFill>
                  <a:srgbClr val="316CE3"/>
                </a:solidFill>
                <a:latin typeface="Arial"/>
              </a:rPr>
              <a:t>Sin cargo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D9E2EC"/>
                </a:solidFill>
                <a:latin typeface="Arial"/>
              </a:rPr>
              <a:t>de Spectrum por TB escaneado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6400800"/>
            <a:ext cx="13898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FFFFFF"/>
                </a:solidFill>
                <a:latin typeface="Arial"/>
              </a:rPr>
              <a:t>AWS midió TPC-DS y TPC-H a </a:t>
            </a:r>
            <a:r>
              <a:rPr sz="2400" b="1">
                <a:solidFill>
                  <a:srgbClr val="FFFFFF"/>
                </a:solidFill>
                <a:latin typeface="Arial"/>
              </a:rPr>
              <a:t>10 TB en rg.4xlarge</a:t>
            </a:r>
            <a:r>
              <a:rPr sz="2400" b="0">
                <a:solidFill>
                  <a:srgbClr val="FFFFFF"/>
                </a:solidFill>
                <a:latin typeface="Arial"/>
              </a:rPr>
              <a:t>. Nosotros: 100 GB en 2 × xlarge.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7909560"/>
            <a:ext cx="1426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9FB3C8"/>
                </a:solidFill>
                <a:latin typeface="Arial"/>
              </a:rPr>
              <a:t>Fuente: blog de AWS Big Data «Meet Amazon Redshift RG…», 2026-05-19.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2E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3444099" y="3763913"/>
            <a:ext cx="13438018" cy="2238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399"/>
              </a:lnSpc>
            </a:pPr>
            <a:r>
              <a:rPr lang="en-US" b="true" sz="9999">
                <a:solidFill>
                  <a:srgbClr val="FFFFFF"/>
                </a:solidFill>
                <a:latin typeface="Raleway 1 Heavy"/>
                <a:ea typeface="Raleway 1 Heavy"/>
                <a:cs typeface="Raleway 1 Heavy"/>
                <a:sym typeface="Raleway 1 Heavy"/>
              </a:rPr>
              <a:t>CÓMO LO</a:t>
            </a:r>
          </a:p>
          <a:p>
            <a:pPr algn="l" marL="0" indent="0" lvl="0">
              <a:lnSpc>
                <a:spcPts val="8399"/>
              </a:lnSpc>
            </a:pPr>
            <a:r>
              <a:rPr lang="en-US" b="true" sz="9999">
                <a:solidFill>
                  <a:srgbClr val="FFFFFF"/>
                </a:solidFill>
                <a:latin typeface="Raleway 1 Heavy"/>
                <a:ea typeface="Raleway 1 Heavy"/>
                <a:cs typeface="Raleway 1 Heavy"/>
                <a:sym typeface="Raleway 1 Heavy"/>
              </a:rPr>
              <a:t>        MEDIMOS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536304" y="308054"/>
            <a:ext cx="650696" cy="409939"/>
          </a:xfrm>
          <a:custGeom>
            <a:avLst/>
            <a:gdLst/>
            <a:ahLst/>
            <a:cxnLst/>
            <a:rect r="r" b="b" t="t" l="l"/>
            <a:pathLst>
              <a:path h="409939" w="650696">
                <a:moveTo>
                  <a:pt x="0" y="0"/>
                </a:moveTo>
                <a:lnTo>
                  <a:pt x="650697" y="0"/>
                </a:lnTo>
                <a:lnTo>
                  <a:pt x="650697" y="409938"/>
                </a:lnTo>
                <a:lnTo>
                  <a:pt x="0" y="40993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219785" y="9070932"/>
            <a:ext cx="4151107" cy="986035"/>
            <a:chOff x="0" y="0"/>
            <a:chExt cx="5534810" cy="131471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314713" cy="1314713"/>
            </a:xfrm>
            <a:custGeom>
              <a:avLst/>
              <a:gdLst/>
              <a:ahLst/>
              <a:cxnLst/>
              <a:rect r="r" b="b" t="t" l="l"/>
              <a:pathLst>
                <a:path h="1314713" w="1314713">
                  <a:moveTo>
                    <a:pt x="0" y="0"/>
                  </a:moveTo>
                  <a:lnTo>
                    <a:pt x="1314713" y="0"/>
                  </a:lnTo>
                  <a:lnTo>
                    <a:pt x="1314713" y="1314713"/>
                  </a:lnTo>
                  <a:lnTo>
                    <a:pt x="0" y="13147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 rot="0">
              <a:off x="1455753" y="151974"/>
              <a:ext cx="3148240" cy="46230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702"/>
                </a:lnSpc>
              </a:pPr>
              <a:r>
                <a:rPr lang="en-US" b="true" sz="2252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OCTUBRE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1468453" y="585710"/>
              <a:ext cx="4066356" cy="5651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30"/>
                </a:lnSpc>
              </a:pPr>
              <a:r>
                <a:rPr lang="en-US" sz="1097" b="true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Mes de </a:t>
              </a:r>
            </a:p>
            <a:p>
              <a:pPr algn="l">
                <a:lnSpc>
                  <a:spcPts val="2059"/>
                </a:lnSpc>
              </a:pPr>
              <a:r>
                <a:rPr lang="en-US" b="true" sz="1999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HAN SOLO</a:t>
              </a: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258571" y="221658"/>
            <a:ext cx="15091730" cy="563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60"/>
              </a:lnSpc>
            </a:pPr>
            <a:r>
              <a:rPr lang="en-US" sz="2000">
                <a:solidFill>
                  <a:srgbClr val="316CE3"/>
                </a:solidFill>
                <a:latin typeface="Gotham"/>
                <a:ea typeface="Gotham"/>
                <a:cs typeface="Gotham"/>
                <a:sym typeface="Gotham"/>
              </a:rPr>
              <a:t>HOY:</a:t>
            </a:r>
          </a:p>
          <a:p>
            <a:pPr algn="l">
              <a:lnSpc>
                <a:spcPts val="2528"/>
              </a:lnSpc>
            </a:pPr>
            <a:r>
              <a:rPr lang="en-US" sz="2873" b="true">
                <a:solidFill>
                  <a:srgbClr val="316CE3"/>
                </a:solidFill>
                <a:latin typeface="Gotham Bold"/>
                <a:ea typeface="Gotham Bold"/>
                <a:cs typeface="Gotham Bold"/>
                <a:sym typeface="Gotham Bold"/>
              </a:rPr>
              <a:t>Episodio II — El Ataque de los Graviton: Infraestructura y rendimiento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2E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3520440" y="868680"/>
            <a:ext cx="12070080" cy="1874519"/>
          </a:xfrm>
          <a:prstGeom prst="rect">
            <a:avLst/>
          </a:prstGeom>
        </p:spPr>
        <p:txBody>
          <a:bodyPr anchor="ctr" rtlCol="false" tIns="0" lIns="0" bIns="0" rIns="0" wrap="square">
            <a:spAutoFit/>
          </a:bodyPr>
          <a:lstStyle/>
          <a:p>
            <a:pPr algn="l" marL="0" indent="0" lvl="0">
              <a:lnSpc>
                <a:spcPts val="10481"/>
              </a:lnSpc>
              <a:spcBef>
                <a:spcPct val="0"/>
              </a:spcBef>
            </a:pPr>
            <a:r>
              <a:rPr lang="en-US" b="true" sz="5400">
                <a:solidFill>
                  <a:srgbClr val="FFFFFF"/>
                </a:solidFill>
                <a:latin typeface="Raleway 1 Heavy"/>
                <a:ea typeface="Raleway 1 Heavy"/>
                <a:cs typeface="Raleway 1 Heavy"/>
                <a:sym typeface="Raleway 1 Heavy"/>
              </a:rPr>
              <a:t>El laboratorio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536304" y="308054"/>
            <a:ext cx="650696" cy="409939"/>
          </a:xfrm>
          <a:custGeom>
            <a:avLst/>
            <a:gdLst/>
            <a:ahLst/>
            <a:cxnLst/>
            <a:rect r="r" b="b" t="t" l="l"/>
            <a:pathLst>
              <a:path h="409939" w="650696">
                <a:moveTo>
                  <a:pt x="0" y="0"/>
                </a:moveTo>
                <a:lnTo>
                  <a:pt x="650697" y="0"/>
                </a:lnTo>
                <a:lnTo>
                  <a:pt x="650697" y="409938"/>
                </a:lnTo>
                <a:lnTo>
                  <a:pt x="0" y="40993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219785" y="9070932"/>
            <a:ext cx="4151107" cy="986035"/>
            <a:chOff x="0" y="0"/>
            <a:chExt cx="5534810" cy="131471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314713" cy="1314713"/>
            </a:xfrm>
            <a:custGeom>
              <a:avLst/>
              <a:gdLst/>
              <a:ahLst/>
              <a:cxnLst/>
              <a:rect r="r" b="b" t="t" l="l"/>
              <a:pathLst>
                <a:path h="1314713" w="1314713">
                  <a:moveTo>
                    <a:pt x="0" y="0"/>
                  </a:moveTo>
                  <a:lnTo>
                    <a:pt x="1314713" y="0"/>
                  </a:lnTo>
                  <a:lnTo>
                    <a:pt x="1314713" y="1314713"/>
                  </a:lnTo>
                  <a:lnTo>
                    <a:pt x="0" y="13147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 rot="0">
              <a:off x="1455753" y="151974"/>
              <a:ext cx="3148240" cy="46230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702"/>
                </a:lnSpc>
              </a:pPr>
              <a:r>
                <a:rPr lang="en-US" b="true" sz="2252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OCTUBRE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1468453" y="585710"/>
              <a:ext cx="4066356" cy="5651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30"/>
                </a:lnSpc>
              </a:pPr>
              <a:r>
                <a:rPr lang="en-US" sz="1097" b="true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Mes de </a:t>
              </a:r>
            </a:p>
            <a:p>
              <a:pPr algn="l">
                <a:lnSpc>
                  <a:spcPts val="2059"/>
                </a:lnSpc>
              </a:pPr>
              <a:r>
                <a:rPr lang="en-US" b="true" sz="1999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HAN SOLO</a:t>
              </a: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258571" y="221658"/>
            <a:ext cx="15091730" cy="563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60"/>
              </a:lnSpc>
            </a:pPr>
            <a:r>
              <a:rPr lang="en-US" sz="2000">
                <a:solidFill>
                  <a:srgbClr val="316CE3"/>
                </a:solidFill>
                <a:latin typeface="Gotham"/>
                <a:ea typeface="Gotham"/>
                <a:cs typeface="Gotham"/>
                <a:sym typeface="Gotham"/>
              </a:rPr>
              <a:t>HOY:</a:t>
            </a:r>
          </a:p>
          <a:p>
            <a:pPr algn="l">
              <a:lnSpc>
                <a:spcPts val="2528"/>
              </a:lnSpc>
            </a:pPr>
            <a:r>
              <a:rPr lang="en-US" sz="2873" b="true">
                <a:solidFill>
                  <a:srgbClr val="316CE3"/>
                </a:solidFill>
                <a:latin typeface="Gotham Bold"/>
                <a:ea typeface="Gotham Bold"/>
                <a:cs typeface="Gotham Bold"/>
                <a:sym typeface="Gotham Bold"/>
              </a:rPr>
              <a:t>Episodio II — El Ataque de los Graviton: Infraestructura y rendimiento</a:t>
            </a:r>
          </a:p>
        </p:txBody>
      </p:sp>
      <p:pic>
        <p:nvPicPr>
          <p:cNvPr id="10" name="Picture 9" descr="arquitectura-la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17082" y="3246120"/>
            <a:ext cx="10259274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2E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3520440" y="868680"/>
            <a:ext cx="12070080" cy="1874519"/>
          </a:xfrm>
          <a:prstGeom prst="rect">
            <a:avLst/>
          </a:prstGeom>
        </p:spPr>
        <p:txBody>
          <a:bodyPr anchor="ctr" rtlCol="false" tIns="0" lIns="0" bIns="0" rIns="0" wrap="square">
            <a:spAutoFit/>
          </a:bodyPr>
          <a:lstStyle/>
          <a:p>
            <a:pPr algn="l" marL="0" indent="0" lvl="0">
              <a:lnSpc>
                <a:spcPts val="10481"/>
              </a:lnSpc>
              <a:spcBef>
                <a:spcPct val="0"/>
              </a:spcBef>
            </a:pPr>
            <a:r>
              <a:rPr lang="en-US" b="true" sz="5400">
                <a:solidFill>
                  <a:srgbClr val="FFFFFF"/>
                </a:solidFill>
                <a:latin typeface="Raleway 1 Heavy"/>
                <a:ea typeface="Raleway 1 Heavy"/>
                <a:cs typeface="Raleway 1 Heavy"/>
                <a:sym typeface="Raleway 1 Heavy"/>
              </a:rPr>
              <a:t>Un método justo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536304" y="308054"/>
            <a:ext cx="650696" cy="409939"/>
          </a:xfrm>
          <a:custGeom>
            <a:avLst/>
            <a:gdLst/>
            <a:ahLst/>
            <a:cxnLst/>
            <a:rect r="r" b="b" t="t" l="l"/>
            <a:pathLst>
              <a:path h="409939" w="650696">
                <a:moveTo>
                  <a:pt x="0" y="0"/>
                </a:moveTo>
                <a:lnTo>
                  <a:pt x="650697" y="0"/>
                </a:lnTo>
                <a:lnTo>
                  <a:pt x="650697" y="409938"/>
                </a:lnTo>
                <a:lnTo>
                  <a:pt x="0" y="40993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219785" y="9070932"/>
            <a:ext cx="4151107" cy="986035"/>
            <a:chOff x="0" y="0"/>
            <a:chExt cx="5534810" cy="131471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314713" cy="1314713"/>
            </a:xfrm>
            <a:custGeom>
              <a:avLst/>
              <a:gdLst/>
              <a:ahLst/>
              <a:cxnLst/>
              <a:rect r="r" b="b" t="t" l="l"/>
              <a:pathLst>
                <a:path h="1314713" w="1314713">
                  <a:moveTo>
                    <a:pt x="0" y="0"/>
                  </a:moveTo>
                  <a:lnTo>
                    <a:pt x="1314713" y="0"/>
                  </a:lnTo>
                  <a:lnTo>
                    <a:pt x="1314713" y="1314713"/>
                  </a:lnTo>
                  <a:lnTo>
                    <a:pt x="0" y="13147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 rot="0">
              <a:off x="1455753" y="151974"/>
              <a:ext cx="3148240" cy="46230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702"/>
                </a:lnSpc>
              </a:pPr>
              <a:r>
                <a:rPr lang="en-US" b="true" sz="2252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OCTUBRE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1468453" y="585710"/>
              <a:ext cx="4066356" cy="5651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30"/>
                </a:lnSpc>
              </a:pPr>
              <a:r>
                <a:rPr lang="en-US" sz="1097" b="true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Mes de </a:t>
              </a:r>
            </a:p>
            <a:p>
              <a:pPr algn="l">
                <a:lnSpc>
                  <a:spcPts val="2059"/>
                </a:lnSpc>
              </a:pPr>
              <a:r>
                <a:rPr lang="en-US" b="true" sz="1999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HAN SOLO</a:t>
              </a: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258571" y="221658"/>
            <a:ext cx="15091730" cy="563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60"/>
              </a:lnSpc>
            </a:pPr>
            <a:r>
              <a:rPr lang="en-US" sz="2000">
                <a:solidFill>
                  <a:srgbClr val="316CE3"/>
                </a:solidFill>
                <a:latin typeface="Gotham"/>
                <a:ea typeface="Gotham"/>
                <a:cs typeface="Gotham"/>
                <a:sym typeface="Gotham"/>
              </a:rPr>
              <a:t>HOY:</a:t>
            </a:r>
          </a:p>
          <a:p>
            <a:pPr algn="l">
              <a:lnSpc>
                <a:spcPts val="2528"/>
              </a:lnSpc>
            </a:pPr>
            <a:r>
              <a:rPr lang="en-US" sz="2873" b="true">
                <a:solidFill>
                  <a:srgbClr val="316CE3"/>
                </a:solidFill>
                <a:latin typeface="Gotham Bold"/>
                <a:ea typeface="Gotham Bold"/>
                <a:cs typeface="Gotham Bold"/>
                <a:sym typeface="Gotham Bold"/>
              </a:rPr>
              <a:t>Episodio II — El Ataque de los Graviton: Infraestructura y rendimiento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00400"/>
            <a:ext cx="14264640" cy="5303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347472" indent="-347472">
              <a:spcAft>
                <a:spcPts val="2000"/>
              </a:spcAft>
              <a:buChar char="•"/>
            </a:pPr>
            <a:r>
              <a:rPr sz="2600" b="0">
                <a:solidFill>
                  <a:srgbClr val="D9E2EC"/>
                </a:solidFill>
                <a:latin typeface="Arial"/>
              </a:rPr>
              <a:t>Mismo snapshot y misma versión de Redshift (1.0.434008) en los dos clústeres</a:t>
            </a:r>
          </a:p>
          <a:p>
            <a:pPr algn="l" marL="347472" indent="-347472">
              <a:spcAft>
                <a:spcPts val="2000"/>
              </a:spcAft>
              <a:buChar char="•"/>
            </a:pPr>
            <a:r>
              <a:rPr sz="2600" b="0">
                <a:solidFill>
                  <a:srgbClr val="D9E2EC"/>
                </a:solidFill>
                <a:latin typeface="Arial"/>
              </a:rPr>
              <a:t>Caché de resultados apagada y escalado de concurrencia en 0</a:t>
            </a:r>
          </a:p>
          <a:p>
            <a:pPr algn="l" marL="347472" indent="-347472">
              <a:spcAft>
                <a:spcPts val="2000"/>
              </a:spcAft>
              <a:buChar char="•"/>
            </a:pPr>
            <a:r>
              <a:rPr sz="2600" b="0">
                <a:solidFill>
                  <a:srgbClr val="D9E2EC"/>
                </a:solidFill>
                <a:latin typeface="Arial"/>
              </a:rPr>
              <a:t>Tiempos medidos en el servidor (SYS_QUERY_HISTORY), no en mi laptop</a:t>
            </a:r>
          </a:p>
          <a:p>
            <a:pPr algn="l" marL="347472" indent="-347472">
              <a:spcAft>
                <a:spcPts val="2000"/>
              </a:spcAft>
              <a:buChar char="•"/>
            </a:pPr>
            <a:r>
              <a:rPr sz="2600" b="0">
                <a:solidFill>
                  <a:srgbClr val="D9E2EC"/>
                </a:solidFill>
                <a:latin typeface="Arial"/>
              </a:rPr>
              <a:t>Mediana por consulta, sin la pasada de calentamiento</a:t>
            </a:r>
          </a:p>
          <a:p>
            <a:pPr algn="l" marL="347472" indent="-347472">
              <a:spcAft>
                <a:spcPts val="2000"/>
              </a:spcAft>
              <a:buChar char="•"/>
            </a:pPr>
            <a:r>
              <a:rPr sz="2600" b="1">
                <a:solidFill>
                  <a:srgbClr val="D9E2EC"/>
                </a:solidFill>
                <a:latin typeface="Arial"/>
              </a:rPr>
              <a:t>Una corrida con caché o escalado se invalida sola y no se reporta. Hoy: ninguna.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2E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3520440" y="868680"/>
            <a:ext cx="12070080" cy="1874519"/>
          </a:xfrm>
          <a:prstGeom prst="rect">
            <a:avLst/>
          </a:prstGeom>
        </p:spPr>
        <p:txBody>
          <a:bodyPr anchor="ctr" rtlCol="false" tIns="0" lIns="0" bIns="0" rIns="0" wrap="square">
            <a:spAutoFit/>
          </a:bodyPr>
          <a:lstStyle/>
          <a:p>
            <a:pPr algn="l" marL="0" indent="0" lvl="0">
              <a:lnSpc>
                <a:spcPts val="10481"/>
              </a:lnSpc>
              <a:spcBef>
                <a:spcPct val="0"/>
              </a:spcBef>
            </a:pPr>
            <a:r>
              <a:rPr lang="en-US" b="true" sz="5400">
                <a:solidFill>
                  <a:srgbClr val="FFFFFF"/>
                </a:solidFill>
                <a:latin typeface="Raleway 1 Heavy"/>
                <a:ea typeface="Raleway 1 Heavy"/>
                <a:cs typeface="Raleway 1 Heavy"/>
                <a:sym typeface="Raleway 1 Heavy"/>
              </a:rPr>
              <a:t>Lo que no medimos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536304" y="308054"/>
            <a:ext cx="650696" cy="409939"/>
          </a:xfrm>
          <a:custGeom>
            <a:avLst/>
            <a:gdLst/>
            <a:ahLst/>
            <a:cxnLst/>
            <a:rect r="r" b="b" t="t" l="l"/>
            <a:pathLst>
              <a:path h="409939" w="650696">
                <a:moveTo>
                  <a:pt x="0" y="0"/>
                </a:moveTo>
                <a:lnTo>
                  <a:pt x="650697" y="0"/>
                </a:lnTo>
                <a:lnTo>
                  <a:pt x="650697" y="409938"/>
                </a:lnTo>
                <a:lnTo>
                  <a:pt x="0" y="40993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219785" y="9070932"/>
            <a:ext cx="4151107" cy="986035"/>
            <a:chOff x="0" y="0"/>
            <a:chExt cx="5534810" cy="131471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314713" cy="1314713"/>
            </a:xfrm>
            <a:custGeom>
              <a:avLst/>
              <a:gdLst/>
              <a:ahLst/>
              <a:cxnLst/>
              <a:rect r="r" b="b" t="t" l="l"/>
              <a:pathLst>
                <a:path h="1314713" w="1314713">
                  <a:moveTo>
                    <a:pt x="0" y="0"/>
                  </a:moveTo>
                  <a:lnTo>
                    <a:pt x="1314713" y="0"/>
                  </a:lnTo>
                  <a:lnTo>
                    <a:pt x="1314713" y="1314713"/>
                  </a:lnTo>
                  <a:lnTo>
                    <a:pt x="0" y="13147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 rot="0">
              <a:off x="1455753" y="151974"/>
              <a:ext cx="3148240" cy="46230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702"/>
                </a:lnSpc>
              </a:pPr>
              <a:r>
                <a:rPr lang="en-US" b="true" sz="2252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OCTUBRE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1468453" y="585710"/>
              <a:ext cx="4066356" cy="5651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30"/>
                </a:lnSpc>
              </a:pPr>
              <a:r>
                <a:rPr lang="en-US" sz="1097" b="true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Mes de </a:t>
              </a:r>
            </a:p>
            <a:p>
              <a:pPr algn="l">
                <a:lnSpc>
                  <a:spcPts val="2059"/>
                </a:lnSpc>
              </a:pPr>
              <a:r>
                <a:rPr lang="en-US" b="true" sz="1999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HAN SOLO</a:t>
              </a: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258571" y="221658"/>
            <a:ext cx="15091730" cy="563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60"/>
              </a:lnSpc>
            </a:pPr>
            <a:r>
              <a:rPr lang="en-US" sz="2000">
                <a:solidFill>
                  <a:srgbClr val="316CE3"/>
                </a:solidFill>
                <a:latin typeface="Gotham"/>
                <a:ea typeface="Gotham"/>
                <a:cs typeface="Gotham"/>
                <a:sym typeface="Gotham"/>
              </a:rPr>
              <a:t>HOY:</a:t>
            </a:r>
          </a:p>
          <a:p>
            <a:pPr algn="l">
              <a:lnSpc>
                <a:spcPts val="2528"/>
              </a:lnSpc>
            </a:pPr>
            <a:r>
              <a:rPr lang="en-US" sz="2873" b="true">
                <a:solidFill>
                  <a:srgbClr val="316CE3"/>
                </a:solidFill>
                <a:latin typeface="Gotham Bold"/>
                <a:ea typeface="Gotham Bold"/>
                <a:cs typeface="Gotham Bold"/>
                <a:sym typeface="Gotham Bold"/>
              </a:rPr>
              <a:t>Episodio II — El Ataque de los Graviton: Infraestructura y rendimiento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3200400"/>
            <a:ext cx="6903720" cy="2423160"/>
          </a:xfrm>
          <a:prstGeom prst="roundRect">
            <a:avLst>
              <a:gd name="adj" fmla="val 8000"/>
            </a:avLst>
          </a:prstGeom>
          <a:solidFill>
            <a:srgbClr val="2F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228600" bIns="228600"/>
          <a:lstStyle/>
          <a:p>
            <a:pPr algn="ctr">
              <a:spcAft>
                <a:spcPts val="800"/>
              </a:spcAft>
            </a:pPr>
            <a:r>
              <a:rPr sz="2600" b="1">
                <a:solidFill>
                  <a:srgbClr val="F2A65A"/>
                </a:solidFill>
                <a:latin typeface="Arial"/>
              </a:rPr>
              <a:t>100 GB, no 10 TB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D9E2EC"/>
                </a:solidFill>
                <a:latin typeface="Arial"/>
              </a:rPr>
              <a:t>Con este volumen pesan más los costos fijos de cada consulta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3200400"/>
            <a:ext cx="6903720" cy="2423160"/>
          </a:xfrm>
          <a:prstGeom prst="roundRect">
            <a:avLst>
              <a:gd name="adj" fmla="val 8000"/>
            </a:avLst>
          </a:prstGeom>
          <a:solidFill>
            <a:srgbClr val="2F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228600" bIns="228600"/>
          <a:lstStyle/>
          <a:p>
            <a:pPr algn="ctr">
              <a:spcAft>
                <a:spcPts val="800"/>
              </a:spcAft>
            </a:pPr>
            <a:r>
              <a:rPr sz="2600" b="1">
                <a:solidFill>
                  <a:srgbClr val="F2A65A"/>
                </a:solidFill>
                <a:latin typeface="Arial"/>
              </a:rPr>
              <a:t>2 nodos xlarge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D9E2EC"/>
                </a:solidFill>
                <a:latin typeface="Arial"/>
              </a:rPr>
              <a:t>No medimos 4xlarge ni 12xlarge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5897880"/>
            <a:ext cx="6903720" cy="2423160"/>
          </a:xfrm>
          <a:prstGeom prst="roundRect">
            <a:avLst>
              <a:gd name="adj" fmla="val 8000"/>
            </a:avLst>
          </a:prstGeom>
          <a:solidFill>
            <a:srgbClr val="2F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228600" bIns="228600"/>
          <a:lstStyle/>
          <a:p>
            <a:pPr algn="ctr">
              <a:spcAft>
                <a:spcPts val="800"/>
              </a:spcAft>
            </a:pPr>
            <a:r>
              <a:rPr sz="2600" b="1">
                <a:solidFill>
                  <a:srgbClr val="F2A65A"/>
                </a:solidFill>
                <a:latin typeface="Arial"/>
              </a:rPr>
              <a:t>Sin Serverless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D9E2EC"/>
                </a:solidFill>
                <a:latin typeface="Arial"/>
              </a:rPr>
              <a:t>Lo vemos solo con documentación y precios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5897880"/>
            <a:ext cx="6903720" cy="2423160"/>
          </a:xfrm>
          <a:prstGeom prst="roundRect">
            <a:avLst>
              <a:gd name="adj" fmla="val 8000"/>
            </a:avLst>
          </a:prstGeom>
          <a:solidFill>
            <a:srgbClr val="2F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228600" bIns="228600"/>
          <a:lstStyle/>
          <a:p>
            <a:pPr algn="ctr">
              <a:spcAft>
                <a:spcPts val="800"/>
              </a:spcAft>
            </a:pPr>
            <a:r>
              <a:rPr sz="2600" b="1">
                <a:solidFill>
                  <a:srgbClr val="F2A65A"/>
                </a:solidFill>
                <a:latin typeface="Arial"/>
              </a:rPr>
              <a:t>Sin S3 Tables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D9E2EC"/>
                </a:solidFill>
                <a:latin typeface="Arial"/>
              </a:rPr>
              <a:t>Más adelante, el porqué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2E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3444099" y="3763913"/>
            <a:ext cx="13438018" cy="2238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399"/>
              </a:lnSpc>
            </a:pPr>
            <a:r>
              <a:rPr lang="en-US" b="true" sz="9999">
                <a:solidFill>
                  <a:srgbClr val="FFFFFF"/>
                </a:solidFill>
                <a:latin typeface="Raleway 1 Heavy"/>
                <a:ea typeface="Raleway 1 Heavy"/>
                <a:cs typeface="Raleway 1 Heavy"/>
                <a:sym typeface="Raleway 1 Heavy"/>
              </a:rPr>
              <a:t>WAREHOUSE</a:t>
            </a:r>
          </a:p>
          <a:p>
            <a:pPr algn="l" marL="0" indent="0" lvl="0">
              <a:lnSpc>
                <a:spcPts val="8399"/>
              </a:lnSpc>
            </a:pPr>
            <a:r>
              <a:rPr lang="en-US" b="true" sz="9999">
                <a:solidFill>
                  <a:srgbClr val="FFFFFF"/>
                </a:solidFill>
                <a:latin typeface="Raleway 1 Heavy"/>
                <a:ea typeface="Raleway 1 Heavy"/>
                <a:cs typeface="Raleway 1 Heavy"/>
                <a:sym typeface="Raleway 1 Heavy"/>
              </a:rPr>
              <a:t/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536304" y="308054"/>
            <a:ext cx="650696" cy="409939"/>
          </a:xfrm>
          <a:custGeom>
            <a:avLst/>
            <a:gdLst/>
            <a:ahLst/>
            <a:cxnLst/>
            <a:rect r="r" b="b" t="t" l="l"/>
            <a:pathLst>
              <a:path h="409939" w="650696">
                <a:moveTo>
                  <a:pt x="0" y="0"/>
                </a:moveTo>
                <a:lnTo>
                  <a:pt x="650697" y="0"/>
                </a:lnTo>
                <a:lnTo>
                  <a:pt x="650697" y="409938"/>
                </a:lnTo>
                <a:lnTo>
                  <a:pt x="0" y="40993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219785" y="9070932"/>
            <a:ext cx="4151107" cy="986035"/>
            <a:chOff x="0" y="0"/>
            <a:chExt cx="5534810" cy="131471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314713" cy="1314713"/>
            </a:xfrm>
            <a:custGeom>
              <a:avLst/>
              <a:gdLst/>
              <a:ahLst/>
              <a:cxnLst/>
              <a:rect r="r" b="b" t="t" l="l"/>
              <a:pathLst>
                <a:path h="1314713" w="1314713">
                  <a:moveTo>
                    <a:pt x="0" y="0"/>
                  </a:moveTo>
                  <a:lnTo>
                    <a:pt x="1314713" y="0"/>
                  </a:lnTo>
                  <a:lnTo>
                    <a:pt x="1314713" y="1314713"/>
                  </a:lnTo>
                  <a:lnTo>
                    <a:pt x="0" y="13147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 rot="0">
              <a:off x="1455753" y="151974"/>
              <a:ext cx="3148240" cy="46230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702"/>
                </a:lnSpc>
              </a:pPr>
              <a:r>
                <a:rPr lang="en-US" b="true" sz="2252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OCTUBRE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1468453" y="585710"/>
              <a:ext cx="4066356" cy="5651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30"/>
                </a:lnSpc>
              </a:pPr>
              <a:r>
                <a:rPr lang="en-US" sz="1097" b="true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Mes de </a:t>
              </a:r>
            </a:p>
            <a:p>
              <a:pPr algn="l">
                <a:lnSpc>
                  <a:spcPts val="2059"/>
                </a:lnSpc>
              </a:pPr>
              <a:r>
                <a:rPr lang="en-US" b="true" sz="1999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HAN SOLO</a:t>
              </a: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258571" y="221658"/>
            <a:ext cx="15091730" cy="563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60"/>
              </a:lnSpc>
            </a:pPr>
            <a:r>
              <a:rPr lang="en-US" sz="2000">
                <a:solidFill>
                  <a:srgbClr val="316CE3"/>
                </a:solidFill>
                <a:latin typeface="Gotham"/>
                <a:ea typeface="Gotham"/>
                <a:cs typeface="Gotham"/>
                <a:sym typeface="Gotham"/>
              </a:rPr>
              <a:t>HOY:</a:t>
            </a:r>
          </a:p>
          <a:p>
            <a:pPr algn="l">
              <a:lnSpc>
                <a:spcPts val="2528"/>
              </a:lnSpc>
            </a:pPr>
            <a:r>
              <a:rPr lang="en-US" sz="2873" b="true">
                <a:solidFill>
                  <a:srgbClr val="316CE3"/>
                </a:solidFill>
                <a:latin typeface="Gotham Bold"/>
                <a:ea typeface="Gotham Bold"/>
                <a:cs typeface="Gotham Bold"/>
                <a:sym typeface="Gotham Bold"/>
              </a:rPr>
              <a:t>Episodio II — El Ataque de los Graviton: Infraestructura y rendimiento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2E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3520440" y="868680"/>
            <a:ext cx="12070080" cy="1874519"/>
          </a:xfrm>
          <a:prstGeom prst="rect">
            <a:avLst/>
          </a:prstGeom>
        </p:spPr>
        <p:txBody>
          <a:bodyPr anchor="ctr" rtlCol="false" tIns="0" lIns="0" bIns="0" rIns="0" wrap="square">
            <a:spAutoFit/>
          </a:bodyPr>
          <a:lstStyle/>
          <a:p>
            <a:pPr algn="l" marL="0" indent="0" lvl="0">
              <a:lnSpc>
                <a:spcPts val="10481"/>
              </a:lnSpc>
              <a:spcBef>
                <a:spcPct val="0"/>
              </a:spcBef>
            </a:pPr>
            <a:r>
              <a:rPr lang="en-US" b="true" sz="5400">
                <a:solidFill>
                  <a:srgbClr val="FFFFFF"/>
                </a:solidFill>
                <a:latin typeface="Raleway 1 Heavy"/>
                <a:ea typeface="Raleway 1 Heavy"/>
                <a:cs typeface="Raleway 1 Heavy"/>
                <a:sym typeface="Raleway 1 Heavy"/>
              </a:rPr>
              <a:t>1,90x más rápido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536304" y="308054"/>
            <a:ext cx="650696" cy="409939"/>
          </a:xfrm>
          <a:custGeom>
            <a:avLst/>
            <a:gdLst/>
            <a:ahLst/>
            <a:cxnLst/>
            <a:rect r="r" b="b" t="t" l="l"/>
            <a:pathLst>
              <a:path h="409939" w="650696">
                <a:moveTo>
                  <a:pt x="0" y="0"/>
                </a:moveTo>
                <a:lnTo>
                  <a:pt x="650697" y="0"/>
                </a:lnTo>
                <a:lnTo>
                  <a:pt x="650697" y="409938"/>
                </a:lnTo>
                <a:lnTo>
                  <a:pt x="0" y="40993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219785" y="9070932"/>
            <a:ext cx="4151107" cy="986035"/>
            <a:chOff x="0" y="0"/>
            <a:chExt cx="5534810" cy="131471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314713" cy="1314713"/>
            </a:xfrm>
            <a:custGeom>
              <a:avLst/>
              <a:gdLst/>
              <a:ahLst/>
              <a:cxnLst/>
              <a:rect r="r" b="b" t="t" l="l"/>
              <a:pathLst>
                <a:path h="1314713" w="1314713">
                  <a:moveTo>
                    <a:pt x="0" y="0"/>
                  </a:moveTo>
                  <a:lnTo>
                    <a:pt x="1314713" y="0"/>
                  </a:lnTo>
                  <a:lnTo>
                    <a:pt x="1314713" y="1314713"/>
                  </a:lnTo>
                  <a:lnTo>
                    <a:pt x="0" y="13147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 rot="0">
              <a:off x="1455753" y="151974"/>
              <a:ext cx="3148240" cy="46230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702"/>
                </a:lnSpc>
              </a:pPr>
              <a:r>
                <a:rPr lang="en-US" b="true" sz="2252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OCTUBRE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1468453" y="585710"/>
              <a:ext cx="4066356" cy="5651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30"/>
                </a:lnSpc>
              </a:pPr>
              <a:r>
                <a:rPr lang="en-US" sz="1097" b="true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Mes de </a:t>
              </a:r>
            </a:p>
            <a:p>
              <a:pPr algn="l">
                <a:lnSpc>
                  <a:spcPts val="2059"/>
                </a:lnSpc>
              </a:pPr>
              <a:r>
                <a:rPr lang="en-US" b="true" sz="1999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HAN SOLO</a:t>
              </a: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258571" y="221658"/>
            <a:ext cx="15091730" cy="563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60"/>
              </a:lnSpc>
            </a:pPr>
            <a:r>
              <a:rPr lang="en-US" sz="2000">
                <a:solidFill>
                  <a:srgbClr val="316CE3"/>
                </a:solidFill>
                <a:latin typeface="Gotham"/>
                <a:ea typeface="Gotham"/>
                <a:cs typeface="Gotham"/>
                <a:sym typeface="Gotham"/>
              </a:rPr>
              <a:t>HOY:</a:t>
            </a:r>
          </a:p>
          <a:p>
            <a:pPr algn="l">
              <a:lnSpc>
                <a:spcPts val="2528"/>
              </a:lnSpc>
            </a:pPr>
            <a:r>
              <a:rPr lang="en-US" sz="2873" b="true">
                <a:solidFill>
                  <a:srgbClr val="316CE3"/>
                </a:solidFill>
                <a:latin typeface="Gotham Bold"/>
                <a:ea typeface="Gotham Bold"/>
                <a:cs typeface="Gotham Bold"/>
                <a:sym typeface="Gotham Bold"/>
              </a:rPr>
              <a:t>Episodio II — El Ataque de los Graviton: Infraestructura y rendimiento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822960" y="3108960"/>
          <a:ext cx="9692640" cy="5669280"/>
        </p:xfrm>
        <a:graphic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10241280" y="329184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316CE3"/>
                </a:solidFill>
                <a:latin typeface="Arial"/>
              </a:rPr>
              <a:t>■ scan</a:t>
            </a:r>
            <a:r>
              <a:rPr sz="2000" b="0">
                <a:solidFill>
                  <a:srgbClr val="F2A65A"/>
                </a:solidFill>
                <a:latin typeface="Arial"/>
              </a:rPr>
              <a:t>     ■ cpu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0" y="3931920"/>
            <a:ext cx="5120640" cy="12801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148,3 → 96,7 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5303520"/>
            <a:ext cx="5120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D9E2EC"/>
                </a:solidFill>
                <a:latin typeface="Arial"/>
              </a:rPr>
              <a:t>tiempo total de las 20 consultas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0" y="6309360"/>
            <a:ext cx="5120640" cy="12801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1,65 → 0,58 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7680960"/>
            <a:ext cx="5120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D9E2EC"/>
                </a:solidFill>
                <a:latin typeface="Arial"/>
              </a:rPr>
              <a:t>mediana (p50) por consulta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2E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3520440" y="868680"/>
            <a:ext cx="12070080" cy="1874519"/>
          </a:xfrm>
          <a:prstGeom prst="rect">
            <a:avLst/>
          </a:prstGeom>
        </p:spPr>
        <p:txBody>
          <a:bodyPr anchor="ctr" rtlCol="false" tIns="0" lIns="0" bIns="0" rIns="0" wrap="square">
            <a:spAutoFit/>
          </a:bodyPr>
          <a:lstStyle/>
          <a:p>
            <a:pPr algn="l" marL="0" indent="0" lvl="0">
              <a:lnSpc>
                <a:spcPts val="10481"/>
              </a:lnSpc>
              <a:spcBef>
                <a:spcPct val="0"/>
              </a:spcBef>
            </a:pPr>
            <a:r>
              <a:rPr lang="en-US" b="true" sz="5400">
                <a:solidFill>
                  <a:srgbClr val="FFFFFF"/>
                </a:solidFill>
                <a:latin typeface="Raleway 1 Heavy"/>
                <a:ea typeface="Raleway 1 Heavy"/>
                <a:cs typeface="Raleway 1 Heavy"/>
                <a:sym typeface="Raleway 1 Heavy"/>
              </a:rPr>
              <a:t>Gana más el que escanea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536304" y="308054"/>
            <a:ext cx="650696" cy="409939"/>
          </a:xfrm>
          <a:custGeom>
            <a:avLst/>
            <a:gdLst/>
            <a:ahLst/>
            <a:cxnLst/>
            <a:rect r="r" b="b" t="t" l="l"/>
            <a:pathLst>
              <a:path h="409939" w="650696">
                <a:moveTo>
                  <a:pt x="0" y="0"/>
                </a:moveTo>
                <a:lnTo>
                  <a:pt x="650697" y="0"/>
                </a:lnTo>
                <a:lnTo>
                  <a:pt x="650697" y="409938"/>
                </a:lnTo>
                <a:lnTo>
                  <a:pt x="0" y="40993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219785" y="9070932"/>
            <a:ext cx="4151107" cy="986035"/>
            <a:chOff x="0" y="0"/>
            <a:chExt cx="5534810" cy="131471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314713" cy="1314713"/>
            </a:xfrm>
            <a:custGeom>
              <a:avLst/>
              <a:gdLst/>
              <a:ahLst/>
              <a:cxnLst/>
              <a:rect r="r" b="b" t="t" l="l"/>
              <a:pathLst>
                <a:path h="1314713" w="1314713">
                  <a:moveTo>
                    <a:pt x="0" y="0"/>
                  </a:moveTo>
                  <a:lnTo>
                    <a:pt x="1314713" y="0"/>
                  </a:lnTo>
                  <a:lnTo>
                    <a:pt x="1314713" y="1314713"/>
                  </a:lnTo>
                  <a:lnTo>
                    <a:pt x="0" y="13147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 rot="0">
              <a:off x="1455753" y="151974"/>
              <a:ext cx="3148240" cy="46230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702"/>
                </a:lnSpc>
              </a:pPr>
              <a:r>
                <a:rPr lang="en-US" b="true" sz="2252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OCTUBRE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1468453" y="585710"/>
              <a:ext cx="4066356" cy="5651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30"/>
                </a:lnSpc>
              </a:pPr>
              <a:r>
                <a:rPr lang="en-US" sz="1097" b="true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Mes de </a:t>
              </a:r>
            </a:p>
            <a:p>
              <a:pPr algn="l">
                <a:lnSpc>
                  <a:spcPts val="2059"/>
                </a:lnSpc>
              </a:pPr>
              <a:r>
                <a:rPr lang="en-US" b="true" sz="1999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HAN SOLO</a:t>
              </a: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258571" y="221658"/>
            <a:ext cx="15091730" cy="563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60"/>
              </a:lnSpc>
            </a:pPr>
            <a:r>
              <a:rPr lang="en-US" sz="2000">
                <a:solidFill>
                  <a:srgbClr val="316CE3"/>
                </a:solidFill>
                <a:latin typeface="Gotham"/>
                <a:ea typeface="Gotham"/>
                <a:cs typeface="Gotham"/>
                <a:sym typeface="Gotham"/>
              </a:rPr>
              <a:t>HOY:</a:t>
            </a:r>
          </a:p>
          <a:p>
            <a:pPr algn="l">
              <a:lnSpc>
                <a:spcPts val="2528"/>
              </a:lnSpc>
            </a:pPr>
            <a:r>
              <a:rPr lang="en-US" sz="2873" b="true">
                <a:solidFill>
                  <a:srgbClr val="316CE3"/>
                </a:solidFill>
                <a:latin typeface="Gotham Bold"/>
                <a:ea typeface="Gotham Bold"/>
                <a:cs typeface="Gotham Bold"/>
                <a:sym typeface="Gotham Bold"/>
              </a:rPr>
              <a:t>Episodio II — El Ataque de los Graviton: Infraestructura y rendimiento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520440"/>
            <a:ext cx="6949440" cy="12801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2000" b="1">
                <a:solidFill>
                  <a:srgbClr val="316CE3"/>
                </a:solidFill>
                <a:latin typeface="Arial"/>
              </a:rPr>
              <a:t>2,28x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92040"/>
            <a:ext cx="69494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D9E2EC"/>
                </a:solidFill>
                <a:latin typeface="Arial"/>
              </a:rPr>
              <a:t>consultas de scan y agregación (10 consultas)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3520440"/>
            <a:ext cx="6949440" cy="12801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2000" b="1">
                <a:solidFill>
                  <a:srgbClr val="F2A65A"/>
                </a:solidFill>
                <a:latin typeface="Arial"/>
              </a:rPr>
              <a:t>1,58x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4892040"/>
            <a:ext cx="69494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D9E2EC"/>
                </a:solidFill>
                <a:latin typeface="Arial"/>
              </a:rPr>
              <a:t>consultas de CPU: ventanas y joins grandes (10 consultas)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7315200"/>
            <a:ext cx="14264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0">
                <a:solidFill>
                  <a:srgbClr val="FFFFFF"/>
                </a:solidFill>
                <a:latin typeface="Arial"/>
              </a:rPr>
              <a:t>La promesa de AWS es hasta 2,2x: </a:t>
            </a:r>
            <a:r>
              <a:rPr sz="2600" b="1">
                <a:solidFill>
                  <a:srgbClr val="FFFFFF"/>
                </a:solidFill>
                <a:latin typeface="Arial"/>
              </a:rPr>
              <a:t>en scan la superamos; en CPU, no.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2E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3520440" y="868680"/>
            <a:ext cx="12070080" cy="1874519"/>
          </a:xfrm>
          <a:prstGeom prst="rect">
            <a:avLst/>
          </a:prstGeom>
        </p:spPr>
        <p:txBody>
          <a:bodyPr anchor="ctr" rtlCol="false" tIns="0" lIns="0" bIns="0" rIns="0" wrap="square">
            <a:spAutoFit/>
          </a:bodyPr>
          <a:lstStyle/>
          <a:p>
            <a:pPr algn="l" marL="0" indent="0" lvl="0">
              <a:lnSpc>
                <a:spcPts val="10481"/>
              </a:lnSpc>
              <a:spcBef>
                <a:spcPct val="0"/>
              </a:spcBef>
            </a:pPr>
            <a:r>
              <a:rPr lang="en-US" b="true" sz="4400">
                <a:solidFill>
                  <a:srgbClr val="FFFFFF"/>
                </a:solidFill>
                <a:latin typeface="Raleway 1 Heavy"/>
                <a:ea typeface="Raleway 1 Heavy"/>
                <a:cs typeface="Raleway 1 Heavy"/>
                <a:sym typeface="Raleway 1 Heavy"/>
              </a:rPr>
              <a:t>Concurrencia: 1,8x más consultas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536304" y="308054"/>
            <a:ext cx="650696" cy="409939"/>
          </a:xfrm>
          <a:custGeom>
            <a:avLst/>
            <a:gdLst/>
            <a:ahLst/>
            <a:cxnLst/>
            <a:rect r="r" b="b" t="t" l="l"/>
            <a:pathLst>
              <a:path h="409939" w="650696">
                <a:moveTo>
                  <a:pt x="0" y="0"/>
                </a:moveTo>
                <a:lnTo>
                  <a:pt x="650697" y="0"/>
                </a:lnTo>
                <a:lnTo>
                  <a:pt x="650697" y="409938"/>
                </a:lnTo>
                <a:lnTo>
                  <a:pt x="0" y="40993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219785" y="9070932"/>
            <a:ext cx="4151107" cy="986035"/>
            <a:chOff x="0" y="0"/>
            <a:chExt cx="5534810" cy="131471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314713" cy="1314713"/>
            </a:xfrm>
            <a:custGeom>
              <a:avLst/>
              <a:gdLst/>
              <a:ahLst/>
              <a:cxnLst/>
              <a:rect r="r" b="b" t="t" l="l"/>
              <a:pathLst>
                <a:path h="1314713" w="1314713">
                  <a:moveTo>
                    <a:pt x="0" y="0"/>
                  </a:moveTo>
                  <a:lnTo>
                    <a:pt x="1314713" y="0"/>
                  </a:lnTo>
                  <a:lnTo>
                    <a:pt x="1314713" y="1314713"/>
                  </a:lnTo>
                  <a:lnTo>
                    <a:pt x="0" y="13147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 rot="0">
              <a:off x="1455753" y="151974"/>
              <a:ext cx="3148240" cy="46230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702"/>
                </a:lnSpc>
              </a:pPr>
              <a:r>
                <a:rPr lang="en-US" b="true" sz="2252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OCTUBRE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1468453" y="585710"/>
              <a:ext cx="4066356" cy="5651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30"/>
                </a:lnSpc>
              </a:pPr>
              <a:r>
                <a:rPr lang="en-US" sz="1097" b="true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Mes de </a:t>
              </a:r>
            </a:p>
            <a:p>
              <a:pPr algn="l">
                <a:lnSpc>
                  <a:spcPts val="2059"/>
                </a:lnSpc>
              </a:pPr>
              <a:r>
                <a:rPr lang="en-US" b="true" sz="1999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HAN SOLO</a:t>
              </a: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258571" y="221658"/>
            <a:ext cx="15091730" cy="563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60"/>
              </a:lnSpc>
            </a:pPr>
            <a:r>
              <a:rPr lang="en-US" sz="2000">
                <a:solidFill>
                  <a:srgbClr val="316CE3"/>
                </a:solidFill>
                <a:latin typeface="Gotham"/>
                <a:ea typeface="Gotham"/>
                <a:cs typeface="Gotham"/>
                <a:sym typeface="Gotham"/>
              </a:rPr>
              <a:t>HOY:</a:t>
            </a:r>
          </a:p>
          <a:p>
            <a:pPr algn="l">
              <a:lnSpc>
                <a:spcPts val="2528"/>
              </a:lnSpc>
            </a:pPr>
            <a:r>
              <a:rPr lang="en-US" sz="2873" b="true">
                <a:solidFill>
                  <a:srgbClr val="316CE3"/>
                </a:solidFill>
                <a:latin typeface="Gotham Bold"/>
                <a:ea typeface="Gotham Bold"/>
                <a:cs typeface="Gotham Bold"/>
                <a:sym typeface="Gotham Bold"/>
              </a:rPr>
              <a:t>Episodio II — El Ataque de los Graviton: Infraestructura y rendimiento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914400" y="3017520"/>
          <a:ext cx="8229600" cy="5486400"/>
        </p:xfrm>
        <a:graphic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692640" y="3749039"/>
            <a:ext cx="566928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800"/>
              </a:spcAft>
            </a:pPr>
            <a:r>
              <a:rPr sz="2600" b="1">
                <a:solidFill>
                  <a:srgbClr val="D9E2EC"/>
                </a:solidFill>
                <a:latin typeface="Arial"/>
              </a:rPr>
              <a:t>Consultas por hora</a:t>
            </a:r>
          </a:p>
          <a:p>
            <a:pPr algn="l">
              <a:spcAft>
                <a:spcPts val="1800"/>
              </a:spcAft>
            </a:pPr>
            <a:r>
              <a:rPr sz="2600" b="0">
                <a:solidFill>
                  <a:srgbClr val="D9E2EC"/>
                </a:solidFill>
                <a:latin typeface="Arial"/>
              </a:rPr>
              <a:t>5 flujos durante 30 minutos</a:t>
            </a:r>
          </a:p>
          <a:p>
            <a:pPr algn="l">
              <a:spcAft>
                <a:spcPts val="1800"/>
              </a:spcAft>
            </a:pPr>
            <a:r>
              <a:rPr sz="2600" b="0">
                <a:solidFill>
                  <a:srgbClr val="D9E2EC"/>
                </a:solidFill>
                <a:latin typeface="Arial"/>
              </a:rPr>
              <a:t>Sin cola en ninguno</a:t>
            </a:r>
          </a:p>
          <a:p>
            <a:pPr algn="l">
              <a:spcAft>
                <a:spcPts val="1800"/>
              </a:spcAft>
            </a:pPr>
            <a:r>
              <a:rPr sz="2600" b="0">
                <a:solidFill>
                  <a:srgbClr val="D9E2EC"/>
                </a:solidFill>
                <a:latin typeface="Arial"/>
              </a:rPr>
              <a:t>Cero fallas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2E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3520440" y="868680"/>
            <a:ext cx="12070080" cy="1874519"/>
          </a:xfrm>
          <a:prstGeom prst="rect">
            <a:avLst/>
          </a:prstGeom>
        </p:spPr>
        <p:txBody>
          <a:bodyPr anchor="ctr" rtlCol="false" tIns="0" lIns="0" bIns="0" rIns="0" wrap="square">
            <a:spAutoFit/>
          </a:bodyPr>
          <a:lstStyle/>
          <a:p>
            <a:pPr algn="l" marL="0" indent="0" lvl="0">
              <a:lnSpc>
                <a:spcPts val="10481"/>
              </a:lnSpc>
              <a:spcBef>
                <a:spcPct val="0"/>
              </a:spcBef>
            </a:pPr>
            <a:r>
              <a:rPr lang="en-US" b="true" sz="5400">
                <a:solidFill>
                  <a:srgbClr val="FFFFFF"/>
                </a:solidFill>
                <a:latin typeface="Raleway 1 Heavy"/>
                <a:ea typeface="Raleway 1 Heavy"/>
                <a:cs typeface="Raleway 1 Heavy"/>
                <a:sym typeface="Raleway 1 Heavy"/>
              </a:rPr>
              <a:t>Cargar y transformar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536304" y="308054"/>
            <a:ext cx="650696" cy="409939"/>
          </a:xfrm>
          <a:custGeom>
            <a:avLst/>
            <a:gdLst/>
            <a:ahLst/>
            <a:cxnLst/>
            <a:rect r="r" b="b" t="t" l="l"/>
            <a:pathLst>
              <a:path h="409939" w="650696">
                <a:moveTo>
                  <a:pt x="0" y="0"/>
                </a:moveTo>
                <a:lnTo>
                  <a:pt x="650697" y="0"/>
                </a:lnTo>
                <a:lnTo>
                  <a:pt x="650697" y="409938"/>
                </a:lnTo>
                <a:lnTo>
                  <a:pt x="0" y="40993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219785" y="9070932"/>
            <a:ext cx="4151107" cy="986035"/>
            <a:chOff x="0" y="0"/>
            <a:chExt cx="5534810" cy="131471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314713" cy="1314713"/>
            </a:xfrm>
            <a:custGeom>
              <a:avLst/>
              <a:gdLst/>
              <a:ahLst/>
              <a:cxnLst/>
              <a:rect r="r" b="b" t="t" l="l"/>
              <a:pathLst>
                <a:path h="1314713" w="1314713">
                  <a:moveTo>
                    <a:pt x="0" y="0"/>
                  </a:moveTo>
                  <a:lnTo>
                    <a:pt x="1314713" y="0"/>
                  </a:lnTo>
                  <a:lnTo>
                    <a:pt x="1314713" y="1314713"/>
                  </a:lnTo>
                  <a:lnTo>
                    <a:pt x="0" y="13147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 rot="0">
              <a:off x="1455753" y="151974"/>
              <a:ext cx="3148240" cy="46230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702"/>
                </a:lnSpc>
              </a:pPr>
              <a:r>
                <a:rPr lang="en-US" b="true" sz="2252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OCTUBRE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1468453" y="585710"/>
              <a:ext cx="4066356" cy="5651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30"/>
                </a:lnSpc>
              </a:pPr>
              <a:r>
                <a:rPr lang="en-US" sz="1097" b="true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Mes de </a:t>
              </a:r>
            </a:p>
            <a:p>
              <a:pPr algn="l">
                <a:lnSpc>
                  <a:spcPts val="2059"/>
                </a:lnSpc>
              </a:pPr>
              <a:r>
                <a:rPr lang="en-US" b="true" sz="1999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HAN SOLO</a:t>
              </a: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258571" y="221658"/>
            <a:ext cx="15091730" cy="563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60"/>
              </a:lnSpc>
            </a:pPr>
            <a:r>
              <a:rPr lang="en-US" sz="2000">
                <a:solidFill>
                  <a:srgbClr val="316CE3"/>
                </a:solidFill>
                <a:latin typeface="Gotham"/>
                <a:ea typeface="Gotham"/>
                <a:cs typeface="Gotham"/>
                <a:sym typeface="Gotham"/>
              </a:rPr>
              <a:t>HOY:</a:t>
            </a:r>
          </a:p>
          <a:p>
            <a:pPr algn="l">
              <a:lnSpc>
                <a:spcPts val="2528"/>
              </a:lnSpc>
            </a:pPr>
            <a:r>
              <a:rPr lang="en-US" sz="2873" b="true">
                <a:solidFill>
                  <a:srgbClr val="316CE3"/>
                </a:solidFill>
                <a:latin typeface="Gotham Bold"/>
                <a:ea typeface="Gotham Bold"/>
                <a:cs typeface="Gotham Bold"/>
                <a:sym typeface="Gotham Bold"/>
              </a:rPr>
              <a:t>Episodio II — El Ataque de los Graviton: Infraestructura y rendimiento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91840"/>
            <a:ext cx="6035040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800"/>
              </a:spcAft>
            </a:pPr>
            <a:r>
              <a:rPr sz="2600" b="1">
                <a:solidFill>
                  <a:srgbClr val="D9E2EC"/>
                </a:solidFill>
                <a:latin typeface="Arial"/>
              </a:rPr>
              <a:t>100 GB en 20 min 44 s</a:t>
            </a:r>
          </a:p>
          <a:p>
            <a:pPr algn="l">
              <a:spcAft>
                <a:spcPts val="1800"/>
              </a:spcAft>
            </a:pPr>
            <a:r>
              <a:rPr sz="2600" b="0">
                <a:solidFill>
                  <a:srgbClr val="D9E2EC"/>
                </a:solidFill>
                <a:latin typeface="Arial"/>
              </a:rPr>
              <a:t>COPY desde S3 en 2 × ra3.xlplus (carga inicial, una vez)</a:t>
            </a:r>
          </a:p>
          <a:p>
            <a:pPr algn="l">
              <a:spcAft>
                <a:spcPts val="1800"/>
              </a:spcAft>
            </a:pPr>
            <a:r>
              <a:rPr sz="2600" b="0">
                <a:solidFill>
                  <a:srgbClr val="D9E2EC"/>
                </a:solidFill>
                <a:latin typeface="Arial"/>
              </a:rPr>
              <a:t>COPY store_returns: </a:t>
            </a:r>
            <a:r>
              <a:rPr sz="2600" b="1">
                <a:solidFill>
                  <a:srgbClr val="D9E2EC"/>
                </a:solidFill>
                <a:latin typeface="Arial"/>
              </a:rPr>
              <a:t>1,50x</a:t>
            </a:r>
          </a:p>
          <a:p>
            <a:pPr algn="l">
              <a:spcAft>
                <a:spcPts val="1800"/>
              </a:spcAft>
            </a:pPr>
            <a:r>
              <a:rPr sz="2600" b="0">
                <a:solidFill>
                  <a:srgbClr val="D9E2EC"/>
                </a:solidFill>
                <a:latin typeface="Arial"/>
              </a:rPr>
              <a:t>CTAS pesado: </a:t>
            </a:r>
            <a:r>
              <a:rPr sz="2600" b="1">
                <a:solidFill>
                  <a:srgbClr val="D9E2EC"/>
                </a:solidFill>
                <a:latin typeface="Arial"/>
              </a:rPr>
              <a:t>1,62x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7315200" y="3017520"/>
          <a:ext cx="8046720" cy="5486400"/>
        </p:xfrm>
        <a:graphic>
          <a:graphicData uri="http://schemas.openxmlformats.org/drawingml/2006/chart">
            <c:chart xmlns:c="http://schemas.openxmlformats.org/drawingml/2006/chart" r:id="rId7"/>
          </a:graphicData>
        </a:graphic>
      </p:graphicFrame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2E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3520440" y="868680"/>
            <a:ext cx="12070080" cy="1874519"/>
          </a:xfrm>
          <a:prstGeom prst="rect">
            <a:avLst/>
          </a:prstGeom>
        </p:spPr>
        <p:txBody>
          <a:bodyPr anchor="ctr" rtlCol="false" tIns="0" lIns="0" bIns="0" rIns="0" wrap="square">
            <a:spAutoFit/>
          </a:bodyPr>
          <a:lstStyle/>
          <a:p>
            <a:pPr algn="l" marL="0" indent="0" lvl="0">
              <a:lnSpc>
                <a:spcPts val="10481"/>
              </a:lnSpc>
              <a:spcBef>
                <a:spcPct val="0"/>
              </a:spcBef>
            </a:pPr>
            <a:r>
              <a:rPr lang="en-US" b="true" sz="5400">
                <a:solidFill>
                  <a:srgbClr val="FFFFFF"/>
                </a:solidFill>
                <a:latin typeface="Raleway 1 Heavy"/>
                <a:ea typeface="Raleway 1 Heavy"/>
                <a:cs typeface="Raleway 1 Heavy"/>
                <a:sym typeface="Raleway 1 Heavy"/>
              </a:rPr>
              <a:t>Más rápido y más barato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536304" y="308054"/>
            <a:ext cx="650696" cy="409939"/>
          </a:xfrm>
          <a:custGeom>
            <a:avLst/>
            <a:gdLst/>
            <a:ahLst/>
            <a:cxnLst/>
            <a:rect r="r" b="b" t="t" l="l"/>
            <a:pathLst>
              <a:path h="409939" w="650696">
                <a:moveTo>
                  <a:pt x="0" y="0"/>
                </a:moveTo>
                <a:lnTo>
                  <a:pt x="650697" y="0"/>
                </a:lnTo>
                <a:lnTo>
                  <a:pt x="650697" y="409938"/>
                </a:lnTo>
                <a:lnTo>
                  <a:pt x="0" y="40993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219785" y="9070932"/>
            <a:ext cx="4151107" cy="986035"/>
            <a:chOff x="0" y="0"/>
            <a:chExt cx="5534810" cy="131471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314713" cy="1314713"/>
            </a:xfrm>
            <a:custGeom>
              <a:avLst/>
              <a:gdLst/>
              <a:ahLst/>
              <a:cxnLst/>
              <a:rect r="r" b="b" t="t" l="l"/>
              <a:pathLst>
                <a:path h="1314713" w="1314713">
                  <a:moveTo>
                    <a:pt x="0" y="0"/>
                  </a:moveTo>
                  <a:lnTo>
                    <a:pt x="1314713" y="0"/>
                  </a:lnTo>
                  <a:lnTo>
                    <a:pt x="1314713" y="1314713"/>
                  </a:lnTo>
                  <a:lnTo>
                    <a:pt x="0" y="13147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 rot="0">
              <a:off x="1455753" y="151974"/>
              <a:ext cx="3148240" cy="46230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702"/>
                </a:lnSpc>
              </a:pPr>
              <a:r>
                <a:rPr lang="en-US" b="true" sz="2252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OCTUBRE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1468453" y="585710"/>
              <a:ext cx="4066356" cy="5651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30"/>
                </a:lnSpc>
              </a:pPr>
              <a:r>
                <a:rPr lang="en-US" sz="1097" b="true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Mes de </a:t>
              </a:r>
            </a:p>
            <a:p>
              <a:pPr algn="l">
                <a:lnSpc>
                  <a:spcPts val="2059"/>
                </a:lnSpc>
              </a:pPr>
              <a:r>
                <a:rPr lang="en-US" b="true" sz="1999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HAN SOLO</a:t>
              </a: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258571" y="221658"/>
            <a:ext cx="15091730" cy="563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60"/>
              </a:lnSpc>
            </a:pPr>
            <a:r>
              <a:rPr lang="en-US" sz="2000">
                <a:solidFill>
                  <a:srgbClr val="316CE3"/>
                </a:solidFill>
                <a:latin typeface="Gotham"/>
                <a:ea typeface="Gotham"/>
                <a:cs typeface="Gotham"/>
                <a:sym typeface="Gotham"/>
              </a:rPr>
              <a:t>HOY:</a:t>
            </a:r>
          </a:p>
          <a:p>
            <a:pPr algn="l">
              <a:lnSpc>
                <a:spcPts val="2528"/>
              </a:lnSpc>
            </a:pPr>
            <a:r>
              <a:rPr lang="en-US" sz="2873" b="true">
                <a:solidFill>
                  <a:srgbClr val="316CE3"/>
                </a:solidFill>
                <a:latin typeface="Gotham Bold"/>
                <a:ea typeface="Gotham Bold"/>
                <a:cs typeface="Gotham Bold"/>
                <a:sym typeface="Gotham Bold"/>
              </a:rPr>
              <a:t>Episodio II — El Ataque de los Graviton: Infraestructura y rendimiento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383280"/>
            <a:ext cx="8229600" cy="12801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5400" b="1">
                <a:solidFill>
                  <a:srgbClr val="FFFFFF"/>
                </a:solidFill>
                <a:latin typeface="Arial"/>
              </a:rPr>
              <a:t>USD 0,089 → 0,041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754880"/>
            <a:ext cx="8229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D9E2EC"/>
                </a:solidFill>
                <a:latin typeface="Arial"/>
              </a:rPr>
              <a:t>por corrida del escenario de potencia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0" y="3383280"/>
            <a:ext cx="5852160" cy="12801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1000" b="1">
                <a:solidFill>
                  <a:srgbClr val="316CE3"/>
                </a:solidFill>
                <a:latin typeface="Arial"/>
              </a:rPr>
              <a:t>2,2x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4754880"/>
            <a:ext cx="5852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D9E2EC"/>
                </a:solidFill>
                <a:latin typeface="Arial"/>
              </a:rPr>
              <a:t>menos costo por la misma carga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7223760"/>
            <a:ext cx="14264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0">
                <a:solidFill>
                  <a:srgbClr val="FFFFFF"/>
                </a:solidFill>
                <a:latin typeface="Arial"/>
              </a:rPr>
              <a:t>Se suman dos efectos: </a:t>
            </a:r>
            <a:r>
              <a:rPr sz="2600" b="1">
                <a:solidFill>
                  <a:srgbClr val="FFFFFF"/>
                </a:solidFill>
                <a:latin typeface="Arial"/>
              </a:rPr>
              <a:t>el nodo cuesta 30 % menos por hora y termina antes.</a:t>
            </a: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2E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3444099" y="3763913"/>
            <a:ext cx="13438018" cy="2238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399"/>
              </a:lnSpc>
            </a:pPr>
            <a:r>
              <a:rPr lang="en-US" b="true" sz="9999">
                <a:solidFill>
                  <a:srgbClr val="FFFFFF"/>
                </a:solidFill>
                <a:latin typeface="Raleway 1 Heavy"/>
                <a:ea typeface="Raleway 1 Heavy"/>
                <a:cs typeface="Raleway 1 Heavy"/>
                <a:sym typeface="Raleway 1 Heavy"/>
              </a:rPr>
              <a:t>DATA</a:t>
            </a:r>
          </a:p>
          <a:p>
            <a:pPr algn="l" marL="0" indent="0" lvl="0">
              <a:lnSpc>
                <a:spcPts val="8399"/>
              </a:lnSpc>
            </a:pPr>
            <a:r>
              <a:rPr lang="en-US" b="true" sz="9999">
                <a:solidFill>
                  <a:srgbClr val="FFFFFF"/>
                </a:solidFill>
                <a:latin typeface="Raleway 1 Heavy"/>
                <a:ea typeface="Raleway 1 Heavy"/>
                <a:cs typeface="Raleway 1 Heavy"/>
                <a:sym typeface="Raleway 1 Heavy"/>
              </a:rPr>
              <a:t>        LAKE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536304" y="308054"/>
            <a:ext cx="650696" cy="409939"/>
          </a:xfrm>
          <a:custGeom>
            <a:avLst/>
            <a:gdLst/>
            <a:ahLst/>
            <a:cxnLst/>
            <a:rect r="r" b="b" t="t" l="l"/>
            <a:pathLst>
              <a:path h="409939" w="650696">
                <a:moveTo>
                  <a:pt x="0" y="0"/>
                </a:moveTo>
                <a:lnTo>
                  <a:pt x="650697" y="0"/>
                </a:lnTo>
                <a:lnTo>
                  <a:pt x="650697" y="409938"/>
                </a:lnTo>
                <a:lnTo>
                  <a:pt x="0" y="40993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219785" y="9070932"/>
            <a:ext cx="4151107" cy="986035"/>
            <a:chOff x="0" y="0"/>
            <a:chExt cx="5534810" cy="131471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314713" cy="1314713"/>
            </a:xfrm>
            <a:custGeom>
              <a:avLst/>
              <a:gdLst/>
              <a:ahLst/>
              <a:cxnLst/>
              <a:rect r="r" b="b" t="t" l="l"/>
              <a:pathLst>
                <a:path h="1314713" w="1314713">
                  <a:moveTo>
                    <a:pt x="0" y="0"/>
                  </a:moveTo>
                  <a:lnTo>
                    <a:pt x="1314713" y="0"/>
                  </a:lnTo>
                  <a:lnTo>
                    <a:pt x="1314713" y="1314713"/>
                  </a:lnTo>
                  <a:lnTo>
                    <a:pt x="0" y="13147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 rot="0">
              <a:off x="1455753" y="151974"/>
              <a:ext cx="3148240" cy="46230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702"/>
                </a:lnSpc>
              </a:pPr>
              <a:r>
                <a:rPr lang="en-US" b="true" sz="2252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OCTUBRE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1468453" y="585710"/>
              <a:ext cx="4066356" cy="5651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30"/>
                </a:lnSpc>
              </a:pPr>
              <a:r>
                <a:rPr lang="en-US" sz="1097" b="true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Mes de </a:t>
              </a:r>
            </a:p>
            <a:p>
              <a:pPr algn="l">
                <a:lnSpc>
                  <a:spcPts val="2059"/>
                </a:lnSpc>
              </a:pPr>
              <a:r>
                <a:rPr lang="en-US" b="true" sz="1999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HAN SOLO</a:t>
              </a: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258571" y="221658"/>
            <a:ext cx="15091730" cy="563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60"/>
              </a:lnSpc>
            </a:pPr>
            <a:r>
              <a:rPr lang="en-US" sz="2000">
                <a:solidFill>
                  <a:srgbClr val="316CE3"/>
                </a:solidFill>
                <a:latin typeface="Gotham"/>
                <a:ea typeface="Gotham"/>
                <a:cs typeface="Gotham"/>
                <a:sym typeface="Gotham"/>
              </a:rPr>
              <a:t>HOY:</a:t>
            </a:r>
          </a:p>
          <a:p>
            <a:pPr algn="l">
              <a:lnSpc>
                <a:spcPts val="2528"/>
              </a:lnSpc>
            </a:pPr>
            <a:r>
              <a:rPr lang="en-US" sz="2873" b="true">
                <a:solidFill>
                  <a:srgbClr val="316CE3"/>
                </a:solidFill>
                <a:latin typeface="Gotham Bold"/>
                <a:ea typeface="Gotham Bold"/>
                <a:cs typeface="Gotham Bold"/>
                <a:sym typeface="Gotham Bold"/>
              </a:rPr>
              <a:t>Episodio II — El Ataque de los Graviton: Infraestructura y rendimiento</a:t>
            </a:r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2E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3520440" y="868680"/>
            <a:ext cx="12070080" cy="1874519"/>
          </a:xfrm>
          <a:prstGeom prst="rect">
            <a:avLst/>
          </a:prstGeom>
        </p:spPr>
        <p:txBody>
          <a:bodyPr anchor="ctr" rtlCol="false" tIns="0" lIns="0" bIns="0" rIns="0" wrap="square">
            <a:spAutoFit/>
          </a:bodyPr>
          <a:lstStyle/>
          <a:p>
            <a:pPr algn="l" marL="0" indent="0" lvl="0">
              <a:lnSpc>
                <a:spcPts val="10481"/>
              </a:lnSpc>
              <a:spcBef>
                <a:spcPct val="0"/>
              </a:spcBef>
            </a:pPr>
            <a:r>
              <a:rPr lang="en-US" b="true" sz="5400">
                <a:solidFill>
                  <a:srgbClr val="FFFFFF"/>
                </a:solidFill>
                <a:latin typeface="Raleway 1 Heavy"/>
                <a:ea typeface="Raleway 1 Heavy"/>
                <a:cs typeface="Raleway 1 Heavy"/>
                <a:sym typeface="Raleway 1 Heavy"/>
              </a:rPr>
              <a:t>El mismo dato, tres formas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536304" y="308054"/>
            <a:ext cx="650696" cy="409939"/>
          </a:xfrm>
          <a:custGeom>
            <a:avLst/>
            <a:gdLst/>
            <a:ahLst/>
            <a:cxnLst/>
            <a:rect r="r" b="b" t="t" l="l"/>
            <a:pathLst>
              <a:path h="409939" w="650696">
                <a:moveTo>
                  <a:pt x="0" y="0"/>
                </a:moveTo>
                <a:lnTo>
                  <a:pt x="650697" y="0"/>
                </a:lnTo>
                <a:lnTo>
                  <a:pt x="650697" y="409938"/>
                </a:lnTo>
                <a:lnTo>
                  <a:pt x="0" y="40993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219785" y="9070932"/>
            <a:ext cx="4151107" cy="986035"/>
            <a:chOff x="0" y="0"/>
            <a:chExt cx="5534810" cy="131471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314713" cy="1314713"/>
            </a:xfrm>
            <a:custGeom>
              <a:avLst/>
              <a:gdLst/>
              <a:ahLst/>
              <a:cxnLst/>
              <a:rect r="r" b="b" t="t" l="l"/>
              <a:pathLst>
                <a:path h="1314713" w="1314713">
                  <a:moveTo>
                    <a:pt x="0" y="0"/>
                  </a:moveTo>
                  <a:lnTo>
                    <a:pt x="1314713" y="0"/>
                  </a:lnTo>
                  <a:lnTo>
                    <a:pt x="1314713" y="1314713"/>
                  </a:lnTo>
                  <a:lnTo>
                    <a:pt x="0" y="13147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 rot="0">
              <a:off x="1455753" y="151974"/>
              <a:ext cx="3148240" cy="46230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702"/>
                </a:lnSpc>
              </a:pPr>
              <a:r>
                <a:rPr lang="en-US" b="true" sz="2252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OCTUBRE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1468453" y="585710"/>
              <a:ext cx="4066356" cy="5651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30"/>
                </a:lnSpc>
              </a:pPr>
              <a:r>
                <a:rPr lang="en-US" sz="1097" b="true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Mes de </a:t>
              </a:r>
            </a:p>
            <a:p>
              <a:pPr algn="l">
                <a:lnSpc>
                  <a:spcPts val="2059"/>
                </a:lnSpc>
              </a:pPr>
              <a:r>
                <a:rPr lang="en-US" b="true" sz="1999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HAN SOLO</a:t>
              </a: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258571" y="221658"/>
            <a:ext cx="15091730" cy="563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60"/>
              </a:lnSpc>
            </a:pPr>
            <a:r>
              <a:rPr lang="en-US" sz="2000">
                <a:solidFill>
                  <a:srgbClr val="316CE3"/>
                </a:solidFill>
                <a:latin typeface="Gotham"/>
                <a:ea typeface="Gotham"/>
                <a:cs typeface="Gotham"/>
                <a:sym typeface="Gotham"/>
              </a:rPr>
              <a:t>HOY:</a:t>
            </a:r>
          </a:p>
          <a:p>
            <a:pPr algn="l">
              <a:lnSpc>
                <a:spcPts val="2528"/>
              </a:lnSpc>
            </a:pPr>
            <a:r>
              <a:rPr lang="en-US" sz="2873" b="true">
                <a:solidFill>
                  <a:srgbClr val="316CE3"/>
                </a:solidFill>
                <a:latin typeface="Gotham Bold"/>
                <a:ea typeface="Gotham Bold"/>
                <a:cs typeface="Gotham Bold"/>
                <a:sym typeface="Gotham Bold"/>
              </a:rPr>
              <a:t>Episodio II — El Ataque de los Graviton: Infraestructura y rendimiento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3200400"/>
            <a:ext cx="4480560" cy="2651760"/>
          </a:xfrm>
          <a:prstGeom prst="roundRect">
            <a:avLst>
              <a:gd name="adj" fmla="val 8000"/>
            </a:avLst>
          </a:prstGeom>
          <a:solidFill>
            <a:srgbClr val="2F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228600" bIns="228600"/>
          <a:lstStyle/>
          <a:p>
            <a:pPr algn="ctr">
              <a:spcAft>
                <a:spcPts val="800"/>
              </a:spcAft>
            </a:pPr>
            <a:r>
              <a:rPr sz="3600" b="1">
                <a:solidFill>
                  <a:srgbClr val="316CE3"/>
                </a:solidFill>
                <a:latin typeface="Arial"/>
              </a:rPr>
              <a:t>Local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D9E2EC"/>
                </a:solidFill>
                <a:latin typeface="Arial"/>
              </a:rPr>
              <a:t>Tablas cargadas en el warehouse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0" y="3200400"/>
            <a:ext cx="4480560" cy="2651760"/>
          </a:xfrm>
          <a:prstGeom prst="roundRect">
            <a:avLst>
              <a:gd name="adj" fmla="val 8000"/>
            </a:avLst>
          </a:prstGeom>
          <a:solidFill>
            <a:srgbClr val="2F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228600" bIns="228600"/>
          <a:lstStyle/>
          <a:p>
            <a:pPr algn="ctr">
              <a:spcAft>
                <a:spcPts val="800"/>
              </a:spcAft>
            </a:pPr>
            <a:r>
              <a:rPr sz="3600" b="1">
                <a:solidFill>
                  <a:srgbClr val="316CE3"/>
                </a:solidFill>
                <a:latin typeface="Arial"/>
              </a:rPr>
              <a:t>Iceberg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D9E2EC"/>
                </a:solidFill>
                <a:latin typeface="Arial"/>
              </a:rPr>
              <a:t>Tablas en S3 registradas en Glue (ice.*)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424160" y="3200400"/>
            <a:ext cx="4480560" cy="2651760"/>
          </a:xfrm>
          <a:prstGeom prst="roundRect">
            <a:avLst>
              <a:gd name="adj" fmla="val 8000"/>
            </a:avLst>
          </a:prstGeom>
          <a:solidFill>
            <a:srgbClr val="2F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228600" bIns="228600"/>
          <a:lstStyle/>
          <a:p>
            <a:pPr algn="ctr">
              <a:spcAft>
                <a:spcPts val="800"/>
              </a:spcAft>
            </a:pPr>
            <a:r>
              <a:rPr sz="3600" b="1">
                <a:solidFill>
                  <a:srgbClr val="316CE3"/>
                </a:solidFill>
                <a:latin typeface="Arial"/>
              </a:rPr>
              <a:t>Parquet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D9E2EC"/>
                </a:solidFill>
                <a:latin typeface="Arial"/>
              </a:rPr>
              <a:t>Tablas externas en S3 registradas en Glue (pq.*)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6309360"/>
            <a:ext cx="142646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2500" b="0">
                <a:solidFill>
                  <a:srgbClr val="D9E2EC"/>
                </a:solidFill>
                <a:latin typeface="Arial"/>
              </a:rPr>
              <a:t>Mismas 6 consultas en las tres, con las </a:t>
            </a:r>
            <a:r>
              <a:rPr sz="2500" b="1">
                <a:solidFill>
                  <a:srgbClr val="D9E2EC"/>
                </a:solidFill>
                <a:latin typeface="Arial"/>
              </a:rPr>
              <a:t>mismas 483 filas de resultado</a:t>
            </a:r>
            <a:r>
              <a:rPr sz="2500" b="0">
                <a:solidFill>
                  <a:srgbClr val="D9E2EC"/>
                </a:solidFill>
                <a:latin typeface="Arial"/>
              </a:rPr>
              <a:t>.</a:t>
            </a:r>
          </a:p>
          <a:p>
            <a:pPr algn="l">
              <a:spcAft>
                <a:spcPts val="1400"/>
              </a:spcAft>
            </a:pPr>
            <a:r>
              <a:rPr sz="2500" b="0">
                <a:solidFill>
                  <a:srgbClr val="D9E2EC"/>
                </a:solidFill>
                <a:latin typeface="Arial"/>
              </a:rPr>
              <a:t>RA3 lee S3 con </a:t>
            </a:r>
            <a:r>
              <a:rPr sz="2500" b="1">
                <a:solidFill>
                  <a:srgbClr val="D9E2EC"/>
                </a:solidFill>
                <a:latin typeface="Arial"/>
              </a:rPr>
              <a:t>Spectrum</a:t>
            </a:r>
            <a:r>
              <a:rPr sz="2500" b="0">
                <a:solidFill>
                  <a:srgbClr val="D9E2EC"/>
                </a:solidFill>
                <a:latin typeface="Arial"/>
              </a:rPr>
              <a:t> (fuera de tu VPC); RG, con su </a:t>
            </a:r>
            <a:r>
              <a:rPr sz="2500" b="1">
                <a:solidFill>
                  <a:srgbClr val="D9E2EC"/>
                </a:solidFill>
                <a:latin typeface="Arial"/>
              </a:rPr>
              <a:t>motor integrado</a:t>
            </a:r>
            <a:r>
              <a:rPr sz="2500" b="0">
                <a:solidFill>
                  <a:srgbClr val="D9E2EC"/>
                </a:solidFill>
                <a:latin typeface="Arial"/>
              </a:rPr>
              <a:t> (dentro de tu VPC).</a:t>
            </a:r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2E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3520440" y="868680"/>
            <a:ext cx="12070080" cy="1874519"/>
          </a:xfrm>
          <a:prstGeom prst="rect">
            <a:avLst/>
          </a:prstGeom>
        </p:spPr>
        <p:txBody>
          <a:bodyPr anchor="ctr" rtlCol="false" tIns="0" lIns="0" bIns="0" rIns="0" wrap="square">
            <a:spAutoFit/>
          </a:bodyPr>
          <a:lstStyle/>
          <a:p>
            <a:pPr algn="l" marL="0" indent="0" lvl="0">
              <a:lnSpc>
                <a:spcPts val="10481"/>
              </a:lnSpc>
              <a:spcBef>
                <a:spcPct val="0"/>
              </a:spcBef>
            </a:pPr>
            <a:r>
              <a:rPr lang="en-US" b="true" sz="4400">
                <a:solidFill>
                  <a:srgbClr val="FFFFFF"/>
                </a:solidFill>
                <a:latin typeface="Raleway 1 Heavy"/>
                <a:ea typeface="Raleway 1 Heavy"/>
                <a:cs typeface="Raleway 1 Heavy"/>
                <a:sym typeface="Raleway 1 Heavy"/>
              </a:rPr>
              <a:t>Iceberg: 1,87x con caché caliente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536304" y="308054"/>
            <a:ext cx="650696" cy="409939"/>
          </a:xfrm>
          <a:custGeom>
            <a:avLst/>
            <a:gdLst/>
            <a:ahLst/>
            <a:cxnLst/>
            <a:rect r="r" b="b" t="t" l="l"/>
            <a:pathLst>
              <a:path h="409939" w="650696">
                <a:moveTo>
                  <a:pt x="0" y="0"/>
                </a:moveTo>
                <a:lnTo>
                  <a:pt x="650697" y="0"/>
                </a:lnTo>
                <a:lnTo>
                  <a:pt x="650697" y="409938"/>
                </a:lnTo>
                <a:lnTo>
                  <a:pt x="0" y="40993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219785" y="9070932"/>
            <a:ext cx="4151107" cy="986035"/>
            <a:chOff x="0" y="0"/>
            <a:chExt cx="5534810" cy="131471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314713" cy="1314713"/>
            </a:xfrm>
            <a:custGeom>
              <a:avLst/>
              <a:gdLst/>
              <a:ahLst/>
              <a:cxnLst/>
              <a:rect r="r" b="b" t="t" l="l"/>
              <a:pathLst>
                <a:path h="1314713" w="1314713">
                  <a:moveTo>
                    <a:pt x="0" y="0"/>
                  </a:moveTo>
                  <a:lnTo>
                    <a:pt x="1314713" y="0"/>
                  </a:lnTo>
                  <a:lnTo>
                    <a:pt x="1314713" y="1314713"/>
                  </a:lnTo>
                  <a:lnTo>
                    <a:pt x="0" y="13147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 rot="0">
              <a:off x="1455753" y="151974"/>
              <a:ext cx="3148240" cy="46230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702"/>
                </a:lnSpc>
              </a:pPr>
              <a:r>
                <a:rPr lang="en-US" b="true" sz="2252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OCTUBRE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1468453" y="585710"/>
              <a:ext cx="4066356" cy="5651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30"/>
                </a:lnSpc>
              </a:pPr>
              <a:r>
                <a:rPr lang="en-US" sz="1097" b="true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Mes de </a:t>
              </a:r>
            </a:p>
            <a:p>
              <a:pPr algn="l">
                <a:lnSpc>
                  <a:spcPts val="2059"/>
                </a:lnSpc>
              </a:pPr>
              <a:r>
                <a:rPr lang="en-US" b="true" sz="1999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HAN SOLO</a:t>
              </a: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258571" y="221658"/>
            <a:ext cx="15091730" cy="563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60"/>
              </a:lnSpc>
            </a:pPr>
            <a:r>
              <a:rPr lang="en-US" sz="2000">
                <a:solidFill>
                  <a:srgbClr val="316CE3"/>
                </a:solidFill>
                <a:latin typeface="Gotham"/>
                <a:ea typeface="Gotham"/>
                <a:cs typeface="Gotham"/>
                <a:sym typeface="Gotham"/>
              </a:rPr>
              <a:t>HOY:</a:t>
            </a:r>
          </a:p>
          <a:p>
            <a:pPr algn="l">
              <a:lnSpc>
                <a:spcPts val="2528"/>
              </a:lnSpc>
            </a:pPr>
            <a:r>
              <a:rPr lang="en-US" sz="2873" b="true">
                <a:solidFill>
                  <a:srgbClr val="316CE3"/>
                </a:solidFill>
                <a:latin typeface="Gotham Bold"/>
                <a:ea typeface="Gotham Bold"/>
                <a:cs typeface="Gotham Bold"/>
                <a:sym typeface="Gotham Bold"/>
              </a:rPr>
              <a:t>Episodio II — El Ataque de los Graviton: Infraestructura y rendimiento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822960" y="3017520"/>
          <a:ext cx="8778240" cy="5577840"/>
        </p:xfrm>
        <a:graphic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10058400" y="3383280"/>
            <a:ext cx="5303520" cy="12801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29,4 → 14,6 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4754880"/>
            <a:ext cx="5303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D9E2EC"/>
                </a:solidFill>
                <a:latin typeface="Arial"/>
              </a:rPr>
              <a:t>total de las 6 consultas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5943600"/>
            <a:ext cx="530352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>
                <a:solidFill>
                  <a:srgbClr val="F2A65A"/>
                </a:solidFill>
                <a:latin typeface="Arial"/>
              </a:rPr>
              <a:t>Letra chica:</a:t>
            </a:r>
            <a:r>
              <a:rPr sz="2200" b="0">
                <a:solidFill>
                  <a:srgbClr val="F2A65A"/>
                </a:solidFill>
                <a:latin typeface="Arial"/>
              </a:rPr>
              <a:t> la primera lectura en RG tardó hasta 27 s; después, unos 2 s. RG cachea el lago.</a:t>
            </a:r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2E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3520440" y="868680"/>
            <a:ext cx="12070080" cy="1874519"/>
          </a:xfrm>
          <a:prstGeom prst="rect">
            <a:avLst/>
          </a:prstGeom>
        </p:spPr>
        <p:txBody>
          <a:bodyPr anchor="ctr" rtlCol="false" tIns="0" lIns="0" bIns="0" rIns="0" wrap="square">
            <a:spAutoFit/>
          </a:bodyPr>
          <a:lstStyle/>
          <a:p>
            <a:pPr algn="l" marL="0" indent="0" lvl="0">
              <a:lnSpc>
                <a:spcPts val="10481"/>
              </a:lnSpc>
              <a:spcBef>
                <a:spcPct val="0"/>
              </a:spcBef>
            </a:pPr>
            <a:r>
              <a:rPr lang="en-US" b="true" sz="5400">
                <a:solidFill>
                  <a:srgbClr val="FFFFFF"/>
                </a:solidFill>
                <a:latin typeface="Raleway 1 Heavy"/>
                <a:ea typeface="Raleway 1 Heavy"/>
                <a:cs typeface="Raleway 1 Heavy"/>
                <a:sym typeface="Raleway 1 Heavy"/>
              </a:rPr>
              <a:t>Parquet: mandan los archivos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536304" y="308054"/>
            <a:ext cx="650696" cy="409939"/>
          </a:xfrm>
          <a:custGeom>
            <a:avLst/>
            <a:gdLst/>
            <a:ahLst/>
            <a:cxnLst/>
            <a:rect r="r" b="b" t="t" l="l"/>
            <a:pathLst>
              <a:path h="409939" w="650696">
                <a:moveTo>
                  <a:pt x="0" y="0"/>
                </a:moveTo>
                <a:lnTo>
                  <a:pt x="650697" y="0"/>
                </a:lnTo>
                <a:lnTo>
                  <a:pt x="650697" y="409938"/>
                </a:lnTo>
                <a:lnTo>
                  <a:pt x="0" y="40993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219785" y="9070932"/>
            <a:ext cx="4151107" cy="986035"/>
            <a:chOff x="0" y="0"/>
            <a:chExt cx="5534810" cy="131471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314713" cy="1314713"/>
            </a:xfrm>
            <a:custGeom>
              <a:avLst/>
              <a:gdLst/>
              <a:ahLst/>
              <a:cxnLst/>
              <a:rect r="r" b="b" t="t" l="l"/>
              <a:pathLst>
                <a:path h="1314713" w="1314713">
                  <a:moveTo>
                    <a:pt x="0" y="0"/>
                  </a:moveTo>
                  <a:lnTo>
                    <a:pt x="1314713" y="0"/>
                  </a:lnTo>
                  <a:lnTo>
                    <a:pt x="1314713" y="1314713"/>
                  </a:lnTo>
                  <a:lnTo>
                    <a:pt x="0" y="13147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 rot="0">
              <a:off x="1455753" y="151974"/>
              <a:ext cx="3148240" cy="46230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702"/>
                </a:lnSpc>
              </a:pPr>
              <a:r>
                <a:rPr lang="en-US" b="true" sz="2252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OCTUBRE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1468453" y="585710"/>
              <a:ext cx="4066356" cy="5651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30"/>
                </a:lnSpc>
              </a:pPr>
              <a:r>
                <a:rPr lang="en-US" sz="1097" b="true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Mes de </a:t>
              </a:r>
            </a:p>
            <a:p>
              <a:pPr algn="l">
                <a:lnSpc>
                  <a:spcPts val="2059"/>
                </a:lnSpc>
              </a:pPr>
              <a:r>
                <a:rPr lang="en-US" b="true" sz="1999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HAN SOLO</a:t>
              </a: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258571" y="221658"/>
            <a:ext cx="15091730" cy="563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60"/>
              </a:lnSpc>
            </a:pPr>
            <a:r>
              <a:rPr lang="en-US" sz="2000">
                <a:solidFill>
                  <a:srgbClr val="316CE3"/>
                </a:solidFill>
                <a:latin typeface="Gotham"/>
                <a:ea typeface="Gotham"/>
                <a:cs typeface="Gotham"/>
                <a:sym typeface="Gotham"/>
              </a:rPr>
              <a:t>HOY:</a:t>
            </a:r>
          </a:p>
          <a:p>
            <a:pPr algn="l">
              <a:lnSpc>
                <a:spcPts val="2528"/>
              </a:lnSpc>
            </a:pPr>
            <a:r>
              <a:rPr lang="en-US" sz="2873" b="true">
                <a:solidFill>
                  <a:srgbClr val="316CE3"/>
                </a:solidFill>
                <a:latin typeface="Gotham Bold"/>
                <a:ea typeface="Gotham Bold"/>
                <a:cs typeface="Gotham Bold"/>
                <a:sym typeface="Gotham Bold"/>
              </a:rPr>
              <a:t>Episodio II — El Ataque de los Graviton: Infraestructura y rendimiento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914400" y="3200400"/>
          <a:ext cx="13898880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9120"/>
                <a:gridCol w="2377440"/>
                <a:gridCol w="2377440"/>
                <a:gridCol w="4754880"/>
              </a:tblGrid>
              <a:tr h="86868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Arial"/>
                        </a:rPr>
                        <a:t>Parquet store_sales</a:t>
                      </a:r>
                    </a:p>
                  </a:txBody>
                  <a:tcPr anchor="ctr" marL="109728" marR="109728">
                    <a:solidFill>
                      <a:srgbClr val="316C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Arial"/>
                        </a:rPr>
                        <a:t>RA3 (total)</a:t>
                      </a:r>
                    </a:p>
                  </a:txBody>
                  <a:tcPr anchor="ctr" marL="109728" marR="109728">
                    <a:solidFill>
                      <a:srgbClr val="316C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Arial"/>
                        </a:rPr>
                        <a:t>RG (total)</a:t>
                      </a:r>
                    </a:p>
                  </a:txBody>
                  <a:tcPr anchor="ctr" marL="109728" marR="109728">
                    <a:solidFill>
                      <a:srgbClr val="316C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Arial"/>
                        </a:rPr>
                        <a:t>RG frente a RA3 (media geom.)</a:t>
                      </a:r>
                    </a:p>
                  </a:txBody>
                  <a:tcPr anchor="ctr" marL="109728" marR="109728">
                    <a:solidFill>
                      <a:srgbClr val="316CE3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FFFFFF"/>
                          </a:solidFill>
                          <a:latin typeface="Arial"/>
                        </a:rPr>
                        <a:t>4 archivos de ≈3,8 GB</a:t>
                      </a:r>
                    </a:p>
                  </a:txBody>
                  <a:tcPr anchor="ctr" marL="109728" marR="109728">
                    <a:solidFill>
                      <a:srgbClr val="2F3D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FFFFFF"/>
                          </a:solidFill>
                          <a:latin typeface="Arial"/>
                        </a:rPr>
                        <a:t>31,7 s</a:t>
                      </a:r>
                    </a:p>
                  </a:txBody>
                  <a:tcPr anchor="ctr" marL="109728" marR="109728">
                    <a:solidFill>
                      <a:srgbClr val="2F3D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FFFFFF"/>
                          </a:solidFill>
                          <a:latin typeface="Arial"/>
                        </a:rPr>
                        <a:t>50,6 s</a:t>
                      </a:r>
                    </a:p>
                  </a:txBody>
                  <a:tcPr anchor="ctr" marL="109728" marR="109728">
                    <a:solidFill>
                      <a:srgbClr val="2F3D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Arial"/>
                        </a:rPr>
                        <a:t>0,82x</a:t>
                      </a:r>
                    </a:p>
                  </a:txBody>
                  <a:tcPr anchor="ctr" marL="109728" marR="109728">
                    <a:solidFill>
                      <a:srgbClr val="2F3D52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FFFFFF"/>
                          </a:solidFill>
                          <a:latin typeface="Arial"/>
                        </a:rPr>
                        <a:t>31 archivos de ≈0,5 GB</a:t>
                      </a:r>
                    </a:p>
                  </a:txBody>
                  <a:tcPr anchor="ctr" marL="109728" marR="109728">
                    <a:solidFill>
                      <a:srgbClr val="2F3D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FFFFFF"/>
                          </a:solidFill>
                          <a:latin typeface="Arial"/>
                        </a:rPr>
                        <a:t>46,5 s</a:t>
                      </a:r>
                    </a:p>
                  </a:txBody>
                  <a:tcPr anchor="ctr" marL="109728" marR="109728">
                    <a:solidFill>
                      <a:srgbClr val="2F3D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FFFFFF"/>
                          </a:solidFill>
                          <a:latin typeface="Arial"/>
                        </a:rPr>
                        <a:t>36,3 s</a:t>
                      </a:r>
                    </a:p>
                  </a:txBody>
                  <a:tcPr anchor="ctr" marL="109728" marR="109728">
                    <a:solidFill>
                      <a:srgbClr val="2F3D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Arial"/>
                        </a:rPr>
                        <a:t>1,76x</a:t>
                      </a:r>
                    </a:p>
                  </a:txBody>
                  <a:tcPr anchor="ctr" marL="109728" marR="109728">
                    <a:solidFill>
                      <a:srgbClr val="2F3D5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14400" y="6217920"/>
            <a:ext cx="142646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 b="1">
                <a:solidFill>
                  <a:srgbClr val="D9E2EC"/>
                </a:solidFill>
                <a:latin typeface="Arial"/>
              </a:rPr>
              <a:t>Mismo plan de ejecución</a:t>
            </a:r>
            <a:r>
              <a:rPr sz="2400" b="0">
                <a:solidFill>
                  <a:srgbClr val="D9E2EC"/>
                </a:solidFill>
                <a:latin typeface="Arial"/>
              </a:rPr>
              <a:t> en los dos clústeres (EXPLAIN idéntico).</a:t>
            </a:r>
          </a:p>
          <a:p>
            <a:pPr algn="l">
              <a:spcAft>
                <a:spcPts val="1400"/>
              </a:spcAft>
            </a:pPr>
            <a:r>
              <a:rPr sz="2400" b="0">
                <a:solidFill>
                  <a:srgbClr val="D9E2EC"/>
                </a:solidFill>
                <a:latin typeface="Arial"/>
              </a:rPr>
              <a:t>El mismo cambio de archivos </a:t>
            </a:r>
            <a:r>
              <a:rPr sz="2400" b="1">
                <a:solidFill>
                  <a:srgbClr val="D9E2EC"/>
                </a:solidFill>
                <a:latin typeface="Arial"/>
              </a:rPr>
              <a:t>ayuda a RG y perjudica a Spectrum</a:t>
            </a:r>
            <a:r>
              <a:rPr sz="2400" b="0">
                <a:solidFill>
                  <a:srgbClr val="D9E2EC"/>
                </a:solidFill>
                <a:latin typeface="Arial"/>
              </a:rPr>
              <a:t> en RA3.</a:t>
            </a:r>
          </a:p>
          <a:p>
            <a:pPr algn="l">
              <a:spcAft>
                <a:spcPts val="1400"/>
              </a:spcAft>
            </a:pPr>
            <a:r>
              <a:rPr sz="2400" b="0">
                <a:solidFill>
                  <a:srgbClr val="D9E2EC"/>
                </a:solidFill>
                <a:latin typeface="Arial"/>
              </a:rPr>
              <a:t>Una sola repetición: confía en la dirección, no en el número exacto.</a:t>
            </a:r>
          </a:p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2E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3520440" y="868680"/>
            <a:ext cx="12070080" cy="1874519"/>
          </a:xfrm>
          <a:prstGeom prst="rect">
            <a:avLst/>
          </a:prstGeom>
        </p:spPr>
        <p:txBody>
          <a:bodyPr anchor="ctr" rtlCol="false" tIns="0" lIns="0" bIns="0" rIns="0" wrap="square">
            <a:spAutoFit/>
          </a:bodyPr>
          <a:lstStyle/>
          <a:p>
            <a:pPr algn="l" marL="0" indent="0" lvl="0">
              <a:lnSpc>
                <a:spcPts val="10481"/>
              </a:lnSpc>
              <a:spcBef>
                <a:spcPct val="0"/>
              </a:spcBef>
            </a:pPr>
            <a:r>
              <a:rPr lang="en-US" b="true" sz="5400">
                <a:solidFill>
                  <a:srgbClr val="FFFFFF"/>
                </a:solidFill>
                <a:latin typeface="Raleway 1 Heavy"/>
                <a:ea typeface="Raleway 1 Heavy"/>
                <a:cs typeface="Raleway 1 Heavy"/>
                <a:sym typeface="Raleway 1 Heavy"/>
              </a:rPr>
              <a:t>Spectrum se cobra aparte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536304" y="308054"/>
            <a:ext cx="650696" cy="409939"/>
          </a:xfrm>
          <a:custGeom>
            <a:avLst/>
            <a:gdLst/>
            <a:ahLst/>
            <a:cxnLst/>
            <a:rect r="r" b="b" t="t" l="l"/>
            <a:pathLst>
              <a:path h="409939" w="650696">
                <a:moveTo>
                  <a:pt x="0" y="0"/>
                </a:moveTo>
                <a:lnTo>
                  <a:pt x="650697" y="0"/>
                </a:lnTo>
                <a:lnTo>
                  <a:pt x="650697" y="409938"/>
                </a:lnTo>
                <a:lnTo>
                  <a:pt x="0" y="40993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219785" y="9070932"/>
            <a:ext cx="4151107" cy="986035"/>
            <a:chOff x="0" y="0"/>
            <a:chExt cx="5534810" cy="131471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314713" cy="1314713"/>
            </a:xfrm>
            <a:custGeom>
              <a:avLst/>
              <a:gdLst/>
              <a:ahLst/>
              <a:cxnLst/>
              <a:rect r="r" b="b" t="t" l="l"/>
              <a:pathLst>
                <a:path h="1314713" w="1314713">
                  <a:moveTo>
                    <a:pt x="0" y="0"/>
                  </a:moveTo>
                  <a:lnTo>
                    <a:pt x="1314713" y="0"/>
                  </a:lnTo>
                  <a:lnTo>
                    <a:pt x="1314713" y="1314713"/>
                  </a:lnTo>
                  <a:lnTo>
                    <a:pt x="0" y="13147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 rot="0">
              <a:off x="1455753" y="151974"/>
              <a:ext cx="3148240" cy="46230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702"/>
                </a:lnSpc>
              </a:pPr>
              <a:r>
                <a:rPr lang="en-US" b="true" sz="2252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OCTUBRE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1468453" y="585710"/>
              <a:ext cx="4066356" cy="5651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30"/>
                </a:lnSpc>
              </a:pPr>
              <a:r>
                <a:rPr lang="en-US" sz="1097" b="true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Mes de </a:t>
              </a:r>
            </a:p>
            <a:p>
              <a:pPr algn="l">
                <a:lnSpc>
                  <a:spcPts val="2059"/>
                </a:lnSpc>
              </a:pPr>
              <a:r>
                <a:rPr lang="en-US" b="true" sz="1999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HAN SOLO</a:t>
              </a: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258571" y="221658"/>
            <a:ext cx="15091730" cy="563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60"/>
              </a:lnSpc>
            </a:pPr>
            <a:r>
              <a:rPr lang="en-US" sz="2000">
                <a:solidFill>
                  <a:srgbClr val="316CE3"/>
                </a:solidFill>
                <a:latin typeface="Gotham"/>
                <a:ea typeface="Gotham"/>
                <a:cs typeface="Gotham"/>
                <a:sym typeface="Gotham"/>
              </a:rPr>
              <a:t>HOY:</a:t>
            </a:r>
          </a:p>
          <a:p>
            <a:pPr algn="l">
              <a:lnSpc>
                <a:spcPts val="2528"/>
              </a:lnSpc>
            </a:pPr>
            <a:r>
              <a:rPr lang="en-US" sz="2873" b="true">
                <a:solidFill>
                  <a:srgbClr val="316CE3"/>
                </a:solidFill>
                <a:latin typeface="Gotham Bold"/>
                <a:ea typeface="Gotham Bold"/>
                <a:cs typeface="Gotham Bold"/>
                <a:sym typeface="Gotham Bold"/>
              </a:rPr>
              <a:t>Episodio II — El Ataque de los Graviton: Infraestructura y rendimiento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91840"/>
            <a:ext cx="4572000" cy="12801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6000" b="1">
                <a:solidFill>
                  <a:srgbClr val="F2A65A"/>
                </a:solidFill>
                <a:latin typeface="Arial"/>
              </a:rPr>
              <a:t>USD 0,083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663440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D9E2EC"/>
                </a:solidFill>
                <a:latin typeface="Arial"/>
              </a:rPr>
              <a:t>18,2 GB en Iceberg (2 pasadas)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3291840"/>
            <a:ext cx="4572000" cy="12801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6000" b="1">
                <a:solidFill>
                  <a:srgbClr val="F2A65A"/>
                </a:solidFill>
                <a:latin typeface="Arial"/>
              </a:rPr>
              <a:t>USD 0,092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4663440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D9E2EC"/>
                </a:solidFill>
                <a:latin typeface="Arial"/>
              </a:rPr>
              <a:t>20,2 GB en Parquet (2 pasadas)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3291840"/>
            <a:ext cx="4572000" cy="12801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6000" b="1">
                <a:solidFill>
                  <a:srgbClr val="316CE3"/>
                </a:solidFill>
                <a:latin typeface="Arial"/>
              </a:rPr>
              <a:t>USD 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4663440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D9E2EC"/>
                </a:solidFill>
                <a:latin typeface="Arial"/>
              </a:rPr>
              <a:t>por escaneo en RG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6766560"/>
            <a:ext cx="142646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0">
                <a:solidFill>
                  <a:srgbClr val="FFFFFF"/>
                </a:solidFill>
                <a:latin typeface="Arial"/>
              </a:rPr>
              <a:t>USD 5 por TB escaneado en RA3. </a:t>
            </a:r>
            <a:r>
              <a:rPr sz="2600" b="1">
                <a:solidFill>
                  <a:srgbClr val="FFFFFF"/>
                </a:solidFill>
                <a:latin typeface="Arial"/>
              </a:rPr>
              <a:t>Multiplica por tus consultas al lago de un mes.</a:t>
            </a:r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2E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3520440" y="868680"/>
            <a:ext cx="12070080" cy="1874519"/>
          </a:xfrm>
          <a:prstGeom prst="rect">
            <a:avLst/>
          </a:prstGeom>
        </p:spPr>
        <p:txBody>
          <a:bodyPr anchor="ctr" rtlCol="false" tIns="0" lIns="0" bIns="0" rIns="0" wrap="square">
            <a:spAutoFit/>
          </a:bodyPr>
          <a:lstStyle/>
          <a:p>
            <a:pPr algn="l" marL="0" indent="0" lvl="0">
              <a:lnSpc>
                <a:spcPts val="10481"/>
              </a:lnSpc>
              <a:spcBef>
                <a:spcPct val="0"/>
              </a:spcBef>
            </a:pPr>
            <a:r>
              <a:rPr lang="en-US" b="true" sz="5400">
                <a:solidFill>
                  <a:srgbClr val="FFFFFF"/>
                </a:solidFill>
                <a:latin typeface="Raleway 1 Heavy"/>
                <a:ea typeface="Raleway 1 Heavy"/>
                <a:cs typeface="Raleway 1 Heavy"/>
                <a:sym typeface="Raleway 1 Heavy"/>
              </a:rPr>
              <a:t>Lo que el lago nos enseñó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536304" y="308054"/>
            <a:ext cx="650696" cy="409939"/>
          </a:xfrm>
          <a:custGeom>
            <a:avLst/>
            <a:gdLst/>
            <a:ahLst/>
            <a:cxnLst/>
            <a:rect r="r" b="b" t="t" l="l"/>
            <a:pathLst>
              <a:path h="409939" w="650696">
                <a:moveTo>
                  <a:pt x="0" y="0"/>
                </a:moveTo>
                <a:lnTo>
                  <a:pt x="650697" y="0"/>
                </a:lnTo>
                <a:lnTo>
                  <a:pt x="650697" y="409938"/>
                </a:lnTo>
                <a:lnTo>
                  <a:pt x="0" y="40993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219785" y="9070932"/>
            <a:ext cx="4151107" cy="986035"/>
            <a:chOff x="0" y="0"/>
            <a:chExt cx="5534810" cy="131471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314713" cy="1314713"/>
            </a:xfrm>
            <a:custGeom>
              <a:avLst/>
              <a:gdLst/>
              <a:ahLst/>
              <a:cxnLst/>
              <a:rect r="r" b="b" t="t" l="l"/>
              <a:pathLst>
                <a:path h="1314713" w="1314713">
                  <a:moveTo>
                    <a:pt x="0" y="0"/>
                  </a:moveTo>
                  <a:lnTo>
                    <a:pt x="1314713" y="0"/>
                  </a:lnTo>
                  <a:lnTo>
                    <a:pt x="1314713" y="1314713"/>
                  </a:lnTo>
                  <a:lnTo>
                    <a:pt x="0" y="13147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 rot="0">
              <a:off x="1455753" y="151974"/>
              <a:ext cx="3148240" cy="46230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702"/>
                </a:lnSpc>
              </a:pPr>
              <a:r>
                <a:rPr lang="en-US" b="true" sz="2252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OCTUBRE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1468453" y="585710"/>
              <a:ext cx="4066356" cy="5651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30"/>
                </a:lnSpc>
              </a:pPr>
              <a:r>
                <a:rPr lang="en-US" sz="1097" b="true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Mes de </a:t>
              </a:r>
            </a:p>
            <a:p>
              <a:pPr algn="l">
                <a:lnSpc>
                  <a:spcPts val="2059"/>
                </a:lnSpc>
              </a:pPr>
              <a:r>
                <a:rPr lang="en-US" b="true" sz="1999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HAN SOLO</a:t>
              </a: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258571" y="221658"/>
            <a:ext cx="15091730" cy="563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60"/>
              </a:lnSpc>
            </a:pPr>
            <a:r>
              <a:rPr lang="en-US" sz="2000">
                <a:solidFill>
                  <a:srgbClr val="316CE3"/>
                </a:solidFill>
                <a:latin typeface="Gotham"/>
                <a:ea typeface="Gotham"/>
                <a:cs typeface="Gotham"/>
                <a:sym typeface="Gotham"/>
              </a:rPr>
              <a:t>HOY:</a:t>
            </a:r>
          </a:p>
          <a:p>
            <a:pPr algn="l">
              <a:lnSpc>
                <a:spcPts val="2528"/>
              </a:lnSpc>
            </a:pPr>
            <a:r>
              <a:rPr lang="en-US" sz="2873" b="true">
                <a:solidFill>
                  <a:srgbClr val="316CE3"/>
                </a:solidFill>
                <a:latin typeface="Gotham Bold"/>
                <a:ea typeface="Gotham Bold"/>
                <a:cs typeface="Gotham Bold"/>
                <a:sym typeface="Gotham Bold"/>
              </a:rPr>
              <a:t>Episodio II — El Ataque de los Graviton: Infraestructura y rendimiento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3200400"/>
            <a:ext cx="4480560" cy="3108960"/>
          </a:xfrm>
          <a:prstGeom prst="roundRect">
            <a:avLst>
              <a:gd name="adj" fmla="val 8000"/>
            </a:avLst>
          </a:prstGeom>
          <a:solidFill>
            <a:srgbClr val="2F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228600" bIns="228600"/>
          <a:lstStyle/>
          <a:p>
            <a:pPr algn="ctr">
              <a:spcAft>
                <a:spcPts val="800"/>
              </a:spcAft>
            </a:pPr>
            <a:r>
              <a:rPr sz="2600" b="1">
                <a:solidFill>
                  <a:srgbClr val="F2A65A"/>
                </a:solidFill>
                <a:latin typeface="Arial"/>
              </a:rPr>
              <a:t>S3 Tables: IAM</a:t>
            </a:r>
          </a:p>
          <a:p>
            <a:r>
              <a:rPr sz="1700">
                <a:solidFill>
                  <a:srgbClr val="D9E2EC"/>
                </a:solidFill>
                <a:latin typeface="Courier New"/>
              </a:rPr>
              <a:t>cross-database reference to database "…@s3tablescatalog" is not supported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0" y="3200400"/>
            <a:ext cx="4480560" cy="3108960"/>
          </a:xfrm>
          <a:prstGeom prst="roundRect">
            <a:avLst>
              <a:gd name="adj" fmla="val 8000"/>
            </a:avLst>
          </a:prstGeom>
          <a:solidFill>
            <a:srgbClr val="2F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228600" bIns="228600"/>
          <a:lstStyle/>
          <a:p>
            <a:pPr algn="ctr">
              <a:spcAft>
                <a:spcPts val="800"/>
              </a:spcAft>
            </a:pPr>
            <a:r>
              <a:rPr sz="2600" b="1">
                <a:solidFill>
                  <a:srgbClr val="F2A65A"/>
                </a:solidFill>
                <a:latin typeface="Arial"/>
              </a:rPr>
              <a:t>Iceberg: sin CHAR</a:t>
            </a:r>
          </a:p>
          <a:p>
            <a:r>
              <a:rPr sz="1700">
                <a:solidFill>
                  <a:srgbClr val="D9E2EC"/>
                </a:solidFill>
                <a:latin typeface="Courier New"/>
              </a:rPr>
              <a:t>CHAR type is not supported for column "d_date_id" in Iceberg table creation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424160" y="3200400"/>
            <a:ext cx="4480560" cy="3108960"/>
          </a:xfrm>
          <a:prstGeom prst="roundRect">
            <a:avLst>
              <a:gd name="adj" fmla="val 8000"/>
            </a:avLst>
          </a:prstGeom>
          <a:solidFill>
            <a:srgbClr val="2F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228600" bIns="228600"/>
          <a:lstStyle/>
          <a:p>
            <a:pPr algn="ctr">
              <a:spcAft>
                <a:spcPts val="800"/>
              </a:spcAft>
            </a:pPr>
            <a:r>
              <a:rPr sz="2600" b="1">
                <a:solidFill>
                  <a:srgbClr val="F2A65A"/>
                </a:solidFill>
                <a:latin typeface="Arial"/>
              </a:rPr>
              <a:t>Lake Formation</a:t>
            </a:r>
          </a:p>
          <a:p>
            <a:r>
              <a:rPr sz="1700">
                <a:solidFill>
                  <a:srgbClr val="D9E2EC"/>
                </a:solidFill>
                <a:latin typeface="Courier New"/>
              </a:rPr>
              <a:t>Insufficient Lake Formation permission(s): Required Create Table on rr_iceberg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6766560"/>
            <a:ext cx="13898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FFFFFF"/>
                </a:solidFill>
                <a:latin typeface="Arial"/>
              </a:rPr>
              <a:t>Si piensas usar S3 Tables desde Redshift, </a:t>
            </a:r>
            <a:r>
              <a:rPr sz="2400" b="1">
                <a:solidFill>
                  <a:srgbClr val="FFFFFF"/>
                </a:solidFill>
                <a:latin typeface="Arial"/>
              </a:rPr>
              <a:t>define primero tu modelo de autenticación.</a:t>
            </a:r>
          </a:p>
        </p:txBody>
      </p:sp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2E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3444099" y="3763913"/>
            <a:ext cx="13438018" cy="2238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399"/>
              </a:lnSpc>
            </a:pPr>
            <a:r>
              <a:rPr lang="en-US" b="true" sz="9999">
                <a:solidFill>
                  <a:srgbClr val="FFFFFF"/>
                </a:solidFill>
                <a:latin typeface="Raleway 1 Heavy"/>
                <a:ea typeface="Raleway 1 Heavy"/>
                <a:cs typeface="Raleway 1 Heavy"/>
                <a:sym typeface="Raleway 1 Heavy"/>
              </a:rPr>
              <a:t>LA</a:t>
            </a:r>
          </a:p>
          <a:p>
            <a:pPr algn="l" marL="0" indent="0" lvl="0">
              <a:lnSpc>
                <a:spcPts val="8399"/>
              </a:lnSpc>
            </a:pPr>
            <a:r>
              <a:rPr lang="en-US" b="true" sz="9999">
                <a:solidFill>
                  <a:srgbClr val="FFFFFF"/>
                </a:solidFill>
                <a:latin typeface="Raleway 1 Heavy"/>
                <a:ea typeface="Raleway 1 Heavy"/>
                <a:cs typeface="Raleway 1 Heavy"/>
                <a:sym typeface="Raleway 1 Heavy"/>
              </a:rPr>
              <a:t>        MIGRACIÓN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536304" y="308054"/>
            <a:ext cx="650696" cy="409939"/>
          </a:xfrm>
          <a:custGeom>
            <a:avLst/>
            <a:gdLst/>
            <a:ahLst/>
            <a:cxnLst/>
            <a:rect r="r" b="b" t="t" l="l"/>
            <a:pathLst>
              <a:path h="409939" w="650696">
                <a:moveTo>
                  <a:pt x="0" y="0"/>
                </a:moveTo>
                <a:lnTo>
                  <a:pt x="650697" y="0"/>
                </a:lnTo>
                <a:lnTo>
                  <a:pt x="650697" y="409938"/>
                </a:lnTo>
                <a:lnTo>
                  <a:pt x="0" y="40993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219785" y="9070932"/>
            <a:ext cx="4151107" cy="986035"/>
            <a:chOff x="0" y="0"/>
            <a:chExt cx="5534810" cy="131471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314713" cy="1314713"/>
            </a:xfrm>
            <a:custGeom>
              <a:avLst/>
              <a:gdLst/>
              <a:ahLst/>
              <a:cxnLst/>
              <a:rect r="r" b="b" t="t" l="l"/>
              <a:pathLst>
                <a:path h="1314713" w="1314713">
                  <a:moveTo>
                    <a:pt x="0" y="0"/>
                  </a:moveTo>
                  <a:lnTo>
                    <a:pt x="1314713" y="0"/>
                  </a:lnTo>
                  <a:lnTo>
                    <a:pt x="1314713" y="1314713"/>
                  </a:lnTo>
                  <a:lnTo>
                    <a:pt x="0" y="13147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 rot="0">
              <a:off x="1455753" y="151974"/>
              <a:ext cx="3148240" cy="46230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702"/>
                </a:lnSpc>
              </a:pPr>
              <a:r>
                <a:rPr lang="en-US" b="true" sz="2252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OCTUBRE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1468453" y="585710"/>
              <a:ext cx="4066356" cy="5651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30"/>
                </a:lnSpc>
              </a:pPr>
              <a:r>
                <a:rPr lang="en-US" sz="1097" b="true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Mes de </a:t>
              </a:r>
            </a:p>
            <a:p>
              <a:pPr algn="l">
                <a:lnSpc>
                  <a:spcPts val="2059"/>
                </a:lnSpc>
              </a:pPr>
              <a:r>
                <a:rPr lang="en-US" b="true" sz="1999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HAN SOLO</a:t>
              </a: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258571" y="221658"/>
            <a:ext cx="15091730" cy="563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60"/>
              </a:lnSpc>
            </a:pPr>
            <a:r>
              <a:rPr lang="en-US" sz="2000">
                <a:solidFill>
                  <a:srgbClr val="316CE3"/>
                </a:solidFill>
                <a:latin typeface="Gotham"/>
                <a:ea typeface="Gotham"/>
                <a:cs typeface="Gotham"/>
                <a:sym typeface="Gotham"/>
              </a:rPr>
              <a:t>HOY:</a:t>
            </a:r>
          </a:p>
          <a:p>
            <a:pPr algn="l">
              <a:lnSpc>
                <a:spcPts val="2528"/>
              </a:lnSpc>
            </a:pPr>
            <a:r>
              <a:rPr lang="en-US" sz="2873" b="true">
                <a:solidFill>
                  <a:srgbClr val="316CE3"/>
                </a:solidFill>
                <a:latin typeface="Gotham Bold"/>
                <a:ea typeface="Gotham Bold"/>
                <a:cs typeface="Gotham Bold"/>
                <a:sym typeface="Gotham Bold"/>
              </a:rPr>
              <a:t>Episodio II — El Ataque de los Graviton: Infraestructura y rendimiento</a:t>
            </a:r>
          </a:p>
        </p:txBody>
      </p:sp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2E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3520440" y="868680"/>
            <a:ext cx="12070080" cy="1874519"/>
          </a:xfrm>
          <a:prstGeom prst="rect">
            <a:avLst/>
          </a:prstGeom>
        </p:spPr>
        <p:txBody>
          <a:bodyPr anchor="ctr" rtlCol="false" tIns="0" lIns="0" bIns="0" rIns="0" wrap="square">
            <a:spAutoFit/>
          </a:bodyPr>
          <a:lstStyle/>
          <a:p>
            <a:pPr algn="l" marL="0" indent="0" lvl="0">
              <a:lnSpc>
                <a:spcPts val="10481"/>
              </a:lnSpc>
              <a:spcBef>
                <a:spcPct val="0"/>
              </a:spcBef>
            </a:pPr>
            <a:r>
              <a:rPr lang="en-US" b="true" sz="5400">
                <a:solidFill>
                  <a:srgbClr val="FFFFFF"/>
                </a:solidFill>
                <a:latin typeface="Raleway 1 Heavy"/>
                <a:ea typeface="Raleway 1 Heavy"/>
                <a:cs typeface="Raleway 1 Heavy"/>
                <a:sym typeface="Raleway 1 Heavy"/>
              </a:rPr>
              <a:t>Migrar tomó 2 min 48 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536304" y="308054"/>
            <a:ext cx="650696" cy="409939"/>
          </a:xfrm>
          <a:custGeom>
            <a:avLst/>
            <a:gdLst/>
            <a:ahLst/>
            <a:cxnLst/>
            <a:rect r="r" b="b" t="t" l="l"/>
            <a:pathLst>
              <a:path h="409939" w="650696">
                <a:moveTo>
                  <a:pt x="0" y="0"/>
                </a:moveTo>
                <a:lnTo>
                  <a:pt x="650697" y="0"/>
                </a:lnTo>
                <a:lnTo>
                  <a:pt x="650697" y="409938"/>
                </a:lnTo>
                <a:lnTo>
                  <a:pt x="0" y="40993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219785" y="9070932"/>
            <a:ext cx="4151107" cy="986035"/>
            <a:chOff x="0" y="0"/>
            <a:chExt cx="5534810" cy="131471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314713" cy="1314713"/>
            </a:xfrm>
            <a:custGeom>
              <a:avLst/>
              <a:gdLst/>
              <a:ahLst/>
              <a:cxnLst/>
              <a:rect r="r" b="b" t="t" l="l"/>
              <a:pathLst>
                <a:path h="1314713" w="1314713">
                  <a:moveTo>
                    <a:pt x="0" y="0"/>
                  </a:moveTo>
                  <a:lnTo>
                    <a:pt x="1314713" y="0"/>
                  </a:lnTo>
                  <a:lnTo>
                    <a:pt x="1314713" y="1314713"/>
                  </a:lnTo>
                  <a:lnTo>
                    <a:pt x="0" y="13147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 rot="0">
              <a:off x="1455753" y="151974"/>
              <a:ext cx="3148240" cy="46230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702"/>
                </a:lnSpc>
              </a:pPr>
              <a:r>
                <a:rPr lang="en-US" b="true" sz="2252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OCTUBRE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1468453" y="585710"/>
              <a:ext cx="4066356" cy="5651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30"/>
                </a:lnSpc>
              </a:pPr>
              <a:r>
                <a:rPr lang="en-US" sz="1097" b="true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Mes de </a:t>
              </a:r>
            </a:p>
            <a:p>
              <a:pPr algn="l">
                <a:lnSpc>
                  <a:spcPts val="2059"/>
                </a:lnSpc>
              </a:pPr>
              <a:r>
                <a:rPr lang="en-US" b="true" sz="1999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HAN SOLO</a:t>
              </a: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258571" y="221658"/>
            <a:ext cx="15091730" cy="563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60"/>
              </a:lnSpc>
            </a:pPr>
            <a:r>
              <a:rPr lang="en-US" sz="2000">
                <a:solidFill>
                  <a:srgbClr val="316CE3"/>
                </a:solidFill>
                <a:latin typeface="Gotham"/>
                <a:ea typeface="Gotham"/>
                <a:cs typeface="Gotham"/>
                <a:sym typeface="Gotham"/>
              </a:rPr>
              <a:t>HOY:</a:t>
            </a:r>
          </a:p>
          <a:p>
            <a:pPr algn="l">
              <a:lnSpc>
                <a:spcPts val="2528"/>
              </a:lnSpc>
            </a:pPr>
            <a:r>
              <a:rPr lang="en-US" sz="2873" b="true">
                <a:solidFill>
                  <a:srgbClr val="316CE3"/>
                </a:solidFill>
                <a:latin typeface="Gotham Bold"/>
                <a:ea typeface="Gotham Bold"/>
                <a:cs typeface="Gotham Bold"/>
                <a:sym typeface="Gotham Bold"/>
              </a:rPr>
              <a:t>Episodio II — El Ataque de los Graviton: Infraestructura y rendimiento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88720" y="4937760"/>
            <a:ext cx="13716000" cy="0"/>
          </a:xfrm>
          <a:prstGeom prst="line">
            <a:avLst/>
          </a:prstGeom>
          <a:ln w="38100">
            <a:solidFill>
              <a:srgbClr val="9FB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932688" y="4681728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79" y="3749040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0">
                <a:solidFill>
                  <a:srgbClr val="D9E2EC"/>
                </a:solidFill>
                <a:latin typeface="Arial"/>
              </a:rPr>
              <a:t>19:05:47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79" y="5349240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inicio</a:t>
            </a:r>
          </a:p>
        </p:txBody>
      </p:sp>
      <p:sp>
        <p:nvSpPr>
          <p:cNvPr id="14" name="Oval 13"/>
          <p:cNvSpPr/>
          <p:nvPr/>
        </p:nvSpPr>
        <p:spPr>
          <a:xfrm>
            <a:off x="3218687" y="4681728"/>
            <a:ext cx="512064" cy="512064"/>
          </a:xfrm>
          <a:prstGeom prst="ellipse">
            <a:avLst/>
          </a:prstGeom>
          <a:solidFill>
            <a:srgbClr val="316C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68879" y="3749040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0">
                <a:solidFill>
                  <a:srgbClr val="D9E2EC"/>
                </a:solidFill>
                <a:latin typeface="Arial"/>
              </a:rPr>
              <a:t>19:05:53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79" y="5349240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8FB4FF"/>
                </a:solidFill>
                <a:latin typeface="Arial"/>
              </a:rPr>
              <a:t>escribe</a:t>
            </a:r>
          </a:p>
        </p:txBody>
      </p:sp>
      <p:sp>
        <p:nvSpPr>
          <p:cNvPr id="17" name="Oval 16"/>
          <p:cNvSpPr/>
          <p:nvPr/>
        </p:nvSpPr>
        <p:spPr>
          <a:xfrm>
            <a:off x="5504688" y="4681728"/>
            <a:ext cx="512064" cy="512064"/>
          </a:xfrm>
          <a:prstGeom prst="ellipse">
            <a:avLst/>
          </a:prstGeom>
          <a:solidFill>
            <a:srgbClr val="F2A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79" y="3749040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0">
                <a:solidFill>
                  <a:srgbClr val="D9E2EC"/>
                </a:solidFill>
                <a:latin typeface="Arial"/>
              </a:rPr>
              <a:t>19:06:25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79" y="5349240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F2A65A"/>
                </a:solidFill>
                <a:latin typeface="Arial"/>
              </a:rPr>
              <a:t>solo lectura</a:t>
            </a:r>
          </a:p>
        </p:txBody>
      </p:sp>
      <p:sp>
        <p:nvSpPr>
          <p:cNvPr id="20" name="Oval 19"/>
          <p:cNvSpPr/>
          <p:nvPr/>
        </p:nvSpPr>
        <p:spPr>
          <a:xfrm>
            <a:off x="7790688" y="4681728"/>
            <a:ext cx="512064" cy="512064"/>
          </a:xfrm>
          <a:prstGeom prst="ellipse">
            <a:avLst/>
          </a:prstGeom>
          <a:solidFill>
            <a:srgbClr val="F2A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0" y="3749040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0">
                <a:solidFill>
                  <a:srgbClr val="D9E2EC"/>
                </a:solidFill>
                <a:latin typeface="Arial"/>
              </a:rPr>
              <a:t>19:06:57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5349240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F2A65A"/>
                </a:solidFill>
                <a:latin typeface="Arial"/>
              </a:rPr>
              <a:t>solo lectura</a:t>
            </a:r>
          </a:p>
        </p:txBody>
      </p:sp>
      <p:sp>
        <p:nvSpPr>
          <p:cNvPr id="23" name="Oval 22"/>
          <p:cNvSpPr/>
          <p:nvPr/>
        </p:nvSpPr>
        <p:spPr>
          <a:xfrm>
            <a:off x="10076688" y="4681728"/>
            <a:ext cx="512064" cy="512064"/>
          </a:xfrm>
          <a:prstGeom prst="ellipse">
            <a:avLst/>
          </a:prstGeom>
          <a:solidFill>
            <a:srgbClr val="F2A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0" y="3749040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0">
                <a:solidFill>
                  <a:srgbClr val="D9E2EC"/>
                </a:solidFill>
                <a:latin typeface="Arial"/>
              </a:rPr>
              <a:t>19:07:29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5349240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F2A65A"/>
                </a:solidFill>
                <a:latin typeface="Arial"/>
              </a:rPr>
              <a:t>solo lectura</a:t>
            </a:r>
          </a:p>
        </p:txBody>
      </p:sp>
      <p:sp>
        <p:nvSpPr>
          <p:cNvPr id="26" name="Oval 25"/>
          <p:cNvSpPr/>
          <p:nvPr/>
        </p:nvSpPr>
        <p:spPr>
          <a:xfrm>
            <a:off x="12362688" y="4681728"/>
            <a:ext cx="512064" cy="512064"/>
          </a:xfrm>
          <a:prstGeom prst="ellipse">
            <a:avLst/>
          </a:prstGeom>
          <a:solidFill>
            <a:srgbClr val="F2A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612880" y="3749040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0">
                <a:solidFill>
                  <a:srgbClr val="D9E2EC"/>
                </a:solidFill>
                <a:latin typeface="Arial"/>
              </a:rPr>
              <a:t>19:08:00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612880" y="5349240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F2A65A"/>
                </a:solidFill>
                <a:latin typeface="Arial"/>
              </a:rPr>
              <a:t>solo lectura</a:t>
            </a:r>
          </a:p>
        </p:txBody>
      </p:sp>
      <p:sp>
        <p:nvSpPr>
          <p:cNvPr id="29" name="Oval 28"/>
          <p:cNvSpPr/>
          <p:nvPr/>
        </p:nvSpPr>
        <p:spPr>
          <a:xfrm>
            <a:off x="14648688" y="4681728"/>
            <a:ext cx="512064" cy="512064"/>
          </a:xfrm>
          <a:prstGeom prst="ellipse">
            <a:avLst/>
          </a:prstGeom>
          <a:solidFill>
            <a:srgbClr val="316C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898880" y="3749040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0">
                <a:solidFill>
                  <a:srgbClr val="D9E2EC"/>
                </a:solidFill>
                <a:latin typeface="Arial"/>
              </a:rPr>
              <a:t>19:08:35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898880" y="5349240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8FB4FF"/>
                </a:solidFill>
                <a:latin typeface="Arial"/>
              </a:rPr>
              <a:t>escribe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5943600"/>
            <a:ext cx="6949440" cy="12801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6000" b="1">
                <a:solidFill>
                  <a:srgbClr val="F2A65A"/>
                </a:solidFill>
                <a:latin typeface="Arial"/>
              </a:rPr>
              <a:t>1:35 – 2:42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7315200"/>
            <a:ext cx="69494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D9E2EC"/>
                </a:solidFill>
                <a:latin typeface="Arial"/>
              </a:rPr>
              <a:t>minutos en solo lectura (sondeo cada 30 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5943600"/>
            <a:ext cx="6949440" cy="12801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6000" b="1">
                <a:solidFill>
                  <a:srgbClr val="316CE3"/>
                </a:solidFill>
                <a:latin typeface="Arial"/>
              </a:rPr>
              <a:t>Sin cambios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0" y="7315200"/>
            <a:ext cx="69494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D9E2EC"/>
                </a:solidFill>
                <a:latin typeface="Arial"/>
              </a:rPr>
              <a:t>en el skew: 1:1 conserva los slices</a:t>
            </a:r>
          </a:p>
        </p:txBody>
      </p: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2E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3520440" y="868680"/>
            <a:ext cx="12070080" cy="1874519"/>
          </a:xfrm>
          <a:prstGeom prst="rect">
            <a:avLst/>
          </a:prstGeom>
        </p:spPr>
        <p:txBody>
          <a:bodyPr anchor="ctr" rtlCol="false" tIns="0" lIns="0" bIns="0" rIns="0" wrap="square">
            <a:spAutoFit/>
          </a:bodyPr>
          <a:lstStyle/>
          <a:p>
            <a:pPr algn="l" marL="0" indent="0" lvl="0">
              <a:lnSpc>
                <a:spcPts val="10481"/>
              </a:lnSpc>
              <a:spcBef>
                <a:spcPct val="0"/>
              </a:spcBef>
            </a:pPr>
            <a:r>
              <a:rPr lang="en-US" b="true" sz="5400">
                <a:solidFill>
                  <a:srgbClr val="FFFFFF"/>
                </a:solidFill>
                <a:latin typeface="Raleway 1 Heavy"/>
                <a:ea typeface="Raleway 1 Heavy"/>
                <a:cs typeface="Raleway 1 Heavy"/>
                <a:sym typeface="Raleway 1 Heavy"/>
              </a:rPr>
              <a:t>Trampas del camino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536304" y="308054"/>
            <a:ext cx="650696" cy="409939"/>
          </a:xfrm>
          <a:custGeom>
            <a:avLst/>
            <a:gdLst/>
            <a:ahLst/>
            <a:cxnLst/>
            <a:rect r="r" b="b" t="t" l="l"/>
            <a:pathLst>
              <a:path h="409939" w="650696">
                <a:moveTo>
                  <a:pt x="0" y="0"/>
                </a:moveTo>
                <a:lnTo>
                  <a:pt x="650697" y="0"/>
                </a:lnTo>
                <a:lnTo>
                  <a:pt x="650697" y="409938"/>
                </a:lnTo>
                <a:lnTo>
                  <a:pt x="0" y="40993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219785" y="9070932"/>
            <a:ext cx="4151107" cy="986035"/>
            <a:chOff x="0" y="0"/>
            <a:chExt cx="5534810" cy="131471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314713" cy="1314713"/>
            </a:xfrm>
            <a:custGeom>
              <a:avLst/>
              <a:gdLst/>
              <a:ahLst/>
              <a:cxnLst/>
              <a:rect r="r" b="b" t="t" l="l"/>
              <a:pathLst>
                <a:path h="1314713" w="1314713">
                  <a:moveTo>
                    <a:pt x="0" y="0"/>
                  </a:moveTo>
                  <a:lnTo>
                    <a:pt x="1314713" y="0"/>
                  </a:lnTo>
                  <a:lnTo>
                    <a:pt x="1314713" y="1314713"/>
                  </a:lnTo>
                  <a:lnTo>
                    <a:pt x="0" y="13147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 rot="0">
              <a:off x="1455753" y="151974"/>
              <a:ext cx="3148240" cy="46230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702"/>
                </a:lnSpc>
              </a:pPr>
              <a:r>
                <a:rPr lang="en-US" b="true" sz="2252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OCTUBRE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1468453" y="585710"/>
              <a:ext cx="4066356" cy="5651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30"/>
                </a:lnSpc>
              </a:pPr>
              <a:r>
                <a:rPr lang="en-US" sz="1097" b="true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Mes de </a:t>
              </a:r>
            </a:p>
            <a:p>
              <a:pPr algn="l">
                <a:lnSpc>
                  <a:spcPts val="2059"/>
                </a:lnSpc>
              </a:pPr>
              <a:r>
                <a:rPr lang="en-US" b="true" sz="1999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HAN SOLO</a:t>
              </a: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258571" y="221658"/>
            <a:ext cx="15091730" cy="563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60"/>
              </a:lnSpc>
            </a:pPr>
            <a:r>
              <a:rPr lang="en-US" sz="2000">
                <a:solidFill>
                  <a:srgbClr val="316CE3"/>
                </a:solidFill>
                <a:latin typeface="Gotham"/>
                <a:ea typeface="Gotham"/>
                <a:cs typeface="Gotham"/>
                <a:sym typeface="Gotham"/>
              </a:rPr>
              <a:t>HOY:</a:t>
            </a:r>
          </a:p>
          <a:p>
            <a:pPr algn="l">
              <a:lnSpc>
                <a:spcPts val="2528"/>
              </a:lnSpc>
            </a:pPr>
            <a:r>
              <a:rPr lang="en-US" sz="2873" b="true">
                <a:solidFill>
                  <a:srgbClr val="316CE3"/>
                </a:solidFill>
                <a:latin typeface="Gotham Bold"/>
                <a:ea typeface="Gotham Bold"/>
                <a:cs typeface="Gotham Bold"/>
                <a:sym typeface="Gotham Bold"/>
              </a:rPr>
              <a:t>Episodio II — El Ataque de los Graviton: Infraestructura y rendimiento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00400"/>
            <a:ext cx="14264640" cy="5394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347472" indent="-347472">
              <a:spcAft>
                <a:spcPts val="1600"/>
              </a:spcAft>
              <a:buChar char="•"/>
            </a:pPr>
            <a:r>
              <a:rPr sz="2300" b="1">
                <a:solidFill>
                  <a:srgbClr val="D9E2EC"/>
                </a:solidFill>
                <a:latin typeface="Arial"/>
              </a:rPr>
              <a:t>Contraseña administrada:</a:t>
            </a:r>
            <a:r>
              <a:rPr sz="2300" b="0">
                <a:solidFill>
                  <a:srgbClr val="D9E2EC"/>
                </a:solidFill>
                <a:latin typeface="Arial"/>
              </a:rPr>
              <a:t> un snapshot con contraseña administrada solo se restaura con ‑‑manage‑master‑password</a:t>
            </a:r>
          </a:p>
          <a:p>
            <a:pPr algn="l" marL="347472" indent="-347472">
              <a:spcAft>
                <a:spcPts val="1600"/>
              </a:spcAft>
              <a:buChar char="•"/>
            </a:pPr>
            <a:r>
              <a:rPr sz="2300" b="1">
                <a:solidFill>
                  <a:srgbClr val="D9E2EC"/>
                </a:solidFill>
                <a:latin typeface="Arial"/>
              </a:rPr>
              <a:t>Primero un backup:</a:t>
            </a:r>
            <a:r>
              <a:rPr sz="2300" b="0">
                <a:solidFill>
                  <a:srgbClr val="D9E2EC"/>
                </a:solidFill>
                <a:latin typeface="Arial"/>
              </a:rPr>
              <a:t> un clúster restaurado no acepta elastic resize hasta tener un snapshot propio</a:t>
            </a:r>
          </a:p>
          <a:p>
            <a:pPr algn="l" marL="347472" indent="-347472">
              <a:spcAft>
                <a:spcPts val="1600"/>
              </a:spcAft>
              <a:buChar char="•"/>
            </a:pPr>
            <a:r>
              <a:rPr sz="2300" b="1">
                <a:solidFill>
                  <a:srgbClr val="D9E2EC"/>
                </a:solidFill>
                <a:latin typeface="Arial"/>
              </a:rPr>
              <a:t>«Available» no siempre es disponible:</a:t>
            </a:r>
            <a:r>
              <a:rPr sz="2300" b="0">
                <a:solidFill>
                  <a:srgbClr val="D9E2EC"/>
                </a:solidFill>
                <a:latin typeface="Arial"/>
              </a:rPr>
              <a:t> el estado dice available mientras otro campo sigue en Modifying</a:t>
            </a:r>
          </a:p>
          <a:p>
            <a:pPr algn="l" marL="347472" indent="-347472">
              <a:spcAft>
                <a:spcPts val="1600"/>
              </a:spcAft>
              <a:buChar char="•"/>
            </a:pPr>
            <a:r>
              <a:rPr sz="2300" b="1">
                <a:solidFill>
                  <a:srgbClr val="D9E2EC"/>
                </a:solidFill>
                <a:latin typeface="Arial"/>
              </a:rPr>
              <a:t>El 4 → 3 y el skew:</a:t>
            </a:r>
            <a:r>
              <a:rPr sz="2300" b="0">
                <a:solidFill>
                  <a:srgbClr val="D9E2EC"/>
                </a:solidFill>
                <a:latin typeface="Arial"/>
              </a:rPr>
              <a:t> cambiar la cantidad de nodos puede desbalancear los slices</a:t>
            </a:r>
          </a:p>
          <a:p>
            <a:pPr algn="l" marL="347472" indent="-347472">
              <a:spcAft>
                <a:spcPts val="1600"/>
              </a:spcAft>
              <a:buChar char="•"/>
            </a:pPr>
            <a:r>
              <a:rPr sz="2300" b="1">
                <a:solidFill>
                  <a:srgbClr val="D9E2EC"/>
                </a:solidFill>
                <a:latin typeface="Arial"/>
              </a:rPr>
              <a:t>Restore = endpoint nuevo:</a:t>
            </a:r>
            <a:r>
              <a:rPr sz="2300" b="0">
                <a:solidFill>
                  <a:srgbClr val="D9E2EC"/>
                </a:solidFill>
                <a:latin typeface="Arial"/>
              </a:rPr>
              <a:t> si migras restaurando, reconfigura zero-ETL, DMS y datashares</a:t>
            </a:r>
          </a:p>
        </p:txBody>
      </p:sp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2E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3444099" y="3763913"/>
            <a:ext cx="13438018" cy="2238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399"/>
              </a:lnSpc>
            </a:pPr>
            <a:r>
              <a:rPr lang="en-US" b="true" sz="9999">
                <a:solidFill>
                  <a:srgbClr val="FFFFFF"/>
                </a:solidFill>
                <a:latin typeface="Raleway 1 Heavy"/>
                <a:ea typeface="Raleway 1 Heavy"/>
                <a:cs typeface="Raleway 1 Heavy"/>
                <a:sym typeface="Raleway 1 Heavy"/>
              </a:rPr>
              <a:t>DEMO</a:t>
            </a:r>
          </a:p>
          <a:p>
            <a:pPr algn="l" marL="0" indent="0" lvl="0">
              <a:lnSpc>
                <a:spcPts val="8399"/>
              </a:lnSpc>
            </a:pPr>
            <a:r>
              <a:rPr lang="en-US" b="true" sz="9999">
                <a:solidFill>
                  <a:srgbClr val="FFFFFF"/>
                </a:solidFill>
                <a:latin typeface="Raleway 1 Heavy"/>
                <a:ea typeface="Raleway 1 Heavy"/>
                <a:cs typeface="Raleway 1 Heavy"/>
                <a:sym typeface="Raleway 1 Heavy"/>
              </a:rPr>
              <a:t/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536304" y="308054"/>
            <a:ext cx="650696" cy="409939"/>
          </a:xfrm>
          <a:custGeom>
            <a:avLst/>
            <a:gdLst/>
            <a:ahLst/>
            <a:cxnLst/>
            <a:rect r="r" b="b" t="t" l="l"/>
            <a:pathLst>
              <a:path h="409939" w="650696">
                <a:moveTo>
                  <a:pt x="0" y="0"/>
                </a:moveTo>
                <a:lnTo>
                  <a:pt x="650697" y="0"/>
                </a:lnTo>
                <a:lnTo>
                  <a:pt x="650697" y="409938"/>
                </a:lnTo>
                <a:lnTo>
                  <a:pt x="0" y="40993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219785" y="9070932"/>
            <a:ext cx="4151107" cy="986035"/>
            <a:chOff x="0" y="0"/>
            <a:chExt cx="5534810" cy="131471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314713" cy="1314713"/>
            </a:xfrm>
            <a:custGeom>
              <a:avLst/>
              <a:gdLst/>
              <a:ahLst/>
              <a:cxnLst/>
              <a:rect r="r" b="b" t="t" l="l"/>
              <a:pathLst>
                <a:path h="1314713" w="1314713">
                  <a:moveTo>
                    <a:pt x="0" y="0"/>
                  </a:moveTo>
                  <a:lnTo>
                    <a:pt x="1314713" y="0"/>
                  </a:lnTo>
                  <a:lnTo>
                    <a:pt x="1314713" y="1314713"/>
                  </a:lnTo>
                  <a:lnTo>
                    <a:pt x="0" y="13147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 rot="0">
              <a:off x="1455753" y="151974"/>
              <a:ext cx="3148240" cy="46230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702"/>
                </a:lnSpc>
              </a:pPr>
              <a:r>
                <a:rPr lang="en-US" b="true" sz="2252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OCTUBRE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1468453" y="585710"/>
              <a:ext cx="4066356" cy="5651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30"/>
                </a:lnSpc>
              </a:pPr>
              <a:r>
                <a:rPr lang="en-US" sz="1097" b="true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Mes de </a:t>
              </a:r>
            </a:p>
            <a:p>
              <a:pPr algn="l">
                <a:lnSpc>
                  <a:spcPts val="2059"/>
                </a:lnSpc>
              </a:pPr>
              <a:r>
                <a:rPr lang="en-US" b="true" sz="1999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HAN SOLO</a:t>
              </a: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258571" y="221658"/>
            <a:ext cx="15091730" cy="563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60"/>
              </a:lnSpc>
            </a:pPr>
            <a:r>
              <a:rPr lang="en-US" sz="2000">
                <a:solidFill>
                  <a:srgbClr val="316CE3"/>
                </a:solidFill>
                <a:latin typeface="Gotham"/>
                <a:ea typeface="Gotham"/>
                <a:cs typeface="Gotham"/>
                <a:sym typeface="Gotham"/>
              </a:rPr>
              <a:t>HOY:</a:t>
            </a:r>
          </a:p>
          <a:p>
            <a:pPr algn="l">
              <a:lnSpc>
                <a:spcPts val="2528"/>
              </a:lnSpc>
            </a:pPr>
            <a:r>
              <a:rPr lang="en-US" sz="2873" b="true">
                <a:solidFill>
                  <a:srgbClr val="316CE3"/>
                </a:solidFill>
                <a:latin typeface="Gotham Bold"/>
                <a:ea typeface="Gotham Bold"/>
                <a:cs typeface="Gotham Bold"/>
                <a:sym typeface="Gotham Bold"/>
              </a:rPr>
              <a:t>Episodio II — El Ataque de los Graviton: Infraestructura y rendimiento</a:t>
            </a:r>
          </a:p>
        </p:txBody>
      </p:sp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2E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3520440" y="868680"/>
            <a:ext cx="12070080" cy="1874519"/>
          </a:xfrm>
          <a:prstGeom prst="rect">
            <a:avLst/>
          </a:prstGeom>
        </p:spPr>
        <p:txBody>
          <a:bodyPr anchor="ctr" rtlCol="false" tIns="0" lIns="0" bIns="0" rIns="0" wrap="square">
            <a:spAutoFit/>
          </a:bodyPr>
          <a:lstStyle/>
          <a:p>
            <a:pPr algn="l" marL="0" indent="0" lvl="0">
              <a:lnSpc>
                <a:spcPts val="10481"/>
              </a:lnSpc>
              <a:spcBef>
                <a:spcPct val="0"/>
              </a:spcBef>
            </a:pPr>
            <a:r>
              <a:rPr lang="en-US" b="true" sz="4400">
                <a:solidFill>
                  <a:srgbClr val="FFFFFF"/>
                </a:solidFill>
                <a:latin typeface="Raleway 1 Heavy"/>
                <a:ea typeface="Raleway 1 Heavy"/>
                <a:cs typeface="Raleway 1 Heavy"/>
                <a:sym typeface="Raleway 1 Heavy"/>
              </a:rPr>
              <a:t>Demo: una consulta, dos generaciones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536304" y="308054"/>
            <a:ext cx="650696" cy="409939"/>
          </a:xfrm>
          <a:custGeom>
            <a:avLst/>
            <a:gdLst/>
            <a:ahLst/>
            <a:cxnLst/>
            <a:rect r="r" b="b" t="t" l="l"/>
            <a:pathLst>
              <a:path h="409939" w="650696">
                <a:moveTo>
                  <a:pt x="0" y="0"/>
                </a:moveTo>
                <a:lnTo>
                  <a:pt x="650697" y="0"/>
                </a:lnTo>
                <a:lnTo>
                  <a:pt x="650697" y="409938"/>
                </a:lnTo>
                <a:lnTo>
                  <a:pt x="0" y="40993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219785" y="9070932"/>
            <a:ext cx="4151107" cy="986035"/>
            <a:chOff x="0" y="0"/>
            <a:chExt cx="5534810" cy="131471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314713" cy="1314713"/>
            </a:xfrm>
            <a:custGeom>
              <a:avLst/>
              <a:gdLst/>
              <a:ahLst/>
              <a:cxnLst/>
              <a:rect r="r" b="b" t="t" l="l"/>
              <a:pathLst>
                <a:path h="1314713" w="1314713">
                  <a:moveTo>
                    <a:pt x="0" y="0"/>
                  </a:moveTo>
                  <a:lnTo>
                    <a:pt x="1314713" y="0"/>
                  </a:lnTo>
                  <a:lnTo>
                    <a:pt x="1314713" y="1314713"/>
                  </a:lnTo>
                  <a:lnTo>
                    <a:pt x="0" y="13147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 rot="0">
              <a:off x="1455753" y="151974"/>
              <a:ext cx="3148240" cy="46230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702"/>
                </a:lnSpc>
              </a:pPr>
              <a:r>
                <a:rPr lang="en-US" b="true" sz="2252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OCTUBRE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1468453" y="585710"/>
              <a:ext cx="4066356" cy="5651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30"/>
                </a:lnSpc>
              </a:pPr>
              <a:r>
                <a:rPr lang="en-US" sz="1097" b="true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Mes de </a:t>
              </a:r>
            </a:p>
            <a:p>
              <a:pPr algn="l">
                <a:lnSpc>
                  <a:spcPts val="2059"/>
                </a:lnSpc>
              </a:pPr>
              <a:r>
                <a:rPr lang="en-US" b="true" sz="1999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HAN SOLO</a:t>
              </a: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258571" y="221658"/>
            <a:ext cx="15091730" cy="563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60"/>
              </a:lnSpc>
            </a:pPr>
            <a:r>
              <a:rPr lang="en-US" sz="2000">
                <a:solidFill>
                  <a:srgbClr val="316CE3"/>
                </a:solidFill>
                <a:latin typeface="Gotham"/>
                <a:ea typeface="Gotham"/>
                <a:cs typeface="Gotham"/>
                <a:sym typeface="Gotham"/>
              </a:rPr>
              <a:t>HOY:</a:t>
            </a:r>
          </a:p>
          <a:p>
            <a:pPr algn="l">
              <a:lnSpc>
                <a:spcPts val="2528"/>
              </a:lnSpc>
            </a:pPr>
            <a:r>
              <a:rPr lang="en-US" sz="2873" b="true">
                <a:solidFill>
                  <a:srgbClr val="316CE3"/>
                </a:solidFill>
                <a:latin typeface="Gotham Bold"/>
                <a:ea typeface="Gotham Bold"/>
                <a:cs typeface="Gotham Bold"/>
                <a:sym typeface="Gotham Bold"/>
              </a:rPr>
              <a:t>Episodio II — El Ataque de los Graviton: Infraestructura y rendimiento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3200400"/>
            <a:ext cx="9326880" cy="4572000"/>
          </a:xfrm>
          <a:prstGeom prst="roundRect">
            <a:avLst>
              <a:gd name="adj" fmla="val 4000"/>
            </a:avLst>
          </a:prstGeom>
          <a:solidFill>
            <a:srgbClr val="1A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274320"/>
          <a:lstStyle/>
          <a:p>
            <a:pPr algn="l"/>
            <a:r>
              <a:rPr sz="1800">
                <a:solidFill>
                  <a:srgbClr val="D9E2EC"/>
                </a:solidFill>
                <a:latin typeface="Courier New"/>
              </a:rPr>
              <a:t>SELECT count(*)</a:t>
            </a:r>
          </a:p>
          <a:p>
            <a:pPr algn="l"/>
            <a:r>
              <a:rPr sz="1800">
                <a:solidFill>
                  <a:srgbClr val="D9E2EC"/>
                </a:solidFill>
                <a:latin typeface="Courier New"/>
              </a:rPr>
              <a:t>FROM store_sales, household_demographics,</a:t>
            </a:r>
          </a:p>
          <a:p>
            <a:pPr algn="l"/>
            <a:r>
              <a:rPr sz="1800">
                <a:solidFill>
                  <a:srgbClr val="D9E2EC"/>
                </a:solidFill>
                <a:latin typeface="Courier New"/>
              </a:rPr>
              <a:t>     time_dim, store</a:t>
            </a:r>
          </a:p>
          <a:p>
            <a:pPr algn="l"/>
            <a:r>
              <a:rPr sz="1800">
                <a:solidFill>
                  <a:srgbClr val="D9E2EC"/>
                </a:solidFill>
                <a:latin typeface="Courier New"/>
              </a:rPr>
              <a:t>WHERE ss_sold_time_sk = time_dim.t_time_sk</a:t>
            </a:r>
          </a:p>
          <a:p>
            <a:pPr algn="l"/>
            <a:r>
              <a:rPr sz="1800">
                <a:solidFill>
                  <a:srgbClr val="D9E2EC"/>
                </a:solidFill>
                <a:latin typeface="Courier New"/>
              </a:rPr>
              <a:t>  AND ss_hdemo_sk = household_demographics.hd_demo_sk</a:t>
            </a:r>
          </a:p>
          <a:p>
            <a:pPr algn="l"/>
            <a:r>
              <a:rPr sz="1800">
                <a:solidFill>
                  <a:srgbClr val="D9E2EC"/>
                </a:solidFill>
                <a:latin typeface="Courier New"/>
              </a:rPr>
              <a:t>  AND ss_store_sk = s_store_sk</a:t>
            </a:r>
          </a:p>
          <a:p>
            <a:pPr algn="l"/>
            <a:r>
              <a:rPr sz="1800">
                <a:solidFill>
                  <a:srgbClr val="D9E2EC"/>
                </a:solidFill>
                <a:latin typeface="Courier New"/>
              </a:rPr>
              <a:t>  AND time_dim.t_hour = 15</a:t>
            </a:r>
          </a:p>
          <a:p>
            <a:pPr algn="l"/>
            <a:r>
              <a:rPr sz="1800">
                <a:solidFill>
                  <a:srgbClr val="D9E2EC"/>
                </a:solidFill>
                <a:latin typeface="Courier New"/>
              </a:rPr>
              <a:t>  AND time_dim.t_minute &gt;= 30</a:t>
            </a:r>
          </a:p>
          <a:p>
            <a:pPr algn="l"/>
            <a:r>
              <a:rPr sz="1800">
                <a:solidFill>
                  <a:srgbClr val="D9E2EC"/>
                </a:solidFill>
                <a:latin typeface="Courier New"/>
              </a:rPr>
              <a:t>  AND household_demographics.hd_dep_count = 7</a:t>
            </a:r>
          </a:p>
          <a:p>
            <a:pPr algn="l"/>
            <a:r>
              <a:rPr sz="1800">
                <a:solidFill>
                  <a:srgbClr val="D9E2EC"/>
                </a:solidFill>
                <a:latin typeface="Courier New"/>
              </a:rPr>
              <a:t>  AND store.s_store_name = 'ese'</a:t>
            </a:r>
          </a:p>
          <a:p>
            <a:pPr algn="l"/>
            <a:r>
              <a:rPr sz="1800">
                <a:solidFill>
                  <a:srgbClr val="D9E2EC"/>
                </a:solidFill>
                <a:latin typeface="Courier New"/>
              </a:rPr>
              <a:t>LIMIT 100;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3200400"/>
            <a:ext cx="4754880" cy="12801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5600" b="1">
                <a:solidFill>
                  <a:srgbClr val="8FA3B8"/>
                </a:solidFill>
                <a:latin typeface="Arial"/>
              </a:rPr>
              <a:t>1,77 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4572000"/>
            <a:ext cx="4754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D9E2EC"/>
                </a:solidFill>
                <a:latin typeface="Arial"/>
              </a:rPr>
              <a:t>RA3 (query96)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5852160"/>
            <a:ext cx="4754880" cy="12801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5600" b="1">
                <a:solidFill>
                  <a:srgbClr val="316CE3"/>
                </a:solidFill>
                <a:latin typeface="Arial"/>
              </a:rPr>
              <a:t>0,67 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7223760"/>
            <a:ext cx="4754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D9E2EC"/>
                </a:solidFill>
                <a:latin typeface="Arial"/>
              </a:rPr>
              <a:t>RG · 2,64x</a:t>
            </a:r>
          </a:p>
        </p:txBody>
      </p:sp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2E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3520440" y="868680"/>
            <a:ext cx="12070080" cy="1874519"/>
          </a:xfrm>
          <a:prstGeom prst="rect">
            <a:avLst/>
          </a:prstGeom>
        </p:spPr>
        <p:txBody>
          <a:bodyPr anchor="ctr" rtlCol="false" tIns="0" lIns="0" bIns="0" rIns="0" wrap="square">
            <a:spAutoFit/>
          </a:bodyPr>
          <a:lstStyle/>
          <a:p>
            <a:pPr algn="l" marL="0" indent="0" lvl="0">
              <a:lnSpc>
                <a:spcPts val="10481"/>
              </a:lnSpc>
              <a:spcBef>
                <a:spcPct val="0"/>
              </a:spcBef>
            </a:pPr>
            <a:r>
              <a:rPr lang="en-US" b="true" sz="4400">
                <a:solidFill>
                  <a:srgbClr val="FFFFFF"/>
                </a:solidFill>
                <a:latin typeface="Raleway 1 Heavy"/>
                <a:ea typeface="Raleway 1 Heavy"/>
                <a:cs typeface="Raleway 1 Heavy"/>
                <a:sym typeface="Raleway 1 Heavy"/>
              </a:rPr>
              <a:t>Demo: mismo plan, distinto motor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536304" y="308054"/>
            <a:ext cx="650696" cy="409939"/>
          </a:xfrm>
          <a:custGeom>
            <a:avLst/>
            <a:gdLst/>
            <a:ahLst/>
            <a:cxnLst/>
            <a:rect r="r" b="b" t="t" l="l"/>
            <a:pathLst>
              <a:path h="409939" w="650696">
                <a:moveTo>
                  <a:pt x="0" y="0"/>
                </a:moveTo>
                <a:lnTo>
                  <a:pt x="650697" y="0"/>
                </a:lnTo>
                <a:lnTo>
                  <a:pt x="650697" y="409938"/>
                </a:lnTo>
                <a:lnTo>
                  <a:pt x="0" y="40993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219785" y="9070932"/>
            <a:ext cx="4151107" cy="986035"/>
            <a:chOff x="0" y="0"/>
            <a:chExt cx="5534810" cy="131471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314713" cy="1314713"/>
            </a:xfrm>
            <a:custGeom>
              <a:avLst/>
              <a:gdLst/>
              <a:ahLst/>
              <a:cxnLst/>
              <a:rect r="r" b="b" t="t" l="l"/>
              <a:pathLst>
                <a:path h="1314713" w="1314713">
                  <a:moveTo>
                    <a:pt x="0" y="0"/>
                  </a:moveTo>
                  <a:lnTo>
                    <a:pt x="1314713" y="0"/>
                  </a:lnTo>
                  <a:lnTo>
                    <a:pt x="1314713" y="1314713"/>
                  </a:lnTo>
                  <a:lnTo>
                    <a:pt x="0" y="13147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 rot="0">
              <a:off x="1455753" y="151974"/>
              <a:ext cx="3148240" cy="46230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702"/>
                </a:lnSpc>
              </a:pPr>
              <a:r>
                <a:rPr lang="en-US" b="true" sz="2252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OCTUBRE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1468453" y="585710"/>
              <a:ext cx="4066356" cy="5651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30"/>
                </a:lnSpc>
              </a:pPr>
              <a:r>
                <a:rPr lang="en-US" sz="1097" b="true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Mes de </a:t>
              </a:r>
            </a:p>
            <a:p>
              <a:pPr algn="l">
                <a:lnSpc>
                  <a:spcPts val="2059"/>
                </a:lnSpc>
              </a:pPr>
              <a:r>
                <a:rPr lang="en-US" b="true" sz="1999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HAN SOLO</a:t>
              </a: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258571" y="221658"/>
            <a:ext cx="15091730" cy="563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60"/>
              </a:lnSpc>
            </a:pPr>
            <a:r>
              <a:rPr lang="en-US" sz="2000">
                <a:solidFill>
                  <a:srgbClr val="316CE3"/>
                </a:solidFill>
                <a:latin typeface="Gotham"/>
                <a:ea typeface="Gotham"/>
                <a:cs typeface="Gotham"/>
                <a:sym typeface="Gotham"/>
              </a:rPr>
              <a:t>HOY:</a:t>
            </a:r>
          </a:p>
          <a:p>
            <a:pPr algn="l">
              <a:lnSpc>
                <a:spcPts val="2528"/>
              </a:lnSpc>
            </a:pPr>
            <a:r>
              <a:rPr lang="en-US" sz="2873" b="true">
                <a:solidFill>
                  <a:srgbClr val="316CE3"/>
                </a:solidFill>
                <a:latin typeface="Gotham Bold"/>
                <a:ea typeface="Gotham Bold"/>
                <a:cs typeface="Gotham Bold"/>
                <a:sym typeface="Gotham Bold"/>
              </a:rPr>
              <a:t>Episodio II — El Ataque de los Graviton: Infraestructura y rendimiento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3200400"/>
            <a:ext cx="6949440" cy="3017520"/>
          </a:xfrm>
          <a:prstGeom prst="roundRect">
            <a:avLst>
              <a:gd name="adj" fmla="val 4000"/>
            </a:avLst>
          </a:prstGeom>
          <a:solidFill>
            <a:srgbClr val="1A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274320"/>
          <a:lstStyle/>
          <a:p>
            <a:pPr algn="l"/>
            <a:r>
              <a:rPr sz="1700">
                <a:solidFill>
                  <a:srgbClr val="D9E2EC"/>
                </a:solidFill>
                <a:latin typeface="Courier New"/>
              </a:rPr>
              <a:t>RA3  (lq3 sobre Parquet)</a:t>
            </a:r>
          </a:p>
          <a:p>
            <a:pPr algn="l"/>
            <a:r>
              <a:rPr sz="1700">
                <a:solidFill>
                  <a:srgbClr val="D9E2EC"/>
                </a:solidFill>
                <a:latin typeface="Courier New"/>
              </a:rPr>
              <a:t/>
            </a:r>
          </a:p>
          <a:p>
            <a:pPr algn="l"/>
            <a:r>
              <a:rPr sz="1700">
                <a:solidFill>
                  <a:srgbClr val="D9E2EC"/>
                </a:solidFill>
                <a:latin typeface="Courier New"/>
              </a:rPr>
              <a:t>XN Hash Join DS_BCAST_INNER</a:t>
            </a:r>
          </a:p>
          <a:p>
            <a:pPr algn="l"/>
            <a:r>
              <a:rPr sz="1700">
                <a:solidFill>
                  <a:srgbClr val="D9E2EC"/>
                </a:solidFill>
                <a:latin typeface="Courier New"/>
              </a:rPr>
              <a:t>  XN Hash Join DS_BCAST_INNER</a:t>
            </a:r>
          </a:p>
          <a:p>
            <a:pPr algn="l"/>
            <a:r>
              <a:rPr sz="1700">
                <a:solidFill>
                  <a:srgbClr val="D9E2EC"/>
                </a:solidFill>
                <a:latin typeface="Courier New"/>
              </a:rPr>
              <a:t>    XN S3 Query Scan ss</a:t>
            </a:r>
          </a:p>
          <a:p>
            <a:pPr algn="l"/>
            <a:r>
              <a:rPr sz="1700">
                <a:solidFill>
                  <a:srgbClr val="D9E2EC"/>
                </a:solidFill>
                <a:latin typeface="Courier New"/>
              </a:rPr>
              <a:t>      S3 Seq Scan pq.store_sales</a:t>
            </a:r>
          </a:p>
          <a:p>
            <a:pPr algn="l"/>
            <a:r>
              <a:rPr sz="1700">
                <a:solidFill>
                  <a:srgbClr val="D9E2EC"/>
                </a:solidFill>
                <a:latin typeface="Courier New"/>
              </a:rPr>
              <a:t>         rows=287997024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3200400"/>
            <a:ext cx="6949440" cy="3017520"/>
          </a:xfrm>
          <a:prstGeom prst="roundRect">
            <a:avLst>
              <a:gd name="adj" fmla="val 4000"/>
            </a:avLst>
          </a:prstGeom>
          <a:solidFill>
            <a:srgbClr val="1A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274320"/>
          <a:lstStyle/>
          <a:p>
            <a:pPr algn="l"/>
            <a:r>
              <a:rPr sz="1700">
                <a:solidFill>
                  <a:srgbClr val="D9E2EC"/>
                </a:solidFill>
                <a:latin typeface="Courier New"/>
              </a:rPr>
              <a:t>RG  (lq3 sobre Parquet)</a:t>
            </a:r>
          </a:p>
          <a:p>
            <a:pPr algn="l"/>
            <a:r>
              <a:rPr sz="1700">
                <a:solidFill>
                  <a:srgbClr val="D9E2EC"/>
                </a:solidFill>
                <a:latin typeface="Courier New"/>
              </a:rPr>
              <a:t/>
            </a:r>
          </a:p>
          <a:p>
            <a:pPr algn="l"/>
            <a:r>
              <a:rPr sz="1700">
                <a:solidFill>
                  <a:srgbClr val="D9E2EC"/>
                </a:solidFill>
                <a:latin typeface="Courier New"/>
              </a:rPr>
              <a:t>XN Hash Join DS_BCAST_INNER</a:t>
            </a:r>
          </a:p>
          <a:p>
            <a:pPr algn="l"/>
            <a:r>
              <a:rPr sz="1700">
                <a:solidFill>
                  <a:srgbClr val="D9E2EC"/>
                </a:solidFill>
                <a:latin typeface="Courier New"/>
              </a:rPr>
              <a:t>  XN Hash Join DS_BCAST_INNER</a:t>
            </a:r>
          </a:p>
          <a:p>
            <a:pPr algn="l"/>
            <a:r>
              <a:rPr sz="1700">
                <a:solidFill>
                  <a:srgbClr val="D9E2EC"/>
                </a:solidFill>
                <a:latin typeface="Courier New"/>
              </a:rPr>
              <a:t>    XN Seq Scan pq.store_sales</a:t>
            </a:r>
          </a:p>
          <a:p>
            <a:pPr algn="l"/>
            <a:r>
              <a:rPr sz="1700">
                <a:solidFill>
                  <a:srgbClr val="D9E2EC"/>
                </a:solidFill>
                <a:latin typeface="Courier New"/>
              </a:rPr>
              <a:t>       format:PARQUET</a:t>
            </a:r>
          </a:p>
          <a:p>
            <a:pPr algn="l"/>
            <a:r>
              <a:rPr sz="1700">
                <a:solidFill>
                  <a:srgbClr val="D9E2EC"/>
                </a:solidFill>
                <a:latin typeface="Courier New"/>
              </a:rPr>
              <a:t>         rows=287997024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6629400"/>
            <a:ext cx="138988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FFFFFF"/>
                </a:solidFill>
                <a:latin typeface="Arial"/>
              </a:rPr>
              <a:t>Mismos joins y mismas estimaciones de filas. </a:t>
            </a:r>
            <a:r>
              <a:rPr sz="2400" b="1">
                <a:solidFill>
                  <a:srgbClr val="FFFFFF"/>
                </a:solidFill>
                <a:latin typeface="Arial"/>
              </a:rPr>
              <a:t>Lo único distinto: quién lee S3.</a:t>
            </a:r>
          </a:p>
        </p:txBody>
      </p:sp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2E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3520440" y="868680"/>
            <a:ext cx="12070080" cy="1874519"/>
          </a:xfrm>
          <a:prstGeom prst="rect">
            <a:avLst/>
          </a:prstGeom>
        </p:spPr>
        <p:txBody>
          <a:bodyPr anchor="ctr" rtlCol="false" tIns="0" lIns="0" bIns="0" rIns="0" wrap="square">
            <a:spAutoFit/>
          </a:bodyPr>
          <a:lstStyle/>
          <a:p>
            <a:pPr algn="l" marL="0" indent="0" lvl="0">
              <a:lnSpc>
                <a:spcPts val="10481"/>
              </a:lnSpc>
              <a:spcBef>
                <a:spcPct val="0"/>
              </a:spcBef>
            </a:pPr>
            <a:r>
              <a:rPr lang="en-US" b="true" sz="5400">
                <a:solidFill>
                  <a:srgbClr val="FFFFFF"/>
                </a:solidFill>
                <a:latin typeface="Raleway 1 Heavy"/>
                <a:ea typeface="Raleway 1 Heavy"/>
                <a:cs typeface="Raleway 1 Heavy"/>
                <a:sym typeface="Raleway 1 Heavy"/>
              </a:rPr>
              <a:t>Demo: todos los resultados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536304" y="308054"/>
            <a:ext cx="650696" cy="409939"/>
          </a:xfrm>
          <a:custGeom>
            <a:avLst/>
            <a:gdLst/>
            <a:ahLst/>
            <a:cxnLst/>
            <a:rect r="r" b="b" t="t" l="l"/>
            <a:pathLst>
              <a:path h="409939" w="650696">
                <a:moveTo>
                  <a:pt x="0" y="0"/>
                </a:moveTo>
                <a:lnTo>
                  <a:pt x="650697" y="0"/>
                </a:lnTo>
                <a:lnTo>
                  <a:pt x="650697" y="409938"/>
                </a:lnTo>
                <a:lnTo>
                  <a:pt x="0" y="40993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219785" y="9070932"/>
            <a:ext cx="4151107" cy="986035"/>
            <a:chOff x="0" y="0"/>
            <a:chExt cx="5534810" cy="131471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314713" cy="1314713"/>
            </a:xfrm>
            <a:custGeom>
              <a:avLst/>
              <a:gdLst/>
              <a:ahLst/>
              <a:cxnLst/>
              <a:rect r="r" b="b" t="t" l="l"/>
              <a:pathLst>
                <a:path h="1314713" w="1314713">
                  <a:moveTo>
                    <a:pt x="0" y="0"/>
                  </a:moveTo>
                  <a:lnTo>
                    <a:pt x="1314713" y="0"/>
                  </a:lnTo>
                  <a:lnTo>
                    <a:pt x="1314713" y="1314713"/>
                  </a:lnTo>
                  <a:lnTo>
                    <a:pt x="0" y="13147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 rot="0">
              <a:off x="1455753" y="151974"/>
              <a:ext cx="3148240" cy="46230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702"/>
                </a:lnSpc>
              </a:pPr>
              <a:r>
                <a:rPr lang="en-US" b="true" sz="2252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OCTUBRE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1468453" y="585710"/>
              <a:ext cx="4066356" cy="5651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30"/>
                </a:lnSpc>
              </a:pPr>
              <a:r>
                <a:rPr lang="en-US" sz="1097" b="true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Mes de </a:t>
              </a:r>
            </a:p>
            <a:p>
              <a:pPr algn="l">
                <a:lnSpc>
                  <a:spcPts val="2059"/>
                </a:lnSpc>
              </a:pPr>
              <a:r>
                <a:rPr lang="en-US" b="true" sz="1999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HAN SOLO</a:t>
              </a: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258571" y="221658"/>
            <a:ext cx="15091730" cy="563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60"/>
              </a:lnSpc>
            </a:pPr>
            <a:r>
              <a:rPr lang="en-US" sz="2000">
                <a:solidFill>
                  <a:srgbClr val="316CE3"/>
                </a:solidFill>
                <a:latin typeface="Gotham"/>
                <a:ea typeface="Gotham"/>
                <a:cs typeface="Gotham"/>
                <a:sym typeface="Gotham"/>
              </a:rPr>
              <a:t>HOY:</a:t>
            </a:r>
          </a:p>
          <a:p>
            <a:pPr algn="l">
              <a:lnSpc>
                <a:spcPts val="2528"/>
              </a:lnSpc>
            </a:pPr>
            <a:r>
              <a:rPr lang="en-US" sz="2873" b="true">
                <a:solidFill>
                  <a:srgbClr val="316CE3"/>
                </a:solidFill>
                <a:latin typeface="Gotham Bold"/>
                <a:ea typeface="Gotham Bold"/>
                <a:cs typeface="Gotham Bold"/>
                <a:sym typeface="Gotham Bold"/>
              </a:rPr>
              <a:t>Episodio II — El Ataque de los Graviton: Infraestructura y rendimiento</a:t>
            </a:r>
          </a:p>
        </p:txBody>
      </p:sp>
      <p:pic>
        <p:nvPicPr>
          <p:cNvPr id="10" name="Picture 9" descr="resultados-captur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89888" y="3337560"/>
            <a:ext cx="8193023" cy="5120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789920" y="3383280"/>
            <a:ext cx="4389120" cy="4937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D9E2EC"/>
                </a:solidFill>
                <a:latin typeface="Arial"/>
              </a:rPr>
              <a:t>Página interactiva con todos los números de la charla: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D9E2EC"/>
                </a:solidFill>
                <a:latin typeface="Arial"/>
              </a:rPr>
              <a:t>Aceleración por consulta, filtrable por clase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D9E2EC"/>
                </a:solidFill>
                <a:latin typeface="Arial"/>
              </a:rPr>
              <a:t>El lago antes y después de reescribir Parquet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D9E2EC"/>
                </a:solidFill>
                <a:latin typeface="Arial"/>
              </a:rPr>
              <a:t>La línea de tiempo del simulacro</a:t>
            </a:r>
          </a:p>
        </p:txBody>
      </p:sp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2E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3520440" y="868680"/>
            <a:ext cx="12070080" cy="1874519"/>
          </a:xfrm>
          <a:prstGeom prst="rect">
            <a:avLst/>
          </a:prstGeom>
        </p:spPr>
        <p:txBody>
          <a:bodyPr anchor="ctr" rtlCol="false" tIns="0" lIns="0" bIns="0" rIns="0" wrap="square">
            <a:spAutoFit/>
          </a:bodyPr>
          <a:lstStyle/>
          <a:p>
            <a:pPr algn="l" marL="0" indent="0" lvl="0">
              <a:lnSpc>
                <a:spcPts val="10481"/>
              </a:lnSpc>
              <a:spcBef>
                <a:spcPct val="0"/>
              </a:spcBef>
            </a:pPr>
            <a:r>
              <a:rPr lang="en-US" b="true" sz="5400">
                <a:solidFill>
                  <a:srgbClr val="FFFFFF"/>
                </a:solidFill>
                <a:latin typeface="Raleway 1 Heavy"/>
                <a:ea typeface="Raleway 1 Heavy"/>
                <a:cs typeface="Raleway 1 Heavy"/>
                <a:sym typeface="Raleway 1 Heavy"/>
              </a:rPr>
              <a:t>¿Migrar o no migrar?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536304" y="308054"/>
            <a:ext cx="650696" cy="409939"/>
          </a:xfrm>
          <a:custGeom>
            <a:avLst/>
            <a:gdLst/>
            <a:ahLst/>
            <a:cxnLst/>
            <a:rect r="r" b="b" t="t" l="l"/>
            <a:pathLst>
              <a:path h="409939" w="650696">
                <a:moveTo>
                  <a:pt x="0" y="0"/>
                </a:moveTo>
                <a:lnTo>
                  <a:pt x="650697" y="0"/>
                </a:lnTo>
                <a:lnTo>
                  <a:pt x="650697" y="409938"/>
                </a:lnTo>
                <a:lnTo>
                  <a:pt x="0" y="40993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219785" y="9070932"/>
            <a:ext cx="4151107" cy="986035"/>
            <a:chOff x="0" y="0"/>
            <a:chExt cx="5534810" cy="131471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314713" cy="1314713"/>
            </a:xfrm>
            <a:custGeom>
              <a:avLst/>
              <a:gdLst/>
              <a:ahLst/>
              <a:cxnLst/>
              <a:rect r="r" b="b" t="t" l="l"/>
              <a:pathLst>
                <a:path h="1314713" w="1314713">
                  <a:moveTo>
                    <a:pt x="0" y="0"/>
                  </a:moveTo>
                  <a:lnTo>
                    <a:pt x="1314713" y="0"/>
                  </a:lnTo>
                  <a:lnTo>
                    <a:pt x="1314713" y="1314713"/>
                  </a:lnTo>
                  <a:lnTo>
                    <a:pt x="0" y="13147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 rot="0">
              <a:off x="1455753" y="151974"/>
              <a:ext cx="3148240" cy="46230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702"/>
                </a:lnSpc>
              </a:pPr>
              <a:r>
                <a:rPr lang="en-US" b="true" sz="2252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OCTUBRE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1468453" y="585710"/>
              <a:ext cx="4066356" cy="5651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30"/>
                </a:lnSpc>
              </a:pPr>
              <a:r>
                <a:rPr lang="en-US" sz="1097" b="true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Mes de </a:t>
              </a:r>
            </a:p>
            <a:p>
              <a:pPr algn="l">
                <a:lnSpc>
                  <a:spcPts val="2059"/>
                </a:lnSpc>
              </a:pPr>
              <a:r>
                <a:rPr lang="en-US" b="true" sz="1999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HAN SOLO</a:t>
              </a: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258571" y="221658"/>
            <a:ext cx="15091730" cy="563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60"/>
              </a:lnSpc>
            </a:pPr>
            <a:r>
              <a:rPr lang="en-US" sz="2000">
                <a:solidFill>
                  <a:srgbClr val="316CE3"/>
                </a:solidFill>
                <a:latin typeface="Gotham"/>
                <a:ea typeface="Gotham"/>
                <a:cs typeface="Gotham"/>
                <a:sym typeface="Gotham"/>
              </a:rPr>
              <a:t>HOY:</a:t>
            </a:r>
          </a:p>
          <a:p>
            <a:pPr algn="l">
              <a:lnSpc>
                <a:spcPts val="2528"/>
              </a:lnSpc>
            </a:pPr>
            <a:r>
              <a:rPr lang="en-US" sz="2873" b="true">
                <a:solidFill>
                  <a:srgbClr val="316CE3"/>
                </a:solidFill>
                <a:latin typeface="Gotham Bold"/>
                <a:ea typeface="Gotham Bold"/>
                <a:cs typeface="Gotham Bold"/>
                <a:sym typeface="Gotham Bold"/>
              </a:rPr>
              <a:t>Episodio II — El Ataque de los Graviton: Infraestructura y rendimiento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3200400"/>
            <a:ext cx="4480560" cy="3931920"/>
          </a:xfrm>
          <a:prstGeom prst="roundRect">
            <a:avLst>
              <a:gd name="adj" fmla="val 8000"/>
            </a:avLst>
          </a:prstGeom>
          <a:solidFill>
            <a:srgbClr val="2F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228600" bIns="228600"/>
          <a:lstStyle/>
          <a:p>
            <a:pPr algn="ctr">
              <a:spcAft>
                <a:spcPts val="800"/>
              </a:spcAft>
            </a:pPr>
            <a:r>
              <a:rPr sz="3000" b="1">
                <a:solidFill>
                  <a:srgbClr val="316CE3"/>
                </a:solidFill>
                <a:latin typeface="Arial"/>
              </a:rPr>
              <a:t>Migra si</a:t>
            </a:r>
          </a:p>
          <a:p>
            <a:pPr>
              <a:spcAft>
                <a:spcPts val="600"/>
              </a:spcAft>
            </a:pPr>
            <a:r>
              <a:rPr sz="2100" b="0">
                <a:solidFill>
                  <a:srgbClr val="D9E2EC"/>
                </a:solidFill>
                <a:latin typeface="Arial"/>
              </a:rPr>
              <a:t>• Tu carga es de scan y agregación</a:t>
            </a:r>
          </a:p>
          <a:p>
            <a:pPr>
              <a:spcAft>
                <a:spcPts val="600"/>
              </a:spcAft>
            </a:pPr>
            <a:r>
              <a:rPr sz="2100" b="0">
                <a:solidFill>
                  <a:srgbClr val="D9E2EC"/>
                </a:solidFill>
                <a:latin typeface="Arial"/>
              </a:rPr>
              <a:t>• Lees el data lake con frecuencia</a:t>
            </a:r>
          </a:p>
          <a:p>
            <a:pPr>
              <a:spcAft>
                <a:spcPts val="600"/>
              </a:spcAft>
            </a:pPr>
            <a:r>
              <a:rPr sz="2100" b="0">
                <a:solidFill>
                  <a:srgbClr val="D9E2EC"/>
                </a:solidFill>
                <a:latin typeface="Arial"/>
              </a:rPr>
              <a:t>• Estás en xlplus o 4xlarge: 30 % menos por vCPU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0" y="3200400"/>
            <a:ext cx="4480560" cy="3931920"/>
          </a:xfrm>
          <a:prstGeom prst="roundRect">
            <a:avLst>
              <a:gd name="adj" fmla="val 8000"/>
            </a:avLst>
          </a:prstGeom>
          <a:solidFill>
            <a:srgbClr val="2F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228600" bIns="228600"/>
          <a:lstStyle/>
          <a:p>
            <a:pPr algn="ctr">
              <a:spcAft>
                <a:spcPts val="800"/>
              </a:spcAft>
            </a:pPr>
            <a:r>
              <a:rPr sz="3000" b="1">
                <a:solidFill>
                  <a:srgbClr val="F2A65A"/>
                </a:solidFill>
                <a:latin typeface="Arial"/>
              </a:rPr>
              <a:t>Prueba antes si</a:t>
            </a:r>
          </a:p>
          <a:p>
            <a:pPr>
              <a:spcAft>
                <a:spcPts val="600"/>
              </a:spcAft>
            </a:pPr>
            <a:r>
              <a:rPr sz="2100" b="0">
                <a:solidFill>
                  <a:srgbClr val="D9E2EC"/>
                </a:solidFill>
                <a:latin typeface="Arial"/>
              </a:rPr>
              <a:t>• Tu carga es de CPU: ventanas, joins grandes</a:t>
            </a:r>
          </a:p>
          <a:p>
            <a:pPr>
              <a:spcAft>
                <a:spcPts val="600"/>
              </a:spcAft>
            </a:pPr>
            <a:r>
              <a:rPr sz="2100" b="0">
                <a:solidFill>
                  <a:srgbClr val="D9E2EC"/>
                </a:solidFill>
                <a:latin typeface="Arial"/>
              </a:rPr>
              <a:t>• Tu lago es Parquet con archivos grandes</a:t>
            </a:r>
          </a:p>
          <a:p>
            <a:pPr>
              <a:spcAft>
                <a:spcPts val="600"/>
              </a:spcAft>
            </a:pPr>
            <a:r>
              <a:rPr sz="2100" b="0">
                <a:solidFill>
                  <a:srgbClr val="D9E2EC"/>
                </a:solidFill>
                <a:latin typeface="Arial"/>
              </a:rPr>
              <a:t>• Necesitas S3 Tables con usuarios de base de datos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424160" y="3200400"/>
            <a:ext cx="4480560" cy="3931920"/>
          </a:xfrm>
          <a:prstGeom prst="roundRect">
            <a:avLst>
              <a:gd name="adj" fmla="val 8000"/>
            </a:avLst>
          </a:prstGeom>
          <a:solidFill>
            <a:srgbClr val="2F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228600" bIns="228600"/>
          <a:lstStyle/>
          <a:p>
            <a:pPr algn="ctr">
              <a:spcAft>
                <a:spcPts val="800"/>
              </a:spcAft>
            </a:pPr>
            <a:r>
              <a:rPr sz="3000" b="1">
                <a:solidFill>
                  <a:srgbClr val="8FA3B8"/>
                </a:solidFill>
                <a:latin typeface="Arial"/>
              </a:rPr>
              <a:t>Serverless si</a:t>
            </a:r>
          </a:p>
          <a:p>
            <a:pPr>
              <a:spcAft>
                <a:spcPts val="600"/>
              </a:spcAft>
            </a:pPr>
            <a:r>
              <a:rPr sz="2100" b="0">
                <a:solidFill>
                  <a:srgbClr val="D9E2EC"/>
                </a:solidFill>
                <a:latin typeface="Arial"/>
              </a:rPr>
              <a:t>• Tu uso es intermitente</a:t>
            </a:r>
          </a:p>
          <a:p>
            <a:pPr>
              <a:spcAft>
                <a:spcPts val="600"/>
              </a:spcAft>
            </a:pPr>
            <a:r>
              <a:rPr sz="2100" b="0">
                <a:solidFill>
                  <a:srgbClr val="D9E2EC"/>
                </a:solidFill>
                <a:latin typeface="Arial"/>
              </a:rPr>
              <a:t>• No quieres operar un clúster</a:t>
            </a:r>
          </a:p>
          <a:p>
            <a:pPr>
              <a:spcAft>
                <a:spcPts val="600"/>
              </a:spcAft>
            </a:pPr>
            <a:r>
              <a:rPr sz="2100" b="0">
                <a:solidFill>
                  <a:srgbClr val="D9E2EC"/>
                </a:solidFill>
                <a:latin typeface="Arial"/>
              </a:rPr>
              <a:t>• USD 0,375 por RPU-hora (no lo medimos)</a:t>
            </a:r>
          </a:p>
        </p:txBody>
      </p:sp>
    </p:spTree>
  </p:cSld>
  <p:clrMapOvr>
    <a:masterClrMapping/>
  </p:clrMapOvr>
</p:sld>
</file>

<file path=ppt/slides/slide3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2E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3520440" y="868680"/>
            <a:ext cx="12070080" cy="1874519"/>
          </a:xfrm>
          <a:prstGeom prst="rect">
            <a:avLst/>
          </a:prstGeom>
        </p:spPr>
        <p:txBody>
          <a:bodyPr anchor="ctr" rtlCol="false" tIns="0" lIns="0" bIns="0" rIns="0" wrap="square">
            <a:spAutoFit/>
          </a:bodyPr>
          <a:lstStyle/>
          <a:p>
            <a:pPr algn="l" marL="0" indent="0" lvl="0">
              <a:lnSpc>
                <a:spcPts val="10481"/>
              </a:lnSpc>
              <a:spcBef>
                <a:spcPct val="0"/>
              </a:spcBef>
            </a:pPr>
            <a:r>
              <a:rPr lang="en-US" b="true" sz="5400">
                <a:solidFill>
                  <a:srgbClr val="FFFFFF"/>
                </a:solidFill>
                <a:latin typeface="Raleway 1 Heavy"/>
                <a:ea typeface="Raleway 1 Heavy"/>
                <a:cs typeface="Raleway 1 Heavy"/>
                <a:sym typeface="Raleway 1 Heavy"/>
              </a:rPr>
              <a:t>Llévate el laboratorio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536304" y="308054"/>
            <a:ext cx="650696" cy="409939"/>
          </a:xfrm>
          <a:custGeom>
            <a:avLst/>
            <a:gdLst/>
            <a:ahLst/>
            <a:cxnLst/>
            <a:rect r="r" b="b" t="t" l="l"/>
            <a:pathLst>
              <a:path h="409939" w="650696">
                <a:moveTo>
                  <a:pt x="0" y="0"/>
                </a:moveTo>
                <a:lnTo>
                  <a:pt x="650697" y="0"/>
                </a:lnTo>
                <a:lnTo>
                  <a:pt x="650697" y="409938"/>
                </a:lnTo>
                <a:lnTo>
                  <a:pt x="0" y="40993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219785" y="9070932"/>
            <a:ext cx="4151107" cy="986035"/>
            <a:chOff x="0" y="0"/>
            <a:chExt cx="5534810" cy="131471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314713" cy="1314713"/>
            </a:xfrm>
            <a:custGeom>
              <a:avLst/>
              <a:gdLst/>
              <a:ahLst/>
              <a:cxnLst/>
              <a:rect r="r" b="b" t="t" l="l"/>
              <a:pathLst>
                <a:path h="1314713" w="1314713">
                  <a:moveTo>
                    <a:pt x="0" y="0"/>
                  </a:moveTo>
                  <a:lnTo>
                    <a:pt x="1314713" y="0"/>
                  </a:lnTo>
                  <a:lnTo>
                    <a:pt x="1314713" y="1314713"/>
                  </a:lnTo>
                  <a:lnTo>
                    <a:pt x="0" y="13147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 rot="0">
              <a:off x="1455753" y="151974"/>
              <a:ext cx="3148240" cy="46230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702"/>
                </a:lnSpc>
              </a:pPr>
              <a:r>
                <a:rPr lang="en-US" b="true" sz="2252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OCTUBRE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1468453" y="585710"/>
              <a:ext cx="4066356" cy="5651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30"/>
                </a:lnSpc>
              </a:pPr>
              <a:r>
                <a:rPr lang="en-US" sz="1097" b="true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Mes de </a:t>
              </a:r>
            </a:p>
            <a:p>
              <a:pPr algn="l">
                <a:lnSpc>
                  <a:spcPts val="2059"/>
                </a:lnSpc>
              </a:pPr>
              <a:r>
                <a:rPr lang="en-US" b="true" sz="1999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HAN SOLO</a:t>
              </a: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258571" y="221658"/>
            <a:ext cx="15091730" cy="563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60"/>
              </a:lnSpc>
            </a:pPr>
            <a:r>
              <a:rPr lang="en-US" sz="2000">
                <a:solidFill>
                  <a:srgbClr val="316CE3"/>
                </a:solidFill>
                <a:latin typeface="Gotham"/>
                <a:ea typeface="Gotham"/>
                <a:cs typeface="Gotham"/>
                <a:sym typeface="Gotham"/>
              </a:rPr>
              <a:t>HOY:</a:t>
            </a:r>
          </a:p>
          <a:p>
            <a:pPr algn="l">
              <a:lnSpc>
                <a:spcPts val="2528"/>
              </a:lnSpc>
            </a:pPr>
            <a:r>
              <a:rPr lang="en-US" sz="2873" b="true">
                <a:solidFill>
                  <a:srgbClr val="316CE3"/>
                </a:solidFill>
                <a:latin typeface="Gotham Bold"/>
                <a:ea typeface="Gotham Bold"/>
                <a:cs typeface="Gotham Bold"/>
                <a:sym typeface="Gotham Bold"/>
              </a:rPr>
              <a:t>Episodio II — El Ataque de los Graviton: Infraestructura y rendimiento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91840"/>
            <a:ext cx="14264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4400" b="1">
                <a:solidFill>
                  <a:srgbClr val="316CE3"/>
                </a:solidFill>
                <a:latin typeface="Arial"/>
              </a:rPr>
              <a:t>github.com/andrezc98/redshift-redemption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754880"/>
            <a:ext cx="1426464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347472" indent="-347472">
              <a:spcAft>
                <a:spcPts val="1800"/>
              </a:spcAft>
              <a:buChar char="•"/>
            </a:pPr>
            <a:r>
              <a:rPr sz="2600" b="0">
                <a:solidFill>
                  <a:srgbClr val="D9E2EC"/>
                </a:solidFill>
                <a:latin typeface="Arial"/>
              </a:rPr>
              <a:t>Terraform + GitHub Actions con OIDC · runner en Python · runbook paso a paso</a:t>
            </a:r>
          </a:p>
          <a:p>
            <a:pPr algn="l" marL="347472" indent="-347472">
              <a:spcAft>
                <a:spcPts val="1800"/>
              </a:spcAft>
              <a:buChar char="•"/>
            </a:pPr>
            <a:r>
              <a:rPr sz="2600" b="0">
                <a:solidFill>
                  <a:srgbClr val="D9E2EC"/>
                </a:solidFill>
                <a:latin typeface="Arial"/>
              </a:rPr>
              <a:t>Todos los resultados y su método en results/</a:t>
            </a:r>
          </a:p>
          <a:p>
            <a:pPr algn="l" marL="347472" indent="-347472">
              <a:spcAft>
                <a:spcPts val="1800"/>
              </a:spcAft>
              <a:buChar char="•"/>
            </a:pPr>
            <a:r>
              <a:rPr sz="2600" b="0">
                <a:solidFill>
                  <a:srgbClr val="D9E2EC"/>
                </a:solidFill>
                <a:latin typeface="Arial"/>
              </a:rPr>
              <a:t>Este lab, a 100 GB: un día de trabajo y unas decenas de dólares</a:t>
            </a:r>
          </a:p>
        </p:txBody>
      </p:sp>
    </p:spTree>
  </p:cSld>
  <p:clrMapOvr>
    <a:masterClrMapping/>
  </p:clrMapOvr>
</p:sld>
</file>

<file path=ppt/slides/slide3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2E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3520440" y="868680"/>
            <a:ext cx="12070080" cy="1874519"/>
          </a:xfrm>
          <a:prstGeom prst="rect">
            <a:avLst/>
          </a:prstGeom>
        </p:spPr>
        <p:txBody>
          <a:bodyPr anchor="ctr" rtlCol="false" tIns="0" lIns="0" bIns="0" rIns="0" wrap="square">
            <a:spAutoFit/>
          </a:bodyPr>
          <a:lstStyle/>
          <a:p>
            <a:pPr algn="l" marL="0" indent="0" lvl="0">
              <a:lnSpc>
                <a:spcPts val="10481"/>
              </a:lnSpc>
              <a:spcBef>
                <a:spcPct val="0"/>
              </a:spcBef>
            </a:pPr>
            <a:r>
              <a:rPr lang="en-US" b="true" sz="5400">
                <a:solidFill>
                  <a:srgbClr val="FFFFFF"/>
                </a:solidFill>
                <a:latin typeface="Raleway 1 Heavy"/>
                <a:ea typeface="Raleway 1 Heavy"/>
                <a:cs typeface="Raleway 1 Heavy"/>
                <a:sym typeface="Raleway 1 Heavy"/>
              </a:rPr>
              <a:t>Kahoot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536304" y="308054"/>
            <a:ext cx="650696" cy="409939"/>
          </a:xfrm>
          <a:custGeom>
            <a:avLst/>
            <a:gdLst/>
            <a:ahLst/>
            <a:cxnLst/>
            <a:rect r="r" b="b" t="t" l="l"/>
            <a:pathLst>
              <a:path h="409939" w="650696">
                <a:moveTo>
                  <a:pt x="0" y="0"/>
                </a:moveTo>
                <a:lnTo>
                  <a:pt x="650697" y="0"/>
                </a:lnTo>
                <a:lnTo>
                  <a:pt x="650697" y="409938"/>
                </a:lnTo>
                <a:lnTo>
                  <a:pt x="0" y="40993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219785" y="9070932"/>
            <a:ext cx="4151107" cy="986035"/>
            <a:chOff x="0" y="0"/>
            <a:chExt cx="5534810" cy="131471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314713" cy="1314713"/>
            </a:xfrm>
            <a:custGeom>
              <a:avLst/>
              <a:gdLst/>
              <a:ahLst/>
              <a:cxnLst/>
              <a:rect r="r" b="b" t="t" l="l"/>
              <a:pathLst>
                <a:path h="1314713" w="1314713">
                  <a:moveTo>
                    <a:pt x="0" y="0"/>
                  </a:moveTo>
                  <a:lnTo>
                    <a:pt x="1314713" y="0"/>
                  </a:lnTo>
                  <a:lnTo>
                    <a:pt x="1314713" y="1314713"/>
                  </a:lnTo>
                  <a:lnTo>
                    <a:pt x="0" y="13147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 rot="0">
              <a:off x="1455753" y="151974"/>
              <a:ext cx="3148240" cy="46230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702"/>
                </a:lnSpc>
              </a:pPr>
              <a:r>
                <a:rPr lang="en-US" b="true" sz="2252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OCTUBRE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1468453" y="585710"/>
              <a:ext cx="4066356" cy="5651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30"/>
                </a:lnSpc>
              </a:pPr>
              <a:r>
                <a:rPr lang="en-US" sz="1097" b="true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Mes de </a:t>
              </a:r>
            </a:p>
            <a:p>
              <a:pPr algn="l">
                <a:lnSpc>
                  <a:spcPts val="2059"/>
                </a:lnSpc>
              </a:pPr>
              <a:r>
                <a:rPr lang="en-US" b="true" sz="1999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HAN SOLO</a:t>
              </a: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258571" y="221658"/>
            <a:ext cx="15091730" cy="563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60"/>
              </a:lnSpc>
            </a:pPr>
            <a:r>
              <a:rPr lang="en-US" sz="2000">
                <a:solidFill>
                  <a:srgbClr val="316CE3"/>
                </a:solidFill>
                <a:latin typeface="Gotham"/>
                <a:ea typeface="Gotham"/>
                <a:cs typeface="Gotham"/>
                <a:sym typeface="Gotham"/>
              </a:rPr>
              <a:t>HOY:</a:t>
            </a:r>
          </a:p>
          <a:p>
            <a:pPr algn="l">
              <a:lnSpc>
                <a:spcPts val="2528"/>
              </a:lnSpc>
            </a:pPr>
            <a:r>
              <a:rPr lang="en-US" sz="2873" b="true">
                <a:solidFill>
                  <a:srgbClr val="316CE3"/>
                </a:solidFill>
                <a:latin typeface="Gotham Bold"/>
                <a:ea typeface="Gotham Bold"/>
                <a:cs typeface="Gotham Bold"/>
                <a:sym typeface="Gotham Bold"/>
              </a:rPr>
              <a:t>Episodio II — El Ataque de los Graviton: Infraestructura y rendimiento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3200400"/>
            <a:ext cx="4480560" cy="2926080"/>
          </a:xfrm>
          <a:prstGeom prst="roundRect">
            <a:avLst>
              <a:gd name="adj" fmla="val 8000"/>
            </a:avLst>
          </a:prstGeom>
          <a:solidFill>
            <a:srgbClr val="2F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228600" bIns="228600"/>
          <a:lstStyle/>
          <a:p>
            <a:pPr algn="ctr">
              <a:spcAft>
                <a:spcPts val="800"/>
              </a:spcAft>
            </a:pPr>
            <a:r>
              <a:rPr sz="2600" b="1">
                <a:solidFill>
                  <a:srgbClr val="316CE3"/>
                </a:solidFill>
                <a:latin typeface="Arial"/>
              </a:rPr>
              <a:t>Pregunta 1</a:t>
            </a:r>
          </a:p>
          <a:p>
            <a:pPr>
              <a:spcAft>
                <a:spcPts val="600"/>
              </a:spcAft>
            </a:pPr>
            <a:r>
              <a:rPr sz="2300" b="0">
                <a:solidFill>
                  <a:srgbClr val="D9E2EC"/>
                </a:solidFill>
                <a:latin typeface="Arial"/>
              </a:rPr>
              <a:t>¿Con qué leen el data lake los clústeres RG?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0" y="3200400"/>
            <a:ext cx="4480560" cy="2926080"/>
          </a:xfrm>
          <a:prstGeom prst="roundRect">
            <a:avLst>
              <a:gd name="adj" fmla="val 8000"/>
            </a:avLst>
          </a:prstGeom>
          <a:solidFill>
            <a:srgbClr val="2F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228600" bIns="228600"/>
          <a:lstStyle/>
          <a:p>
            <a:pPr algn="ctr">
              <a:spcAft>
                <a:spcPts val="800"/>
              </a:spcAft>
            </a:pPr>
            <a:r>
              <a:rPr sz="2600" b="1">
                <a:solidFill>
                  <a:srgbClr val="316CE3"/>
                </a:solidFill>
                <a:latin typeface="Arial"/>
              </a:rPr>
              <a:t>Pregunta 2</a:t>
            </a:r>
          </a:p>
          <a:p>
            <a:pPr>
              <a:spcAft>
                <a:spcPts val="600"/>
              </a:spcAft>
            </a:pPr>
            <a:r>
              <a:rPr sz="2300" b="0">
                <a:solidFill>
                  <a:srgbClr val="D9E2EC"/>
                </a:solidFill>
                <a:latin typeface="Arial"/>
              </a:rPr>
              <a:t>¿Qué tipo de consultas ganó más al pasar de RA3 a RG?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424160" y="3200400"/>
            <a:ext cx="4480560" cy="2926080"/>
          </a:xfrm>
          <a:prstGeom prst="roundRect">
            <a:avLst>
              <a:gd name="adj" fmla="val 8000"/>
            </a:avLst>
          </a:prstGeom>
          <a:solidFill>
            <a:srgbClr val="2F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228600" bIns="228600"/>
          <a:lstStyle/>
          <a:p>
            <a:pPr algn="ctr">
              <a:spcAft>
                <a:spcPts val="800"/>
              </a:spcAft>
            </a:pPr>
            <a:r>
              <a:rPr sz="2600" b="1">
                <a:solidFill>
                  <a:srgbClr val="316CE3"/>
                </a:solidFill>
                <a:latin typeface="Arial"/>
              </a:rPr>
              <a:t>Pregunta 3</a:t>
            </a:r>
          </a:p>
          <a:p>
            <a:pPr>
              <a:spcAft>
                <a:spcPts val="600"/>
              </a:spcAft>
            </a:pPr>
            <a:r>
              <a:rPr sz="2300" b="0">
                <a:solidFill>
                  <a:srgbClr val="D9E2EC"/>
                </a:solidFill>
                <a:latin typeface="Arial"/>
              </a:rPr>
              <a:t>Si migras 4 nodos ra3.4xlarge, ¿cuántos rg.4xlarge recomienda AWS?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6583680"/>
            <a:ext cx="13898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9FB3C8"/>
                </a:solidFill>
                <a:latin typeface="Arial"/>
              </a:rPr>
              <a:t>Respuestas y comentarios en las notas del orador.</a:t>
            </a:r>
          </a:p>
        </p:txBody>
      </p:sp>
    </p:spTree>
  </p:cSld>
  <p:clrMapOvr>
    <a:masterClrMapping/>
  </p:clrMapOvr>
</p:sld>
</file>

<file path=ppt/slides/slide3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2E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3520440" y="868680"/>
            <a:ext cx="12070080" cy="1874519"/>
          </a:xfrm>
          <a:prstGeom prst="rect">
            <a:avLst/>
          </a:prstGeom>
        </p:spPr>
        <p:txBody>
          <a:bodyPr anchor="ctr" rtlCol="false" tIns="0" lIns="0" bIns="0" rIns="0" wrap="square">
            <a:spAutoFit/>
          </a:bodyPr>
          <a:lstStyle/>
          <a:p>
            <a:pPr algn="l" marL="0" indent="0" lvl="0">
              <a:lnSpc>
                <a:spcPts val="10481"/>
              </a:lnSpc>
              <a:spcBef>
                <a:spcPct val="0"/>
              </a:spcBef>
            </a:pPr>
            <a:r>
              <a:rPr lang="en-US" b="true" sz="7200">
                <a:solidFill>
                  <a:srgbClr val="FFFFFF"/>
                </a:solidFill>
                <a:latin typeface="Raleway 1 Heavy"/>
                <a:ea typeface="Raleway 1 Heavy"/>
                <a:cs typeface="Raleway 1 Heavy"/>
                <a:sym typeface="Raleway 1 Heavy"/>
              </a:rPr>
              <a:t>¡Gracias!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536304" y="308054"/>
            <a:ext cx="650696" cy="409939"/>
          </a:xfrm>
          <a:custGeom>
            <a:avLst/>
            <a:gdLst/>
            <a:ahLst/>
            <a:cxnLst/>
            <a:rect r="r" b="b" t="t" l="l"/>
            <a:pathLst>
              <a:path h="409939" w="650696">
                <a:moveTo>
                  <a:pt x="0" y="0"/>
                </a:moveTo>
                <a:lnTo>
                  <a:pt x="650697" y="0"/>
                </a:lnTo>
                <a:lnTo>
                  <a:pt x="650697" y="409938"/>
                </a:lnTo>
                <a:lnTo>
                  <a:pt x="0" y="40993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219785" y="9070932"/>
            <a:ext cx="4151107" cy="986035"/>
            <a:chOff x="0" y="0"/>
            <a:chExt cx="5534810" cy="131471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314713" cy="1314713"/>
            </a:xfrm>
            <a:custGeom>
              <a:avLst/>
              <a:gdLst/>
              <a:ahLst/>
              <a:cxnLst/>
              <a:rect r="r" b="b" t="t" l="l"/>
              <a:pathLst>
                <a:path h="1314713" w="1314713">
                  <a:moveTo>
                    <a:pt x="0" y="0"/>
                  </a:moveTo>
                  <a:lnTo>
                    <a:pt x="1314713" y="0"/>
                  </a:lnTo>
                  <a:lnTo>
                    <a:pt x="1314713" y="1314713"/>
                  </a:lnTo>
                  <a:lnTo>
                    <a:pt x="0" y="13147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 rot="0">
              <a:off x="1455753" y="151974"/>
              <a:ext cx="3148240" cy="46230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702"/>
                </a:lnSpc>
              </a:pPr>
              <a:r>
                <a:rPr lang="en-US" b="true" sz="2252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OCTUBRE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1468453" y="585710"/>
              <a:ext cx="4066356" cy="5651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30"/>
                </a:lnSpc>
              </a:pPr>
              <a:r>
                <a:rPr lang="en-US" sz="1097" b="true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Mes de </a:t>
              </a:r>
            </a:p>
            <a:p>
              <a:pPr algn="l">
                <a:lnSpc>
                  <a:spcPts val="2059"/>
                </a:lnSpc>
              </a:pPr>
              <a:r>
                <a:rPr lang="en-US" b="true" sz="1999">
                  <a:solidFill>
                    <a:srgbClr val="FFFFFF"/>
                  </a:solidFill>
                  <a:latin typeface="Raleway 1 Bold"/>
                  <a:ea typeface="Raleway 1 Bold"/>
                  <a:cs typeface="Raleway 1 Bold"/>
                  <a:sym typeface="Raleway 1 Bold"/>
                </a:rPr>
                <a:t>HAN SOLO</a:t>
              </a: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258571" y="221658"/>
            <a:ext cx="15091730" cy="563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60"/>
              </a:lnSpc>
            </a:pPr>
            <a:r>
              <a:rPr lang="en-US" sz="2000">
                <a:solidFill>
                  <a:srgbClr val="316CE3"/>
                </a:solidFill>
                <a:latin typeface="Gotham"/>
                <a:ea typeface="Gotham"/>
                <a:cs typeface="Gotham"/>
                <a:sym typeface="Gotham"/>
              </a:rPr>
              <a:t>HOY:</a:t>
            </a:r>
          </a:p>
          <a:p>
            <a:pPr algn="l">
              <a:lnSpc>
                <a:spcPts val="2528"/>
              </a:lnSpc>
            </a:pPr>
            <a:r>
              <a:rPr lang="en-US" sz="2873" b="true">
                <a:solidFill>
                  <a:srgbClr val="316CE3"/>
                </a:solidFill>
                <a:latin typeface="Gotham Bold"/>
                <a:ea typeface="Gotham Bold"/>
                <a:cs typeface="Gotham Bold"/>
                <a:sym typeface="Gotham Bold"/>
              </a:rPr>
              <a:t>Episodio II — El Ataque de los Graviton: Infraestructura y rendimiento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1426464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200"/>
              </a:spcAft>
            </a:pPr>
            <a:r>
              <a:rPr sz="3000" b="1">
                <a:solidFill>
                  <a:srgbClr val="D9E2EC"/>
                </a:solidFill>
                <a:latin typeface="Arial"/>
              </a:rPr>
              <a:t>Andrés Zeballos</a:t>
            </a:r>
            <a:r>
              <a:rPr sz="3000" b="0">
                <a:solidFill>
                  <a:srgbClr val="D9E2EC"/>
                </a:solidFill>
                <a:latin typeface="Arial"/>
              </a:rPr>
              <a:t> · Solutions Architect, phData</a:t>
            </a:r>
          </a:p>
          <a:p>
            <a:pPr algn="l">
              <a:spcAft>
                <a:spcPts val="2200"/>
              </a:spcAft>
            </a:pPr>
            <a:r>
              <a:rPr sz="3000" b="0">
                <a:solidFill>
                  <a:srgbClr val="D9E2EC"/>
                </a:solidFill>
                <a:latin typeface="Arial"/>
              </a:rPr>
              <a:t>GitHub: andrezc98</a:t>
            </a:r>
          </a:p>
          <a:p>
            <a:pPr algn="l">
              <a:spcAft>
                <a:spcPts val="2200"/>
              </a:spcAft>
            </a:pPr>
            <a:r>
              <a:rPr sz="3000" b="0">
                <a:solidFill>
                  <a:srgbClr val="D9E2EC"/>
                </a:solidFill>
                <a:latin typeface="Arial"/>
              </a:rPr>
              <a:t>Repo del lab: github.com/andrezc98/redshift-redemption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DAHUkLePN4g</dc:identifier>
  <dcterms:modified xsi:type="dcterms:W3CDTF">2011-08-01T06:04:30Z</dcterms:modified>
  <cp:revision>1</cp:revision>
  <dc:title>PPTX BASE 2NDO SEMESTRE 2026</dc:title>
</cp:coreProperties>
</file>